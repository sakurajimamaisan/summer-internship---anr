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69" r:id="rId4"/>
    <p:sldId id="270" r:id="rId5"/>
    <p:sldId id="271" r:id="rId6"/>
    <p:sldId id="272" r:id="rId7"/>
    <p:sldId id="273" r:id="rId8"/>
    <p:sldId id="274" r:id="rId9"/>
    <p:sldId id="275" r:id="rId10"/>
    <p:sldId id="277" r:id="rId11"/>
    <p:sldId id="278" r:id="rId12"/>
    <p:sldId id="282" r:id="rId13"/>
    <p:sldId id="281" r:id="rId14"/>
    <p:sldId id="280" r:id="rId15"/>
    <p:sldId id="279" r:id="rId16"/>
    <p:sldId id="283" r:id="rId17"/>
    <p:sldId id="284" r:id="rId18"/>
    <p:sldId id="276"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1B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B100D6-1BC9-4D6E-B698-0D15E1775C11}" v="1" dt="2026-07-23T14:41:33.5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96" autoAdjust="0"/>
    <p:restoredTop sz="94610"/>
  </p:normalViewPr>
  <p:slideViewPr>
    <p:cSldViewPr snapToGrid="0" snapToObjects="1">
      <p:cViewPr>
        <p:scale>
          <a:sx n="75" d="100"/>
          <a:sy n="75" d="100"/>
        </p:scale>
        <p:origin x="41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hant Rathore" userId="4b0bb3afb583f103" providerId="LiveId" clId="{7F144790-7ADC-43A1-AA2A-5DFDCB1DDC48}"/>
    <pc:docChg chg="undo redo custSel addSld delSld modSld sldOrd">
      <pc:chgData name="Sushant Rathore" userId="4b0bb3afb583f103" providerId="LiveId" clId="{7F144790-7ADC-43A1-AA2A-5DFDCB1DDC48}" dt="2026-07-23T14:47:11.259" v="931" actId="3626"/>
      <pc:docMkLst>
        <pc:docMk/>
      </pc:docMkLst>
      <pc:sldChg chg="addSp delSp modSp mod">
        <pc:chgData name="Sushant Rathore" userId="4b0bb3afb583f103" providerId="LiveId" clId="{7F144790-7ADC-43A1-AA2A-5DFDCB1DDC48}" dt="2026-07-11T15:56:03.115" v="619" actId="478"/>
        <pc:sldMkLst>
          <pc:docMk/>
          <pc:sldMk cId="0" sldId="256"/>
        </pc:sldMkLst>
        <pc:spChg chg="add del mod">
          <ac:chgData name="Sushant Rathore" userId="4b0bb3afb583f103" providerId="LiveId" clId="{7F144790-7ADC-43A1-AA2A-5DFDCB1DDC48}" dt="2026-07-10T13:01:10.687" v="489" actId="6549"/>
          <ac:spMkLst>
            <pc:docMk/>
            <pc:sldMk cId="0" sldId="256"/>
            <ac:spMk id="3" creationId="{00000000-0000-0000-0000-000000000000}"/>
          </ac:spMkLst>
        </pc:spChg>
        <pc:spChg chg="mod">
          <ac:chgData name="Sushant Rathore" userId="4b0bb3afb583f103" providerId="LiveId" clId="{7F144790-7ADC-43A1-AA2A-5DFDCB1DDC48}" dt="2026-07-10T12:57:38.885" v="474" actId="207"/>
          <ac:spMkLst>
            <pc:docMk/>
            <pc:sldMk cId="0" sldId="256"/>
            <ac:spMk id="6" creationId="{00000000-0000-0000-0000-000000000000}"/>
          </ac:spMkLst>
        </pc:spChg>
      </pc:sldChg>
      <pc:sldChg chg="modSp mod">
        <pc:chgData name="Sushant Rathore" userId="4b0bb3afb583f103" providerId="LiveId" clId="{7F144790-7ADC-43A1-AA2A-5DFDCB1DDC48}" dt="2026-07-07T15:36:09.939" v="4" actId="14100"/>
        <pc:sldMkLst>
          <pc:docMk/>
          <pc:sldMk cId="1311797397" sldId="257"/>
        </pc:sldMkLst>
        <pc:spChg chg="mod">
          <ac:chgData name="Sushant Rathore" userId="4b0bb3afb583f103" providerId="LiveId" clId="{7F144790-7ADC-43A1-AA2A-5DFDCB1DDC48}" dt="2026-07-07T15:35:57.912" v="2" actId="403"/>
          <ac:spMkLst>
            <pc:docMk/>
            <pc:sldMk cId="1311797397" sldId="257"/>
            <ac:spMk id="6" creationId="{00000000-0000-0000-0000-000000000000}"/>
          </ac:spMkLst>
        </pc:spChg>
        <pc:spChg chg="mod">
          <ac:chgData name="Sushant Rathore" userId="4b0bb3afb583f103" providerId="LiveId" clId="{7F144790-7ADC-43A1-AA2A-5DFDCB1DDC48}" dt="2026-07-07T15:36:09.939" v="4" actId="14100"/>
          <ac:spMkLst>
            <pc:docMk/>
            <pc:sldMk cId="1311797397" sldId="257"/>
            <ac:spMk id="7" creationId="{00000000-0000-0000-0000-000000000000}"/>
          </ac:spMkLst>
        </pc:spChg>
      </pc:sldChg>
      <pc:sldChg chg="addSp delSp modSp add mod">
        <pc:chgData name="Sushant Rathore" userId="4b0bb3afb583f103" providerId="LiveId" clId="{7F144790-7ADC-43A1-AA2A-5DFDCB1DDC48}" dt="2026-07-09T09:14:07.323" v="391" actId="1037"/>
        <pc:sldMkLst>
          <pc:docMk/>
          <pc:sldMk cId="2246392974" sldId="269"/>
        </pc:sldMkLst>
        <pc:spChg chg="mod">
          <ac:chgData name="Sushant Rathore" userId="4b0bb3afb583f103" providerId="LiveId" clId="{7F144790-7ADC-43A1-AA2A-5DFDCB1DDC48}" dt="2026-07-07T18:37:52.224" v="32" actId="1076"/>
          <ac:spMkLst>
            <pc:docMk/>
            <pc:sldMk cId="2246392974" sldId="269"/>
            <ac:spMk id="3" creationId="{00000000-0000-0000-0000-000000000000}"/>
          </ac:spMkLst>
        </pc:spChg>
        <pc:spChg chg="mod">
          <ac:chgData name="Sushant Rathore" userId="4b0bb3afb583f103" providerId="LiveId" clId="{7F144790-7ADC-43A1-AA2A-5DFDCB1DDC48}" dt="2026-07-07T18:36:39.618" v="14" actId="1076"/>
          <ac:spMkLst>
            <pc:docMk/>
            <pc:sldMk cId="2246392974" sldId="269"/>
            <ac:spMk id="4" creationId="{00000000-0000-0000-0000-000000000000}"/>
          </ac:spMkLst>
        </pc:spChg>
        <pc:spChg chg="mod">
          <ac:chgData name="Sushant Rathore" userId="4b0bb3afb583f103" providerId="LiveId" clId="{7F144790-7ADC-43A1-AA2A-5DFDCB1DDC48}" dt="2026-07-09T09:14:07.323" v="391" actId="1037"/>
          <ac:spMkLst>
            <pc:docMk/>
            <pc:sldMk cId="2246392974" sldId="269"/>
            <ac:spMk id="49" creationId="{00000000-0000-0000-0000-000000000000}"/>
          </ac:spMkLst>
        </pc:spChg>
        <pc:spChg chg="mod">
          <ac:chgData name="Sushant Rathore" userId="4b0bb3afb583f103" providerId="LiveId" clId="{7F144790-7ADC-43A1-AA2A-5DFDCB1DDC48}" dt="2026-07-09T09:13:49.518" v="385" actId="1036"/>
          <ac:spMkLst>
            <pc:docMk/>
            <pc:sldMk cId="2246392974" sldId="269"/>
            <ac:spMk id="50" creationId="{00000000-0000-0000-0000-000000000000}"/>
          </ac:spMkLst>
        </pc:spChg>
        <pc:spChg chg="mod">
          <ac:chgData name="Sushant Rathore" userId="4b0bb3afb583f103" providerId="LiveId" clId="{7F144790-7ADC-43A1-AA2A-5DFDCB1DDC48}" dt="2026-07-07T18:35:37.893" v="6"/>
          <ac:spMkLst>
            <pc:docMk/>
            <pc:sldMk cId="2246392974" sldId="269"/>
            <ac:spMk id="51" creationId="{F05BDB61-30FD-EFC9-A272-7FFB56333E22}"/>
          </ac:spMkLst>
        </pc:spChg>
        <pc:spChg chg="mod">
          <ac:chgData name="Sushant Rathore" userId="4b0bb3afb583f103" providerId="LiveId" clId="{7F144790-7ADC-43A1-AA2A-5DFDCB1DDC48}" dt="2026-07-09T09:14:00.372" v="387" actId="14100"/>
          <ac:spMkLst>
            <pc:docMk/>
            <pc:sldMk cId="2246392974" sldId="269"/>
            <ac:spMk id="52" creationId="{48C51C03-8A3E-E27A-F99D-921993BDA6CF}"/>
          </ac:spMkLst>
        </pc:spChg>
        <pc:grpChg chg="add mod">
          <ac:chgData name="Sushant Rathore" userId="4b0bb3afb583f103" providerId="LiveId" clId="{7F144790-7ADC-43A1-AA2A-5DFDCB1DDC48}" dt="2026-07-07T18:37:58.411" v="35" actId="14100"/>
          <ac:grpSpMkLst>
            <pc:docMk/>
            <pc:sldMk cId="2246392974" sldId="269"/>
            <ac:grpSpMk id="2" creationId="{C6995E9C-D2C4-ABF0-1185-248A547BF249}"/>
          </ac:grpSpMkLst>
        </pc:grpChg>
      </pc:sldChg>
      <pc:sldChg chg="modSp add mod setBg">
        <pc:chgData name="Sushant Rathore" userId="4b0bb3afb583f103" providerId="LiveId" clId="{7F144790-7ADC-43A1-AA2A-5DFDCB1DDC48}" dt="2026-07-08T09:20:57.883" v="42" actId="1076"/>
        <pc:sldMkLst>
          <pc:docMk/>
          <pc:sldMk cId="3311022245" sldId="270"/>
        </pc:sldMkLst>
        <pc:spChg chg="mod">
          <ac:chgData name="Sushant Rathore" userId="4b0bb3afb583f103" providerId="LiveId" clId="{7F144790-7ADC-43A1-AA2A-5DFDCB1DDC48}" dt="2026-07-08T09:20:57.883" v="42" actId="1076"/>
          <ac:spMkLst>
            <pc:docMk/>
            <pc:sldMk cId="3311022245" sldId="270"/>
            <ac:spMk id="56" creationId="{00000000-0000-0000-0000-000000000000}"/>
          </ac:spMkLst>
        </pc:spChg>
        <pc:spChg chg="mod">
          <ac:chgData name="Sushant Rathore" userId="4b0bb3afb583f103" providerId="LiveId" clId="{7F144790-7ADC-43A1-AA2A-5DFDCB1DDC48}" dt="2026-07-08T09:20:40.009" v="41" actId="1076"/>
          <ac:spMkLst>
            <pc:docMk/>
            <pc:sldMk cId="3311022245" sldId="270"/>
            <ac:spMk id="76" creationId="{00000000-0000-0000-0000-000000000000}"/>
          </ac:spMkLst>
        </pc:spChg>
      </pc:sldChg>
      <pc:sldChg chg="addSp delSp modSp add mod setBg">
        <pc:chgData name="Sushant Rathore" userId="4b0bb3afb583f103" providerId="LiveId" clId="{7F144790-7ADC-43A1-AA2A-5DFDCB1DDC48}" dt="2026-07-12T12:39:10.585" v="691" actId="1036"/>
        <pc:sldMkLst>
          <pc:docMk/>
          <pc:sldMk cId="3830160764" sldId="271"/>
        </pc:sldMkLst>
        <pc:spChg chg="mod">
          <ac:chgData name="Sushant Rathore" userId="4b0bb3afb583f103" providerId="LiveId" clId="{7F144790-7ADC-43A1-AA2A-5DFDCB1DDC48}" dt="2026-07-09T05:32:42.081" v="357" actId="1035"/>
          <ac:spMkLst>
            <pc:docMk/>
            <pc:sldMk cId="3830160764" sldId="271"/>
            <ac:spMk id="2" creationId="{00000000-0000-0000-0000-000000000000}"/>
          </ac:spMkLst>
        </pc:spChg>
        <pc:spChg chg="mod">
          <ac:chgData name="Sushant Rathore" userId="4b0bb3afb583f103" providerId="LiveId" clId="{7F144790-7ADC-43A1-AA2A-5DFDCB1DDC48}" dt="2026-07-08T16:25:13.976" v="198" actId="14100"/>
          <ac:spMkLst>
            <pc:docMk/>
            <pc:sldMk cId="3830160764" sldId="271"/>
            <ac:spMk id="55" creationId="{00000000-0000-0000-0000-000000000000}"/>
          </ac:spMkLst>
        </pc:spChg>
        <pc:spChg chg="mod">
          <ac:chgData name="Sushant Rathore" userId="4b0bb3afb583f103" providerId="LiveId" clId="{7F144790-7ADC-43A1-AA2A-5DFDCB1DDC48}" dt="2026-07-08T16:24:45.865" v="194" actId="1076"/>
          <ac:spMkLst>
            <pc:docMk/>
            <pc:sldMk cId="3830160764" sldId="271"/>
            <ac:spMk id="56" creationId="{00000000-0000-0000-0000-000000000000}"/>
          </ac:spMkLst>
        </pc:spChg>
        <pc:spChg chg="mod">
          <ac:chgData name="Sushant Rathore" userId="4b0bb3afb583f103" providerId="LiveId" clId="{7F144790-7ADC-43A1-AA2A-5DFDCB1DDC48}" dt="2026-07-08T16:30:07.685" v="206" actId="1076"/>
          <ac:spMkLst>
            <pc:docMk/>
            <pc:sldMk cId="3830160764" sldId="271"/>
            <ac:spMk id="61" creationId="{00000000-0000-0000-0000-000000000000}"/>
          </ac:spMkLst>
        </pc:spChg>
        <pc:spChg chg="mod">
          <ac:chgData name="Sushant Rathore" userId="4b0bb3afb583f103" providerId="LiveId" clId="{7F144790-7ADC-43A1-AA2A-5DFDCB1DDC48}" dt="2026-07-09T06:17:58.424" v="365" actId="403"/>
          <ac:spMkLst>
            <pc:docMk/>
            <pc:sldMk cId="3830160764" sldId="271"/>
            <ac:spMk id="62" creationId="{00000000-0000-0000-0000-000000000000}"/>
          </ac:spMkLst>
        </pc:spChg>
        <pc:spChg chg="mod">
          <ac:chgData name="Sushant Rathore" userId="4b0bb3afb583f103" providerId="LiveId" clId="{7F144790-7ADC-43A1-AA2A-5DFDCB1DDC48}" dt="2026-07-09T06:18:05.583" v="367" actId="14100"/>
          <ac:spMkLst>
            <pc:docMk/>
            <pc:sldMk cId="3830160764" sldId="271"/>
            <ac:spMk id="63" creationId="{00000000-0000-0000-0000-000000000000}"/>
          </ac:spMkLst>
        </pc:spChg>
        <pc:spChg chg="mod">
          <ac:chgData name="Sushant Rathore" userId="4b0bb3afb583f103" providerId="LiveId" clId="{7F144790-7ADC-43A1-AA2A-5DFDCB1DDC48}" dt="2026-07-09T06:18:09.999" v="368" actId="14100"/>
          <ac:spMkLst>
            <pc:docMk/>
            <pc:sldMk cId="3830160764" sldId="271"/>
            <ac:spMk id="64" creationId="{00000000-0000-0000-0000-000000000000}"/>
          </ac:spMkLst>
        </pc:spChg>
        <pc:spChg chg="mod">
          <ac:chgData name="Sushant Rathore" userId="4b0bb3afb583f103" providerId="LiveId" clId="{7F144790-7ADC-43A1-AA2A-5DFDCB1DDC48}" dt="2026-07-08T16:26:02.422" v="203" actId="14100"/>
          <ac:spMkLst>
            <pc:docMk/>
            <pc:sldMk cId="3830160764" sldId="271"/>
            <ac:spMk id="66" creationId="{00000000-0000-0000-0000-000000000000}"/>
          </ac:spMkLst>
        </pc:spChg>
        <pc:spChg chg="mod">
          <ac:chgData name="Sushant Rathore" userId="4b0bb3afb583f103" providerId="LiveId" clId="{7F144790-7ADC-43A1-AA2A-5DFDCB1DDC48}" dt="2026-07-09T06:17:37.566" v="361" actId="403"/>
          <ac:spMkLst>
            <pc:docMk/>
            <pc:sldMk cId="3830160764" sldId="271"/>
            <ac:spMk id="67" creationId="{00000000-0000-0000-0000-000000000000}"/>
          </ac:spMkLst>
        </pc:spChg>
        <pc:spChg chg="mod">
          <ac:chgData name="Sushant Rathore" userId="4b0bb3afb583f103" providerId="LiveId" clId="{7F144790-7ADC-43A1-AA2A-5DFDCB1DDC48}" dt="2026-07-08T19:01:55.499" v="290" actId="1076"/>
          <ac:spMkLst>
            <pc:docMk/>
            <pc:sldMk cId="3830160764" sldId="271"/>
            <ac:spMk id="69" creationId="{00000000-0000-0000-0000-000000000000}"/>
          </ac:spMkLst>
        </pc:spChg>
        <pc:spChg chg="mod">
          <ac:chgData name="Sushant Rathore" userId="4b0bb3afb583f103" providerId="LiveId" clId="{7F144790-7ADC-43A1-AA2A-5DFDCB1DDC48}" dt="2026-07-08T16:13:25.309" v="45"/>
          <ac:spMkLst>
            <pc:docMk/>
            <pc:sldMk cId="3830160764" sldId="271"/>
            <ac:spMk id="70" creationId="{D06BC0CC-EC98-812A-C34C-AF087300B433}"/>
          </ac:spMkLst>
        </pc:spChg>
        <pc:spChg chg="mod">
          <ac:chgData name="Sushant Rathore" userId="4b0bb3afb583f103" providerId="LiveId" clId="{7F144790-7ADC-43A1-AA2A-5DFDCB1DDC48}" dt="2026-07-08T16:20:21.346" v="130"/>
          <ac:spMkLst>
            <pc:docMk/>
            <pc:sldMk cId="3830160764" sldId="271"/>
            <ac:spMk id="75" creationId="{57A2A0CD-986A-A2D7-E71F-539C60390AFC}"/>
          </ac:spMkLst>
        </pc:spChg>
        <pc:spChg chg="mod">
          <ac:chgData name="Sushant Rathore" userId="4b0bb3afb583f103" providerId="LiveId" clId="{7F144790-7ADC-43A1-AA2A-5DFDCB1DDC48}" dt="2026-07-08T16:15:31.277" v="112" actId="1076"/>
          <ac:spMkLst>
            <pc:docMk/>
            <pc:sldMk cId="3830160764" sldId="271"/>
            <ac:spMk id="80" creationId="{00000000-0000-0000-0000-000000000000}"/>
          </ac:spMkLst>
        </pc:spChg>
        <pc:spChg chg="mod">
          <ac:chgData name="Sushant Rathore" userId="4b0bb3afb583f103" providerId="LiveId" clId="{7F144790-7ADC-43A1-AA2A-5DFDCB1DDC48}" dt="2026-07-08T16:15:38.837" v="113" actId="1076"/>
          <ac:spMkLst>
            <pc:docMk/>
            <pc:sldMk cId="3830160764" sldId="271"/>
            <ac:spMk id="81" creationId="{00000000-0000-0000-0000-000000000000}"/>
          </ac:spMkLst>
        </pc:spChg>
        <pc:spChg chg="mod">
          <ac:chgData name="Sushant Rathore" userId="4b0bb3afb583f103" providerId="LiveId" clId="{7F144790-7ADC-43A1-AA2A-5DFDCB1DDC48}" dt="2026-07-08T16:24:17.028" v="189" actId="1076"/>
          <ac:spMkLst>
            <pc:docMk/>
            <pc:sldMk cId="3830160764" sldId="271"/>
            <ac:spMk id="82" creationId="{00000000-0000-0000-0000-000000000000}"/>
          </ac:spMkLst>
        </pc:spChg>
        <pc:spChg chg="mod">
          <ac:chgData name="Sushant Rathore" userId="4b0bb3afb583f103" providerId="LiveId" clId="{7F144790-7ADC-43A1-AA2A-5DFDCB1DDC48}" dt="2026-07-08T16:24:28.244" v="193" actId="1036"/>
          <ac:spMkLst>
            <pc:docMk/>
            <pc:sldMk cId="3830160764" sldId="271"/>
            <ac:spMk id="83" creationId="{00000000-0000-0000-0000-000000000000}"/>
          </ac:spMkLst>
        </pc:spChg>
        <pc:spChg chg="mod">
          <ac:chgData name="Sushant Rathore" userId="4b0bb3afb583f103" providerId="LiveId" clId="{7F144790-7ADC-43A1-AA2A-5DFDCB1DDC48}" dt="2026-07-08T19:08:42.441" v="294" actId="1036"/>
          <ac:spMkLst>
            <pc:docMk/>
            <pc:sldMk cId="3830160764" sldId="271"/>
            <ac:spMk id="84" creationId="{00000000-0000-0000-0000-000000000000}"/>
          </ac:spMkLst>
        </pc:spChg>
        <pc:spChg chg="mod">
          <ac:chgData name="Sushant Rathore" userId="4b0bb3afb583f103" providerId="LiveId" clId="{7F144790-7ADC-43A1-AA2A-5DFDCB1DDC48}" dt="2026-07-08T19:08:42.441" v="294" actId="1036"/>
          <ac:spMkLst>
            <pc:docMk/>
            <pc:sldMk cId="3830160764" sldId="271"/>
            <ac:spMk id="85" creationId="{00000000-0000-0000-0000-000000000000}"/>
          </ac:spMkLst>
        </pc:spChg>
        <pc:spChg chg="mod">
          <ac:chgData name="Sushant Rathore" userId="4b0bb3afb583f103" providerId="LiveId" clId="{7F144790-7ADC-43A1-AA2A-5DFDCB1DDC48}" dt="2026-07-08T16:24:28.244" v="193" actId="1036"/>
          <ac:spMkLst>
            <pc:docMk/>
            <pc:sldMk cId="3830160764" sldId="271"/>
            <ac:spMk id="86" creationId="{00000000-0000-0000-0000-000000000000}"/>
          </ac:spMkLst>
        </pc:spChg>
        <pc:spChg chg="mod">
          <ac:chgData name="Sushant Rathore" userId="4b0bb3afb583f103" providerId="LiveId" clId="{7F144790-7ADC-43A1-AA2A-5DFDCB1DDC48}" dt="2026-07-08T19:08:42.441" v="294" actId="1036"/>
          <ac:spMkLst>
            <pc:docMk/>
            <pc:sldMk cId="3830160764" sldId="271"/>
            <ac:spMk id="87" creationId="{00000000-0000-0000-0000-000000000000}"/>
          </ac:spMkLst>
        </pc:spChg>
        <pc:spChg chg="mod">
          <ac:chgData name="Sushant Rathore" userId="4b0bb3afb583f103" providerId="LiveId" clId="{7F144790-7ADC-43A1-AA2A-5DFDCB1DDC48}" dt="2026-07-08T19:08:42.441" v="294" actId="1036"/>
          <ac:spMkLst>
            <pc:docMk/>
            <pc:sldMk cId="3830160764" sldId="271"/>
            <ac:spMk id="88" creationId="{00000000-0000-0000-0000-000000000000}"/>
          </ac:spMkLst>
        </pc:spChg>
        <pc:spChg chg="mod">
          <ac:chgData name="Sushant Rathore" userId="4b0bb3afb583f103" providerId="LiveId" clId="{7F144790-7ADC-43A1-AA2A-5DFDCB1DDC48}" dt="2026-07-08T16:24:28.244" v="193" actId="1036"/>
          <ac:spMkLst>
            <pc:docMk/>
            <pc:sldMk cId="3830160764" sldId="271"/>
            <ac:spMk id="89" creationId="{00000000-0000-0000-0000-000000000000}"/>
          </ac:spMkLst>
        </pc:spChg>
        <pc:spChg chg="mod">
          <ac:chgData name="Sushant Rathore" userId="4b0bb3afb583f103" providerId="LiveId" clId="{7F144790-7ADC-43A1-AA2A-5DFDCB1DDC48}" dt="2026-07-08T19:08:42.441" v="294" actId="1036"/>
          <ac:spMkLst>
            <pc:docMk/>
            <pc:sldMk cId="3830160764" sldId="271"/>
            <ac:spMk id="90" creationId="{00000000-0000-0000-0000-000000000000}"/>
          </ac:spMkLst>
        </pc:spChg>
        <pc:spChg chg="mod">
          <ac:chgData name="Sushant Rathore" userId="4b0bb3afb583f103" providerId="LiveId" clId="{7F144790-7ADC-43A1-AA2A-5DFDCB1DDC48}" dt="2026-07-08T19:08:42.441" v="294" actId="1036"/>
          <ac:spMkLst>
            <pc:docMk/>
            <pc:sldMk cId="3830160764" sldId="271"/>
            <ac:spMk id="91" creationId="{00000000-0000-0000-0000-000000000000}"/>
          </ac:spMkLst>
        </pc:spChg>
        <pc:spChg chg="mod">
          <ac:chgData name="Sushant Rathore" userId="4b0bb3afb583f103" providerId="LiveId" clId="{7F144790-7ADC-43A1-AA2A-5DFDCB1DDC48}" dt="2026-07-08T16:24:28.244" v="193" actId="1036"/>
          <ac:spMkLst>
            <pc:docMk/>
            <pc:sldMk cId="3830160764" sldId="271"/>
            <ac:spMk id="92" creationId="{00000000-0000-0000-0000-000000000000}"/>
          </ac:spMkLst>
        </pc:spChg>
        <pc:spChg chg="mod">
          <ac:chgData name="Sushant Rathore" userId="4b0bb3afb583f103" providerId="LiveId" clId="{7F144790-7ADC-43A1-AA2A-5DFDCB1DDC48}" dt="2026-07-08T19:08:42.441" v="294" actId="1036"/>
          <ac:spMkLst>
            <pc:docMk/>
            <pc:sldMk cId="3830160764" sldId="271"/>
            <ac:spMk id="93" creationId="{00000000-0000-0000-0000-000000000000}"/>
          </ac:spMkLst>
        </pc:spChg>
        <pc:spChg chg="mod">
          <ac:chgData name="Sushant Rathore" userId="4b0bb3afb583f103" providerId="LiveId" clId="{7F144790-7ADC-43A1-AA2A-5DFDCB1DDC48}" dt="2026-07-08T19:08:42.441" v="294" actId="1036"/>
          <ac:spMkLst>
            <pc:docMk/>
            <pc:sldMk cId="3830160764" sldId="271"/>
            <ac:spMk id="94" creationId="{00000000-0000-0000-0000-000000000000}"/>
          </ac:spMkLst>
        </pc:spChg>
        <pc:spChg chg="mod">
          <ac:chgData name="Sushant Rathore" userId="4b0bb3afb583f103" providerId="LiveId" clId="{7F144790-7ADC-43A1-AA2A-5DFDCB1DDC48}" dt="2026-07-08T19:08:47.901" v="299" actId="1036"/>
          <ac:spMkLst>
            <pc:docMk/>
            <pc:sldMk cId="3830160764" sldId="271"/>
            <ac:spMk id="95" creationId="{00000000-0000-0000-0000-000000000000}"/>
          </ac:spMkLst>
        </pc:spChg>
        <pc:spChg chg="mod">
          <ac:chgData name="Sushant Rathore" userId="4b0bb3afb583f103" providerId="LiveId" clId="{7F144790-7ADC-43A1-AA2A-5DFDCB1DDC48}" dt="2026-07-08T19:09:28.429" v="326" actId="1076"/>
          <ac:spMkLst>
            <pc:docMk/>
            <pc:sldMk cId="3830160764" sldId="271"/>
            <ac:spMk id="96" creationId="{00000000-0000-0000-0000-000000000000}"/>
          </ac:spMkLst>
        </pc:spChg>
        <pc:spChg chg="mod">
          <ac:chgData name="Sushant Rathore" userId="4b0bb3afb583f103" providerId="LiveId" clId="{7F144790-7ADC-43A1-AA2A-5DFDCB1DDC48}" dt="2026-07-08T19:08:59.914" v="310" actId="1036"/>
          <ac:spMkLst>
            <pc:docMk/>
            <pc:sldMk cId="3830160764" sldId="271"/>
            <ac:spMk id="97" creationId="{00000000-0000-0000-0000-000000000000}"/>
          </ac:spMkLst>
        </pc:spChg>
        <pc:spChg chg="mod">
          <ac:chgData name="Sushant Rathore" userId="4b0bb3afb583f103" providerId="LiveId" clId="{7F144790-7ADC-43A1-AA2A-5DFDCB1DDC48}" dt="2026-07-08T19:08:59.914" v="310" actId="1036"/>
          <ac:spMkLst>
            <pc:docMk/>
            <pc:sldMk cId="3830160764" sldId="271"/>
            <ac:spMk id="98" creationId="{00000000-0000-0000-0000-000000000000}"/>
          </ac:spMkLst>
        </pc:spChg>
        <pc:spChg chg="mod">
          <ac:chgData name="Sushant Rathore" userId="4b0bb3afb583f103" providerId="LiveId" clId="{7F144790-7ADC-43A1-AA2A-5DFDCB1DDC48}" dt="2026-07-08T19:08:59.914" v="310" actId="1036"/>
          <ac:spMkLst>
            <pc:docMk/>
            <pc:sldMk cId="3830160764" sldId="271"/>
            <ac:spMk id="100" creationId="{00000000-0000-0000-0000-000000000000}"/>
          </ac:spMkLst>
        </pc:spChg>
        <pc:spChg chg="mod">
          <ac:chgData name="Sushant Rathore" userId="4b0bb3afb583f103" providerId="LiveId" clId="{7F144790-7ADC-43A1-AA2A-5DFDCB1DDC48}" dt="2026-07-08T19:08:59.914" v="310" actId="1036"/>
          <ac:spMkLst>
            <pc:docMk/>
            <pc:sldMk cId="3830160764" sldId="271"/>
            <ac:spMk id="101" creationId="{00000000-0000-0000-0000-000000000000}"/>
          </ac:spMkLst>
        </pc:spChg>
        <pc:spChg chg="mod">
          <ac:chgData name="Sushant Rathore" userId="4b0bb3afb583f103" providerId="LiveId" clId="{7F144790-7ADC-43A1-AA2A-5DFDCB1DDC48}" dt="2026-07-08T19:08:59.914" v="310" actId="1036"/>
          <ac:spMkLst>
            <pc:docMk/>
            <pc:sldMk cId="3830160764" sldId="271"/>
            <ac:spMk id="102" creationId="{00000000-0000-0000-0000-000000000000}"/>
          </ac:spMkLst>
        </pc:spChg>
        <pc:spChg chg="mod">
          <ac:chgData name="Sushant Rathore" userId="4b0bb3afb583f103" providerId="LiveId" clId="{7F144790-7ADC-43A1-AA2A-5DFDCB1DDC48}" dt="2026-07-08T19:08:59.914" v="310" actId="1036"/>
          <ac:spMkLst>
            <pc:docMk/>
            <pc:sldMk cId="3830160764" sldId="271"/>
            <ac:spMk id="103" creationId="{00000000-0000-0000-0000-000000000000}"/>
          </ac:spMkLst>
        </pc:spChg>
        <pc:spChg chg="mod">
          <ac:chgData name="Sushant Rathore" userId="4b0bb3afb583f103" providerId="LiveId" clId="{7F144790-7ADC-43A1-AA2A-5DFDCB1DDC48}" dt="2026-07-08T19:08:59.914" v="310" actId="1036"/>
          <ac:spMkLst>
            <pc:docMk/>
            <pc:sldMk cId="3830160764" sldId="271"/>
            <ac:spMk id="104" creationId="{00000000-0000-0000-0000-000000000000}"/>
          </ac:spMkLst>
        </pc:spChg>
        <pc:spChg chg="mod">
          <ac:chgData name="Sushant Rathore" userId="4b0bb3afb583f103" providerId="LiveId" clId="{7F144790-7ADC-43A1-AA2A-5DFDCB1DDC48}" dt="2026-07-08T19:08:59.914" v="310" actId="1036"/>
          <ac:spMkLst>
            <pc:docMk/>
            <pc:sldMk cId="3830160764" sldId="271"/>
            <ac:spMk id="105" creationId="{00000000-0000-0000-0000-000000000000}"/>
          </ac:spMkLst>
        </pc:spChg>
        <pc:spChg chg="mod">
          <ac:chgData name="Sushant Rathore" userId="4b0bb3afb583f103" providerId="LiveId" clId="{7F144790-7ADC-43A1-AA2A-5DFDCB1DDC48}" dt="2026-07-08T19:08:59.914" v="310" actId="1036"/>
          <ac:spMkLst>
            <pc:docMk/>
            <pc:sldMk cId="3830160764" sldId="271"/>
            <ac:spMk id="106" creationId="{00000000-0000-0000-0000-000000000000}"/>
          </ac:spMkLst>
        </pc:spChg>
        <pc:spChg chg="mod">
          <ac:chgData name="Sushant Rathore" userId="4b0bb3afb583f103" providerId="LiveId" clId="{7F144790-7ADC-43A1-AA2A-5DFDCB1DDC48}" dt="2026-07-08T19:08:59.914" v="310" actId="1036"/>
          <ac:spMkLst>
            <pc:docMk/>
            <pc:sldMk cId="3830160764" sldId="271"/>
            <ac:spMk id="108" creationId="{00000000-0000-0000-0000-000000000000}"/>
          </ac:spMkLst>
        </pc:spChg>
        <pc:spChg chg="add mod">
          <ac:chgData name="Sushant Rathore" userId="4b0bb3afb583f103" providerId="LiveId" clId="{7F144790-7ADC-43A1-AA2A-5DFDCB1DDC48}" dt="2026-07-08T16:31:47.014" v="227" actId="1035"/>
          <ac:spMkLst>
            <pc:docMk/>
            <pc:sldMk cId="3830160764" sldId="271"/>
            <ac:spMk id="109" creationId="{694C6611-A244-EA36-05A9-C6BA0890E4A3}"/>
          </ac:spMkLst>
        </pc:spChg>
        <pc:spChg chg="mod">
          <ac:chgData name="Sushant Rathore" userId="4b0bb3afb583f103" providerId="LiveId" clId="{7F144790-7ADC-43A1-AA2A-5DFDCB1DDC48}" dt="2026-07-08T19:01:48.760" v="289" actId="1076"/>
          <ac:spMkLst>
            <pc:docMk/>
            <pc:sldMk cId="3830160764" sldId="271"/>
            <ac:spMk id="110" creationId="{AA20C996-B967-33DC-41D1-4F2B7C1D3727}"/>
          </ac:spMkLst>
        </pc:spChg>
        <pc:spChg chg="add mod">
          <ac:chgData name="Sushant Rathore" userId="4b0bb3afb583f103" providerId="LiveId" clId="{7F144790-7ADC-43A1-AA2A-5DFDCB1DDC48}" dt="2026-07-08T16:36:19.297" v="235" actId="1038"/>
          <ac:spMkLst>
            <pc:docMk/>
            <pc:sldMk cId="3830160764" sldId="271"/>
            <ac:spMk id="113" creationId="{8A94D447-B560-541B-21FF-73DF153D5C94}"/>
          </ac:spMkLst>
        </pc:spChg>
        <pc:spChg chg="mod">
          <ac:chgData name="Sushant Rathore" userId="4b0bb3afb583f103" providerId="LiveId" clId="{7F144790-7ADC-43A1-AA2A-5DFDCB1DDC48}" dt="2026-07-08T19:00:13.901" v="286" actId="20577"/>
          <ac:spMkLst>
            <pc:docMk/>
            <pc:sldMk cId="3830160764" sldId="271"/>
            <ac:spMk id="142" creationId="{893FEACC-47A0-BBB5-4A29-7DEE4E38EAF3}"/>
          </ac:spMkLst>
        </pc:spChg>
        <pc:grpChg chg="add mod">
          <ac:chgData name="Sushant Rathore" userId="4b0bb3afb583f103" providerId="LiveId" clId="{7F144790-7ADC-43A1-AA2A-5DFDCB1DDC48}" dt="2026-07-08T16:13:25.309" v="45"/>
          <ac:grpSpMkLst>
            <pc:docMk/>
            <pc:sldMk cId="3830160764" sldId="271"/>
            <ac:grpSpMk id="68" creationId="{3475A184-0171-ABE6-FF5E-532E0C4C5126}"/>
          </ac:grpSpMkLst>
        </pc:grpChg>
        <pc:grpChg chg="add mod">
          <ac:chgData name="Sushant Rathore" userId="4b0bb3afb583f103" providerId="LiveId" clId="{7F144790-7ADC-43A1-AA2A-5DFDCB1DDC48}" dt="2026-07-09T11:39:32.234" v="424" actId="1076"/>
          <ac:grpSpMkLst>
            <pc:docMk/>
            <pc:sldMk cId="3830160764" sldId="271"/>
            <ac:grpSpMk id="74" creationId="{2B8F4671-29A2-4A9F-AB26-427379D41A03}"/>
          </ac:grpSpMkLst>
        </pc:grpChg>
        <pc:picChg chg="add mod">
          <ac:chgData name="Sushant Rathore" userId="4b0bb3afb583f103" providerId="LiveId" clId="{7F144790-7ADC-43A1-AA2A-5DFDCB1DDC48}" dt="2026-07-12T12:39:10.585" v="691" actId="1036"/>
          <ac:picMkLst>
            <pc:docMk/>
            <pc:sldMk cId="3830160764" sldId="271"/>
            <ac:picMk id="4" creationId="{4CD4B0D1-D5FF-A98C-1AA2-BC28AE1C8529}"/>
          </ac:picMkLst>
        </pc:picChg>
      </pc:sldChg>
      <pc:sldChg chg="modSp add mod setBg">
        <pc:chgData name="Sushant Rathore" userId="4b0bb3afb583f103" providerId="LiveId" clId="{7F144790-7ADC-43A1-AA2A-5DFDCB1DDC48}" dt="2026-07-09T05:32:44.959" v="359" actId="20577"/>
        <pc:sldMkLst>
          <pc:docMk/>
          <pc:sldMk cId="771213753" sldId="272"/>
        </pc:sldMkLst>
        <pc:spChg chg="mod">
          <ac:chgData name="Sushant Rathore" userId="4b0bb3afb583f103" providerId="LiveId" clId="{7F144790-7ADC-43A1-AA2A-5DFDCB1DDC48}" dt="2026-07-09T05:00:59.984" v="331" actId="1037"/>
          <ac:spMkLst>
            <pc:docMk/>
            <pc:sldMk cId="771213753" sldId="272"/>
            <ac:spMk id="55" creationId="{00000000-0000-0000-0000-000000000000}"/>
          </ac:spMkLst>
        </pc:spChg>
        <pc:spChg chg="mod">
          <ac:chgData name="Sushant Rathore" userId="4b0bb3afb583f103" providerId="LiveId" clId="{7F144790-7ADC-43A1-AA2A-5DFDCB1DDC48}" dt="2026-07-09T05:32:44.959" v="359" actId="20577"/>
          <ac:spMkLst>
            <pc:docMk/>
            <pc:sldMk cId="771213753" sldId="272"/>
            <ac:spMk id="82" creationId="{00000000-0000-0000-0000-000000000000}"/>
          </ac:spMkLst>
        </pc:spChg>
      </pc:sldChg>
      <pc:sldChg chg="addSp delSp modSp add mod ord setBg">
        <pc:chgData name="Sushant Rathore" userId="4b0bb3afb583f103" providerId="LiveId" clId="{7F144790-7ADC-43A1-AA2A-5DFDCB1DDC48}" dt="2026-07-17T05:55:00.505" v="917" actId="27918"/>
        <pc:sldMkLst>
          <pc:docMk/>
          <pc:sldMk cId="2657779994" sldId="273"/>
        </pc:sldMkLst>
        <pc:spChg chg="mod">
          <ac:chgData name="Sushant Rathore" userId="4b0bb3afb583f103" providerId="LiveId" clId="{7F144790-7ADC-43A1-AA2A-5DFDCB1DDC48}" dt="2026-07-17T05:35:40.648" v="841" actId="1076"/>
          <ac:spMkLst>
            <pc:docMk/>
            <pc:sldMk cId="2657779994" sldId="273"/>
            <ac:spMk id="58" creationId="{00000000-0000-0000-0000-000000000000}"/>
          </ac:spMkLst>
        </pc:spChg>
        <pc:spChg chg="mod">
          <ac:chgData name="Sushant Rathore" userId="4b0bb3afb583f103" providerId="LiveId" clId="{7F144790-7ADC-43A1-AA2A-5DFDCB1DDC48}" dt="2026-07-09T09:14:20.151" v="394" actId="1035"/>
          <ac:spMkLst>
            <pc:docMk/>
            <pc:sldMk cId="2657779994" sldId="273"/>
            <ac:spMk id="61" creationId="{00000000-0000-0000-0000-000000000000}"/>
          </ac:spMkLst>
        </pc:spChg>
        <pc:spChg chg="add del mod">
          <ac:chgData name="Sushant Rathore" userId="4b0bb3afb583f103" providerId="LiveId" clId="{7F144790-7ADC-43A1-AA2A-5DFDCB1DDC48}" dt="2026-07-09T09:14:37.614" v="411" actId="6549"/>
          <ac:spMkLst>
            <pc:docMk/>
            <pc:sldMk cId="2657779994" sldId="273"/>
            <ac:spMk id="62" creationId="{00000000-0000-0000-0000-000000000000}"/>
          </ac:spMkLst>
        </pc:spChg>
        <pc:spChg chg="mod">
          <ac:chgData name="Sushant Rathore" userId="4b0bb3afb583f103" providerId="LiveId" clId="{7F144790-7ADC-43A1-AA2A-5DFDCB1DDC48}" dt="2026-07-09T09:14:43.548" v="413" actId="1036"/>
          <ac:spMkLst>
            <pc:docMk/>
            <pc:sldMk cId="2657779994" sldId="273"/>
            <ac:spMk id="63" creationId="{00000000-0000-0000-0000-000000000000}"/>
          </ac:spMkLst>
        </pc:spChg>
        <pc:graphicFrameChg chg="add del mod">
          <ac:chgData name="Sushant Rathore" userId="4b0bb3afb583f103" providerId="LiveId" clId="{7F144790-7ADC-43A1-AA2A-5DFDCB1DDC48}" dt="2026-07-17T05:48:50.901" v="900"/>
          <ac:graphicFrameMkLst>
            <pc:docMk/>
            <pc:sldMk cId="2657779994" sldId="273"/>
            <ac:graphicFrameMk id="56" creationId="{00000000-0000-0000-0000-000000000000}"/>
          </ac:graphicFrameMkLst>
        </pc:graphicFrameChg>
      </pc:sldChg>
      <pc:sldChg chg="addSp delSp modSp add mod setBg">
        <pc:chgData name="Sushant Rathore" userId="4b0bb3afb583f103" providerId="LiveId" clId="{7F144790-7ADC-43A1-AA2A-5DFDCB1DDC48}" dt="2026-07-13T08:53:00.851" v="741" actId="1036"/>
        <pc:sldMkLst>
          <pc:docMk/>
          <pc:sldMk cId="1350788159" sldId="274"/>
        </pc:sldMkLst>
        <pc:spChg chg="mod">
          <ac:chgData name="Sushant Rathore" userId="4b0bb3afb583f103" providerId="LiveId" clId="{7F144790-7ADC-43A1-AA2A-5DFDCB1DDC48}" dt="2026-07-09T10:17:52.148" v="419" actId="1076"/>
          <ac:spMkLst>
            <pc:docMk/>
            <pc:sldMk cId="1350788159" sldId="274"/>
            <ac:spMk id="2" creationId="{00000000-0000-0000-0000-000000000000}"/>
          </ac:spMkLst>
        </pc:spChg>
        <pc:spChg chg="mod">
          <ac:chgData name="Sushant Rathore" userId="4b0bb3afb583f103" providerId="LiveId" clId="{7F144790-7ADC-43A1-AA2A-5DFDCB1DDC48}" dt="2026-07-10T13:39:31.069" v="537" actId="20577"/>
          <ac:spMkLst>
            <pc:docMk/>
            <pc:sldMk cId="1350788159" sldId="274"/>
            <ac:spMk id="76" creationId="{00000000-0000-0000-0000-000000000000}"/>
          </ac:spMkLst>
        </pc:spChg>
        <pc:spChg chg="mod">
          <ac:chgData name="Sushant Rathore" userId="4b0bb3afb583f103" providerId="LiveId" clId="{7F144790-7ADC-43A1-AA2A-5DFDCB1DDC48}" dt="2026-07-10T13:22:00.960" v="521" actId="20577"/>
          <ac:spMkLst>
            <pc:docMk/>
            <pc:sldMk cId="1350788159" sldId="274"/>
            <ac:spMk id="77" creationId="{00000000-0000-0000-0000-000000000000}"/>
          </ac:spMkLst>
        </pc:spChg>
        <pc:spChg chg="mod">
          <ac:chgData name="Sushant Rathore" userId="4b0bb3afb583f103" providerId="LiveId" clId="{7F144790-7ADC-43A1-AA2A-5DFDCB1DDC48}" dt="2026-07-10T13:22:10.911" v="525" actId="20577"/>
          <ac:spMkLst>
            <pc:docMk/>
            <pc:sldMk cId="1350788159" sldId="274"/>
            <ac:spMk id="78" creationId="{00000000-0000-0000-0000-000000000000}"/>
          </ac:spMkLst>
        </pc:spChg>
        <pc:spChg chg="mod">
          <ac:chgData name="Sushant Rathore" userId="4b0bb3afb583f103" providerId="LiveId" clId="{7F144790-7ADC-43A1-AA2A-5DFDCB1DDC48}" dt="2026-07-09T10:15:03.044" v="418" actId="1035"/>
          <ac:spMkLst>
            <pc:docMk/>
            <pc:sldMk cId="1350788159" sldId="274"/>
            <ac:spMk id="92" creationId="{00000000-0000-0000-0000-000000000000}"/>
          </ac:spMkLst>
        </pc:spChg>
        <pc:spChg chg="mod">
          <ac:chgData name="Sushant Rathore" userId="4b0bb3afb583f103" providerId="LiveId" clId="{7F144790-7ADC-43A1-AA2A-5DFDCB1DDC48}" dt="2026-07-10T05:22:02.958" v="457" actId="14100"/>
          <ac:spMkLst>
            <pc:docMk/>
            <pc:sldMk cId="1350788159" sldId="274"/>
            <ac:spMk id="103" creationId="{00000000-0000-0000-0000-000000000000}"/>
          </ac:spMkLst>
        </pc:spChg>
        <pc:spChg chg="mod">
          <ac:chgData name="Sushant Rathore" userId="4b0bb3afb583f103" providerId="LiveId" clId="{7F144790-7ADC-43A1-AA2A-5DFDCB1DDC48}" dt="2026-07-09T14:26:32.311" v="439" actId="20577"/>
          <ac:spMkLst>
            <pc:docMk/>
            <pc:sldMk cId="1350788159" sldId="274"/>
            <ac:spMk id="104" creationId="{00000000-0000-0000-0000-000000000000}"/>
          </ac:spMkLst>
        </pc:spChg>
        <pc:grpChg chg="mod">
          <ac:chgData name="Sushant Rathore" userId="4b0bb3afb583f103" providerId="LiveId" clId="{7F144790-7ADC-43A1-AA2A-5DFDCB1DDC48}" dt="2026-07-10T05:21:08.267" v="455" actId="1076"/>
          <ac:grpSpMkLst>
            <pc:docMk/>
            <pc:sldMk cId="1350788159" sldId="274"/>
            <ac:grpSpMk id="137" creationId="{66E23B0A-ADE2-085B-17F9-71299BCA4260}"/>
          </ac:grpSpMkLst>
        </pc:grpChg>
        <pc:picChg chg="add mod">
          <ac:chgData name="Sushant Rathore" userId="4b0bb3afb583f103" providerId="LiveId" clId="{7F144790-7ADC-43A1-AA2A-5DFDCB1DDC48}" dt="2026-07-13T08:53:00.851" v="741" actId="1036"/>
          <ac:picMkLst>
            <pc:docMk/>
            <pc:sldMk cId="1350788159" sldId="274"/>
            <ac:picMk id="4" creationId="{80D8E959-D1F5-922F-8942-CB92FF062D5F}"/>
          </ac:picMkLst>
        </pc:picChg>
        <pc:picChg chg="add mod">
          <ac:chgData name="Sushant Rathore" userId="4b0bb3afb583f103" providerId="LiveId" clId="{7F144790-7ADC-43A1-AA2A-5DFDCB1DDC48}" dt="2026-07-10T13:21:44.301" v="517" actId="1076"/>
          <ac:picMkLst>
            <pc:docMk/>
            <pc:sldMk cId="1350788159" sldId="274"/>
            <ac:picMk id="6" creationId="{E9CA6841-76E7-E509-58C0-7CB64DC4AAD1}"/>
          </ac:picMkLst>
        </pc:picChg>
      </pc:sldChg>
      <pc:sldChg chg="modSp add mod setBg">
        <pc:chgData name="Sushant Rathore" userId="4b0bb3afb583f103" providerId="LiveId" clId="{7F144790-7ADC-43A1-AA2A-5DFDCB1DDC48}" dt="2026-07-23T14:47:11.259" v="931" actId="3626"/>
        <pc:sldMkLst>
          <pc:docMk/>
          <pc:sldMk cId="763066039" sldId="275"/>
        </pc:sldMkLst>
        <pc:spChg chg="mod">
          <ac:chgData name="Sushant Rathore" userId="4b0bb3afb583f103" providerId="LiveId" clId="{7F144790-7ADC-43A1-AA2A-5DFDCB1DDC48}" dt="2026-07-23T14:47:11.259" v="931" actId="3626"/>
          <ac:spMkLst>
            <pc:docMk/>
            <pc:sldMk cId="763066039" sldId="275"/>
            <ac:spMk id="9" creationId="{00000000-0000-0000-0000-000000000000}"/>
          </ac:spMkLst>
        </pc:spChg>
        <pc:spChg chg="mod">
          <ac:chgData name="Sushant Rathore" userId="4b0bb3afb583f103" providerId="LiveId" clId="{7F144790-7ADC-43A1-AA2A-5DFDCB1DDC48}" dt="2026-07-10T05:20:44.048" v="454" actId="27107"/>
          <ac:spMkLst>
            <pc:docMk/>
            <pc:sldMk cId="763066039" sldId="275"/>
            <ac:spMk id="14" creationId="{00000000-0000-0000-0000-000000000000}"/>
          </ac:spMkLst>
        </pc:spChg>
        <pc:spChg chg="mod">
          <ac:chgData name="Sushant Rathore" userId="4b0bb3afb583f103" providerId="LiveId" clId="{7F144790-7ADC-43A1-AA2A-5DFDCB1DDC48}" dt="2026-07-12T13:35:01.375" v="699" actId="20577"/>
          <ac:spMkLst>
            <pc:docMk/>
            <pc:sldMk cId="763066039" sldId="275"/>
            <ac:spMk id="17" creationId="{00000000-0000-0000-0000-000000000000}"/>
          </ac:spMkLst>
        </pc:spChg>
        <pc:grpChg chg="mod">
          <ac:chgData name="Sushant Rathore" userId="4b0bb3afb583f103" providerId="LiveId" clId="{7F144790-7ADC-43A1-AA2A-5DFDCB1DDC48}" dt="2026-07-09T13:20:47.005" v="435" actId="1036"/>
          <ac:grpSpMkLst>
            <pc:docMk/>
            <pc:sldMk cId="763066039" sldId="275"/>
            <ac:grpSpMk id="41" creationId="{7B12A115-9055-B6C1-E7F5-CC7E1DD34CBE}"/>
          </ac:grpSpMkLst>
        </pc:grpChg>
      </pc:sldChg>
      <pc:sldChg chg="modSp add mod setBg">
        <pc:chgData name="Sushant Rathore" userId="4b0bb3afb583f103" providerId="LiveId" clId="{7F144790-7ADC-43A1-AA2A-5DFDCB1DDC48}" dt="2026-07-10T19:00:24.635" v="595" actId="1076"/>
        <pc:sldMkLst>
          <pc:docMk/>
          <pc:sldMk cId="1857081185" sldId="276"/>
        </pc:sldMkLst>
        <pc:spChg chg="mod">
          <ac:chgData name="Sushant Rathore" userId="4b0bb3afb583f103" providerId="LiveId" clId="{7F144790-7ADC-43A1-AA2A-5DFDCB1DDC48}" dt="2026-07-09T18:54:26.044" v="445" actId="1035"/>
          <ac:spMkLst>
            <pc:docMk/>
            <pc:sldMk cId="1857081185" sldId="276"/>
            <ac:spMk id="3" creationId="{00000000-0000-0000-0000-000000000000}"/>
          </ac:spMkLst>
        </pc:spChg>
        <pc:spChg chg="mod">
          <ac:chgData name="Sushant Rathore" userId="4b0bb3afb583f103" providerId="LiveId" clId="{7F144790-7ADC-43A1-AA2A-5DFDCB1DDC48}" dt="2026-07-09T18:54:31.862" v="453" actId="1038"/>
          <ac:spMkLst>
            <pc:docMk/>
            <pc:sldMk cId="1857081185" sldId="276"/>
            <ac:spMk id="4" creationId="{00000000-0000-0000-0000-000000000000}"/>
          </ac:spMkLst>
        </pc:spChg>
        <pc:spChg chg="mod">
          <ac:chgData name="Sushant Rathore" userId="4b0bb3afb583f103" providerId="LiveId" clId="{7F144790-7ADC-43A1-AA2A-5DFDCB1DDC48}" dt="2026-07-10T19:00:24.635" v="595" actId="1076"/>
          <ac:spMkLst>
            <pc:docMk/>
            <pc:sldMk cId="1857081185" sldId="276"/>
            <ac:spMk id="5" creationId="{00000000-0000-0000-0000-000000000000}"/>
          </ac:spMkLst>
        </pc:spChg>
      </pc:sldChg>
      <pc:sldChg chg="modSp add mod setBg">
        <pc:chgData name="Sushant Rathore" userId="4b0bb3afb583f103" providerId="LiveId" clId="{7F144790-7ADC-43A1-AA2A-5DFDCB1DDC48}" dt="2026-07-10T08:45:37.691" v="464" actId="1035"/>
        <pc:sldMkLst>
          <pc:docMk/>
          <pc:sldMk cId="3087821513" sldId="277"/>
        </pc:sldMkLst>
        <pc:spChg chg="mod">
          <ac:chgData name="Sushant Rathore" userId="4b0bb3afb583f103" providerId="LiveId" clId="{7F144790-7ADC-43A1-AA2A-5DFDCB1DDC48}" dt="2026-07-10T07:39:40.741" v="461" actId="1036"/>
          <ac:spMkLst>
            <pc:docMk/>
            <pc:sldMk cId="3087821513" sldId="277"/>
            <ac:spMk id="57" creationId="{00000000-0000-0000-0000-000000000000}"/>
          </ac:spMkLst>
        </pc:spChg>
        <pc:spChg chg="mod">
          <ac:chgData name="Sushant Rathore" userId="4b0bb3afb583f103" providerId="LiveId" clId="{7F144790-7ADC-43A1-AA2A-5DFDCB1DDC48}" dt="2026-07-10T08:45:37.691" v="464" actId="1035"/>
          <ac:spMkLst>
            <pc:docMk/>
            <pc:sldMk cId="3087821513" sldId="277"/>
            <ac:spMk id="87" creationId="{00000000-0000-0000-0000-000000000000}"/>
          </ac:spMkLst>
        </pc:spChg>
      </pc:sldChg>
      <pc:sldChg chg="modSp add del mod setBg">
        <pc:chgData name="Sushant Rathore" userId="4b0bb3afb583f103" providerId="LiveId" clId="{7F144790-7ADC-43A1-AA2A-5DFDCB1DDC48}" dt="2026-07-13T04:43:03" v="702" actId="20577"/>
        <pc:sldMkLst>
          <pc:docMk/>
          <pc:sldMk cId="3457630755" sldId="278"/>
        </pc:sldMkLst>
        <pc:spChg chg="mod">
          <ac:chgData name="Sushant Rathore" userId="4b0bb3afb583f103" providerId="LiveId" clId="{7F144790-7ADC-43A1-AA2A-5DFDCB1DDC48}" dt="2026-07-13T04:43:03" v="702" actId="20577"/>
          <ac:spMkLst>
            <pc:docMk/>
            <pc:sldMk cId="3457630755" sldId="278"/>
            <ac:spMk id="73" creationId="{00000000-0000-0000-0000-000000000000}"/>
          </ac:spMkLst>
        </pc:spChg>
      </pc:sldChg>
      <pc:sldChg chg="addSp delSp add mod ord setBg">
        <pc:chgData name="Sushant Rathore" userId="4b0bb3afb583f103" providerId="LiveId" clId="{7F144790-7ADC-43A1-AA2A-5DFDCB1DDC48}" dt="2026-07-10T13:39:33.705" v="539" actId="478"/>
        <pc:sldMkLst>
          <pc:docMk/>
          <pc:sldMk cId="4050941232" sldId="279"/>
        </pc:sldMkLst>
      </pc:sldChg>
      <pc:sldChg chg="modSp add mod ord setBg">
        <pc:chgData name="Sushant Rathore" userId="4b0bb3afb583f103" providerId="LiveId" clId="{7F144790-7ADC-43A1-AA2A-5DFDCB1DDC48}" dt="2026-07-10T19:44:50.437" v="600"/>
        <pc:sldMkLst>
          <pc:docMk/>
          <pc:sldMk cId="2600819349" sldId="280"/>
        </pc:sldMkLst>
        <pc:spChg chg="mod">
          <ac:chgData name="Sushant Rathore" userId="4b0bb3afb583f103" providerId="LiveId" clId="{7F144790-7ADC-43A1-AA2A-5DFDCB1DDC48}" dt="2026-07-10T19:00:22.140" v="593" actId="1036"/>
          <ac:spMkLst>
            <pc:docMk/>
            <pc:sldMk cId="2600819349" sldId="280"/>
            <ac:spMk id="56" creationId="{00000000-0000-0000-0000-000000000000}"/>
          </ac:spMkLst>
        </pc:spChg>
        <pc:spChg chg="mod">
          <ac:chgData name="Sushant Rathore" userId="4b0bb3afb583f103" providerId="LiveId" clId="{7F144790-7ADC-43A1-AA2A-5DFDCB1DDC48}" dt="2026-07-10T19:00:22.140" v="593" actId="1036"/>
          <ac:spMkLst>
            <pc:docMk/>
            <pc:sldMk cId="2600819349" sldId="280"/>
            <ac:spMk id="67" creationId="{00000000-0000-0000-0000-000000000000}"/>
          </ac:spMkLst>
        </pc:spChg>
        <pc:grpChg chg="mod">
          <ac:chgData name="Sushant Rathore" userId="4b0bb3afb583f103" providerId="LiveId" clId="{7F144790-7ADC-43A1-AA2A-5DFDCB1DDC48}" dt="2026-07-10T13:48:17.509" v="563" actId="14100"/>
          <ac:grpSpMkLst>
            <pc:docMk/>
            <pc:sldMk cId="2600819349" sldId="280"/>
            <ac:grpSpMk id="80" creationId="{42691A20-A7C7-6A8A-D715-70206D06ED0B}"/>
          </ac:grpSpMkLst>
        </pc:grpChg>
      </pc:sldChg>
      <pc:sldChg chg="add ord setBg">
        <pc:chgData name="Sushant Rathore" userId="4b0bb3afb583f103" providerId="LiveId" clId="{7F144790-7ADC-43A1-AA2A-5DFDCB1DDC48}" dt="2026-07-10T19:44:29.389" v="598"/>
        <pc:sldMkLst>
          <pc:docMk/>
          <pc:sldMk cId="3799775914" sldId="281"/>
        </pc:sldMkLst>
      </pc:sldChg>
      <pc:sldChg chg="modSp add mod ord setBg">
        <pc:chgData name="Sushant Rathore" userId="4b0bb3afb583f103" providerId="LiveId" clId="{7F144790-7ADC-43A1-AA2A-5DFDCB1DDC48}" dt="2026-07-10T20:19:06.064" v="615" actId="1036"/>
        <pc:sldMkLst>
          <pc:docMk/>
          <pc:sldMk cId="869962136" sldId="282"/>
        </pc:sldMkLst>
        <pc:spChg chg="mod">
          <ac:chgData name="Sushant Rathore" userId="4b0bb3afb583f103" providerId="LiveId" clId="{7F144790-7ADC-43A1-AA2A-5DFDCB1DDC48}" dt="2026-07-10T20:18:43.777" v="610" actId="1035"/>
          <ac:spMkLst>
            <pc:docMk/>
            <pc:sldMk cId="869962136" sldId="282"/>
            <ac:spMk id="62" creationId="{00000000-0000-0000-0000-000000000000}"/>
          </ac:spMkLst>
        </pc:spChg>
        <pc:spChg chg="mod">
          <ac:chgData name="Sushant Rathore" userId="4b0bb3afb583f103" providerId="LiveId" clId="{7F144790-7ADC-43A1-AA2A-5DFDCB1DDC48}" dt="2026-07-10T20:18:43.777" v="610" actId="1035"/>
          <ac:spMkLst>
            <pc:docMk/>
            <pc:sldMk cId="869962136" sldId="282"/>
            <ac:spMk id="64" creationId="{00000000-0000-0000-0000-000000000000}"/>
          </ac:spMkLst>
        </pc:spChg>
        <pc:spChg chg="mod">
          <ac:chgData name="Sushant Rathore" userId="4b0bb3afb583f103" providerId="LiveId" clId="{7F144790-7ADC-43A1-AA2A-5DFDCB1DDC48}" dt="2026-07-10T20:18:54.194" v="613" actId="1035"/>
          <ac:spMkLst>
            <pc:docMk/>
            <pc:sldMk cId="869962136" sldId="282"/>
            <ac:spMk id="66" creationId="{00000000-0000-0000-0000-000000000000}"/>
          </ac:spMkLst>
        </pc:spChg>
        <pc:spChg chg="mod">
          <ac:chgData name="Sushant Rathore" userId="4b0bb3afb583f103" providerId="LiveId" clId="{7F144790-7ADC-43A1-AA2A-5DFDCB1DDC48}" dt="2026-07-10T20:19:06.064" v="615" actId="1036"/>
          <ac:spMkLst>
            <pc:docMk/>
            <pc:sldMk cId="869962136" sldId="282"/>
            <ac:spMk id="68" creationId="{00000000-0000-0000-0000-000000000000}"/>
          </ac:spMkLst>
        </pc:spChg>
      </pc:sldChg>
      <pc:sldChg chg="add ord setBg">
        <pc:chgData name="Sushant Rathore" userId="4b0bb3afb583f103" providerId="LiveId" clId="{7F144790-7ADC-43A1-AA2A-5DFDCB1DDC48}" dt="2026-07-11T14:44:15.570" v="618"/>
        <pc:sldMkLst>
          <pc:docMk/>
          <pc:sldMk cId="3359919124" sldId="283"/>
        </pc:sldMkLst>
      </pc:sldChg>
      <pc:sldChg chg="modSp add mod ord">
        <pc:chgData name="Sushant Rathore" userId="4b0bb3afb583f103" providerId="LiveId" clId="{7F144790-7ADC-43A1-AA2A-5DFDCB1DDC48}" dt="2026-07-13T15:11:37.913" v="804" actId="1036"/>
        <pc:sldMkLst>
          <pc:docMk/>
          <pc:sldMk cId="1186532585" sldId="284"/>
        </pc:sldMkLst>
        <pc:grpChg chg="mod">
          <ac:chgData name="Sushant Rathore" userId="4b0bb3afb583f103" providerId="LiveId" clId="{7F144790-7ADC-43A1-AA2A-5DFDCB1DDC48}" dt="2026-07-13T15:11:37.913" v="804" actId="1036"/>
          <ac:grpSpMkLst>
            <pc:docMk/>
            <pc:sldMk cId="1186532585" sldId="284"/>
            <ac:grpSpMk id="23" creationId="{0997B01C-63F2-334D-927C-C719F7A1DA33}"/>
          </ac:grpSpMkLst>
        </pc:gr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Availability</c:v>
                </c:pt>
              </c:strCache>
            </c:strRef>
          </c:tx>
          <c:spPr>
            <a:ln w="28575" cap="flat">
              <a:solidFill>
                <a:srgbClr val="12233F"/>
              </a:solidFill>
              <a:prstDash val="solid"/>
              <a:round/>
            </a:ln>
            <a:effectLst/>
          </c:spPr>
          <c:marker>
            <c:symbol val="circle"/>
            <c:size val="7"/>
            <c:spPr>
              <a:solidFill>
                <a:srgbClr val="12233F"/>
              </a:solidFill>
              <a:ln w="9525" cap="flat">
                <a:solidFill>
                  <a:srgbClr val="12233F"/>
                </a:solidFill>
                <a:prstDash val="solid"/>
                <a:round/>
              </a:ln>
              <a:effectLst/>
            </c:spPr>
          </c:marker>
          <c:dLbls>
            <c:numFmt formatCode="0.0&quot;%&quot;" sourceLinked="0"/>
            <c:spPr>
              <a:noFill/>
              <a:ln>
                <a:noFill/>
              </a:ln>
              <a:effectLst/>
            </c:spPr>
            <c:txPr>
              <a:bodyPr/>
              <a:lstStyle/>
              <a:p>
                <a:pPr>
                  <a:defRPr sz="1000" b="1" i="0" u="none" strike="noStrike">
                    <a:solidFill>
                      <a:srgbClr val="12233F"/>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March</c:v>
                </c:pt>
                <c:pt idx="1">
                  <c:v>April</c:v>
                </c:pt>
                <c:pt idx="2">
                  <c:v>May</c:v>
                </c:pt>
              </c:strCache>
            </c:strRef>
          </c:cat>
          <c:val>
            <c:numRef>
              <c:f>Sheet1!$B$2:$B$4</c:f>
              <c:numCache>
                <c:formatCode>General</c:formatCode>
                <c:ptCount val="3"/>
                <c:pt idx="0">
                  <c:v>74.8</c:v>
                </c:pt>
                <c:pt idx="1">
                  <c:v>66.599999999999994</c:v>
                </c:pt>
                <c:pt idx="2">
                  <c:v>65.2</c:v>
                </c:pt>
              </c:numCache>
            </c:numRef>
          </c:val>
          <c:smooth val="0"/>
          <c:extLst>
            <c:ext xmlns:c16="http://schemas.microsoft.com/office/drawing/2014/chart" uri="{C3380CC4-5D6E-409C-BE32-E72D297353CC}">
              <c16:uniqueId val="{00000000-F5E2-4A98-AB0D-1E0450ECA10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000" b="0" i="0" u="none" strike="noStrike">
                <a:solidFill>
                  <a:srgbClr val="3A3A3A"/>
                </a:solidFill>
                <a:latin typeface="Arial"/>
              </a:defRPr>
            </a:pPr>
            <a:endParaRPr lang="en-US"/>
          </a:p>
        </c:txPr>
        <c:crossAx val="2094734552"/>
        <c:crosses val="autoZero"/>
        <c:auto val="1"/>
        <c:lblAlgn val="ctr"/>
        <c:lblOffset val="100"/>
        <c:noMultiLvlLbl val="1"/>
      </c:catAx>
      <c:valAx>
        <c:axId val="2094734552"/>
        <c:scaling>
          <c:orientation val="minMax"/>
          <c:max val="80"/>
          <c:min val="55"/>
        </c:scaling>
        <c:delete val="1"/>
        <c:axPos val="l"/>
        <c:majorGridlines>
          <c:spPr>
            <a:ln w="9525" cap="flat">
              <a:solidFill>
                <a:srgbClr val="E3E3E3"/>
              </a:solidFill>
              <a:prstDash val="solid"/>
              <a:round/>
            </a:ln>
          </c:spPr>
        </c:majorGridlines>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2.8417163967036089E-2"/>
          <c:y val="0.14336917562724014"/>
          <c:w val="0.94553376906318087"/>
          <c:h val="0.68896297237038917"/>
        </c:manualLayout>
      </c:layout>
      <c:lineChart>
        <c:grouping val="standard"/>
        <c:varyColors val="0"/>
        <c:ser>
          <c:idx val="0"/>
          <c:order val="0"/>
          <c:tx>
            <c:strRef>
              <c:f>Sheet1!$B$1</c:f>
              <c:strCache>
                <c:ptCount val="1"/>
                <c:pt idx="0">
                  <c:v>Utilization</c:v>
                </c:pt>
              </c:strCache>
            </c:strRef>
          </c:tx>
          <c:spPr>
            <a:ln w="28575" cap="flat">
              <a:solidFill>
                <a:srgbClr val="12233F"/>
              </a:solidFill>
              <a:prstDash val="solid"/>
              <a:round/>
            </a:ln>
            <a:effectLst/>
          </c:spPr>
          <c:marker>
            <c:symbol val="circle"/>
            <c:size val="7"/>
            <c:spPr>
              <a:solidFill>
                <a:srgbClr val="12233F"/>
              </a:solidFill>
              <a:ln w="9525" cap="flat">
                <a:solidFill>
                  <a:srgbClr val="12233F"/>
                </a:solidFill>
                <a:prstDash val="solid"/>
                <a:round/>
              </a:ln>
              <a:effectLst/>
            </c:spPr>
          </c:marker>
          <c:dLbls>
            <c:numFmt formatCode="0.0&quot;%&quot;" sourceLinked="0"/>
            <c:spPr>
              <a:noFill/>
              <a:ln>
                <a:noFill/>
              </a:ln>
              <a:effectLst/>
            </c:spPr>
            <c:txPr>
              <a:bodyPr/>
              <a:lstStyle/>
              <a:p>
                <a:pPr>
                  <a:defRPr sz="1000" b="1" i="0" u="none" strike="noStrike">
                    <a:solidFill>
                      <a:srgbClr val="12233F"/>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March</c:v>
                </c:pt>
                <c:pt idx="1">
                  <c:v>April</c:v>
                </c:pt>
                <c:pt idx="2">
                  <c:v>May</c:v>
                </c:pt>
              </c:strCache>
            </c:strRef>
          </c:cat>
          <c:val>
            <c:numRef>
              <c:f>Sheet1!$B$2:$B$4</c:f>
              <c:numCache>
                <c:formatCode>General</c:formatCode>
                <c:ptCount val="3"/>
                <c:pt idx="0">
                  <c:v>81.900000000000006</c:v>
                </c:pt>
                <c:pt idx="1">
                  <c:v>73.8</c:v>
                </c:pt>
                <c:pt idx="2">
                  <c:v>74.2</c:v>
                </c:pt>
              </c:numCache>
            </c:numRef>
          </c:val>
          <c:smooth val="0"/>
          <c:extLst>
            <c:ext xmlns:c16="http://schemas.microsoft.com/office/drawing/2014/chart" uri="{C3380CC4-5D6E-409C-BE32-E72D297353CC}">
              <c16:uniqueId val="{00000000-163F-414E-BAF5-BE379BB235F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nextTo"/>
        <c:spPr>
          <a:ln w="12700" cap="flat">
            <a:noFill/>
            <a:prstDash val="solid"/>
            <a:round/>
          </a:ln>
        </c:spPr>
        <c:txPr>
          <a:bodyPr anchor="t" anchorCtr="0"/>
          <a:lstStyle/>
          <a:p>
            <a:pPr>
              <a:defRPr sz="1000" b="0" i="0" u="none" strike="noStrike">
                <a:solidFill>
                  <a:srgbClr val="3A3A3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9525" cap="flat">
              <a:solidFill>
                <a:srgbClr val="E3E3E3"/>
              </a:solidFill>
              <a:prstDash val="solid"/>
              <a:round/>
            </a:ln>
          </c:spPr>
        </c:majorGridlines>
        <c:numFmt formatCode="General" sourceLinked="0"/>
        <c:majorTickMark val="out"/>
        <c:minorTickMark val="none"/>
        <c:tickLblPos val="nextTo"/>
        <c:crossAx val="2094734554"/>
        <c:crosses val="autoZero"/>
        <c:crossBetween val="between"/>
      </c:valAx>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Breakdown Hours</c:v>
                </c:pt>
              </c:strCache>
            </c:strRef>
          </c:tx>
          <c:spPr>
            <a:solidFill>
              <a:schemeClr val="accent1">
                <a:alpha val="70000"/>
              </a:schemeClr>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March</c:v>
                </c:pt>
                <c:pt idx="1">
                  <c:v>April</c:v>
                </c:pt>
                <c:pt idx="2">
                  <c:v>May</c:v>
                </c:pt>
              </c:strCache>
            </c:strRef>
          </c:cat>
          <c:val>
            <c:numRef>
              <c:f>Sheet1!$B$2:$B$4</c:f>
              <c:numCache>
                <c:formatCode>General</c:formatCode>
                <c:ptCount val="3"/>
                <c:pt idx="0">
                  <c:v>49901</c:v>
                </c:pt>
                <c:pt idx="1">
                  <c:v>59746</c:v>
                </c:pt>
                <c:pt idx="2">
                  <c:v>64333</c:v>
                </c:pt>
              </c:numCache>
            </c:numRef>
          </c:val>
          <c:extLst>
            <c:ext xmlns:c16="http://schemas.microsoft.com/office/drawing/2014/chart" uri="{C3380CC4-5D6E-409C-BE32-E72D297353CC}">
              <c16:uniqueId val="{00000000-9A4D-4C0C-BCAE-18225FDB2A54}"/>
            </c:ext>
          </c:extLst>
        </c:ser>
        <c:dLbls>
          <c:dLblPos val="outEnd"/>
          <c:showLegendKey val="0"/>
          <c:showVal val="1"/>
          <c:showCatName val="0"/>
          <c:showSerName val="0"/>
          <c:showPercent val="0"/>
          <c:showBubbleSize val="0"/>
        </c:dLbls>
        <c:gapWidth val="80"/>
        <c:overlap val="25"/>
        <c:axId val="2094734554"/>
        <c:axId val="2094734552"/>
      </c:barChart>
      <c:catAx>
        <c:axId val="2094734554"/>
        <c:scaling>
          <c:orientation val="minMax"/>
        </c:scaling>
        <c:delete val="0"/>
        <c:axPos val="b"/>
        <c:numFmt formatCode="General" sourceLinked="1"/>
        <c:majorTickMark val="none"/>
        <c:minorTickMark val="none"/>
        <c:tickLblPos val="low"/>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75000"/>
          <c:min val="0"/>
        </c:scaling>
        <c:delete val="1"/>
        <c:axPos val="l"/>
        <c:majorGridlines>
          <c:spPr>
            <a:ln w="9525" cap="flat" cmpd="sng" algn="ctr">
              <a:solidFill>
                <a:schemeClr val="tx1">
                  <a:lumMod val="5000"/>
                  <a:lumOff val="95000"/>
                </a:schemeClr>
              </a:solidFill>
              <a:round/>
            </a:ln>
            <a:effectLst/>
          </c:spPr>
        </c:majorGridlines>
        <c:numFmt formatCode="General" sourceLinked="0"/>
        <c:majorTickMark val="none"/>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6135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128532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81992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624511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54869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287129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099417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60064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905165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70840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58401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198771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46572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187853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77316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455605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202175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928440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hyperlink" Target="Reliability_Matrix_Machine_List.xlsx" TargetMode="External"/><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hyperlink" Target="Density%20Experiment.docx"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hyperlink" Target="TF_Calibration_Model.xlsx"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12"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3.jpeg"/><Relationship Id="rId11" Type="http://schemas.openxmlformats.org/officeDocument/2006/relationships/image" Target="../media/image3.jpeg"/><Relationship Id="rId5" Type="http://schemas.openxmlformats.org/officeDocument/2006/relationships/image" Target="../media/image12.jpeg"/><Relationship Id="rId10" Type="http://schemas.openxmlformats.org/officeDocument/2006/relationships/image" Target="../media/image17.jpeg"/><Relationship Id="rId4" Type="http://schemas.openxmlformats.org/officeDocument/2006/relationships/image" Target="../media/image11.jpeg"/><Relationship Id="rId9"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a:effectLst/>
      </p:bgPr>
    </p:bg>
    <p:spTree>
      <p:nvGrpSpPr>
        <p:cNvPr id="1" name=""/>
        <p:cNvGrpSpPr/>
        <p:nvPr/>
      </p:nvGrpSpPr>
      <p:grpSpPr>
        <a:xfrm>
          <a:off x="0" y="0"/>
          <a:ext cx="0" cy="0"/>
          <a:chOff x="0" y="0"/>
          <a:chExt cx="0" cy="0"/>
        </a:xfrm>
      </p:grpSpPr>
      <p:pic>
        <p:nvPicPr>
          <p:cNvPr id="2" name="Image 0" descr="/home/claude/deck/assets/mine_bg.jpe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1" y="0"/>
            <a:ext cx="12191695" cy="6858001"/>
          </a:xfrm>
          <a:prstGeom prst="rect">
            <a:avLst/>
          </a:prstGeom>
          <a:solidFill>
            <a:srgbClr val="2B2B2B">
              <a:alpha val="88000"/>
            </a:srgbClr>
          </a:solidFill>
          <a:ln/>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noProof="0" dirty="0"/>
          </a:p>
          <a:p>
            <a:endParaRPr kumimoji="0" lang="en-IN" sz="1400" b="0" i="0" u="none" strike="noStrike" kern="1200" cap="none" spc="0" normalizeH="0" baseline="0" dirty="0">
              <a:ln>
                <a:noFill/>
              </a:ln>
              <a:solidFill>
                <a:srgbClr val="E7E6E6">
                  <a:lumMod val="75000"/>
                </a:srgbClr>
              </a:solidFill>
              <a:effectLst/>
              <a:uLnTx/>
              <a:uFillTx/>
              <a:latin typeface="Calibri" panose="020F0502020204030204"/>
              <a:ea typeface="+mn-ea"/>
              <a:cs typeface="+mn-cs"/>
            </a:endParaRPr>
          </a:p>
          <a:p>
            <a:endParaRPr lang="en-IN" sz="1400" noProof="0" dirty="0">
              <a:solidFill>
                <a:srgbClr val="E7E6E6">
                  <a:lumMod val="75000"/>
                </a:srgbClr>
              </a:solidFill>
              <a:latin typeface="Calibri" panose="020F0502020204030204"/>
            </a:endParaRPr>
          </a:p>
          <a:p>
            <a:endParaRPr kumimoji="0" lang="en-IN" sz="1400" b="0" i="0" u="none" strike="noStrike" kern="1200" cap="none" spc="0" normalizeH="0" baseline="0" dirty="0">
              <a:ln>
                <a:noFill/>
              </a:ln>
              <a:solidFill>
                <a:srgbClr val="E7E6E6">
                  <a:lumMod val="75000"/>
                </a:srgbClr>
              </a:solidFill>
              <a:effectLst/>
              <a:uLnTx/>
              <a:uFillTx/>
              <a:latin typeface="Calibri" panose="020F0502020204030204"/>
              <a:ea typeface="+mn-ea"/>
              <a:cs typeface="+mn-cs"/>
            </a:endParaRPr>
          </a:p>
          <a:p>
            <a:endParaRPr lang="en-IN" sz="1400" noProof="0" dirty="0">
              <a:solidFill>
                <a:srgbClr val="E7E6E6">
                  <a:lumMod val="75000"/>
                </a:srgbClr>
              </a:solidFill>
              <a:latin typeface="Calibri" panose="020F0502020204030204"/>
            </a:endParaRPr>
          </a:p>
          <a:p>
            <a:endParaRPr kumimoji="0" lang="en-IN" sz="1400" b="0" i="0" u="none" strike="noStrike" kern="1200" cap="none" spc="0" normalizeH="0" baseline="0" dirty="0">
              <a:ln>
                <a:noFill/>
              </a:ln>
              <a:solidFill>
                <a:srgbClr val="E7E6E6">
                  <a:lumMod val="75000"/>
                </a:srgbClr>
              </a:solidFill>
              <a:effectLst/>
              <a:uLnTx/>
              <a:uFillTx/>
              <a:latin typeface="Calibri" panose="020F0502020204030204"/>
              <a:ea typeface="+mn-ea"/>
              <a:cs typeface="+mn-cs"/>
            </a:endParaRPr>
          </a:p>
          <a:p>
            <a:r>
              <a:rPr lang="en-IN" sz="1300" noProof="0" dirty="0">
                <a:solidFill>
                  <a:srgbClr val="E7E6E6">
                    <a:lumMod val="75000"/>
                  </a:srgbClr>
                </a:solidFill>
                <a:latin typeface="Calibri" panose="020F0502020204030204"/>
              </a:rPr>
              <a:t>               </a:t>
            </a:r>
            <a:r>
              <a:rPr kumimoji="0" lang="en-US" sz="1300" b="0" i="0" u="none" strike="noStrike" kern="1200" cap="none" spc="0" normalizeH="0" baseline="0" noProof="0" dirty="0">
                <a:ln>
                  <a:noFill/>
                </a:ln>
                <a:solidFill>
                  <a:srgbClr val="E7E6E6">
                    <a:lumMod val="75000"/>
                  </a:srgbClr>
                </a:solidFill>
                <a:effectLst/>
                <a:uLnTx/>
                <a:uFillTx/>
                <a:latin typeface="Calibri" panose="020F0502020204030204"/>
                <a:ea typeface="+mn-ea"/>
                <a:cs typeface="+mn-cs"/>
              </a:rPr>
              <a:t>Fleet Analytics • Reliability Engineering • Digital Mine Technologies</a:t>
            </a:r>
            <a:endParaRPr lang="en-IN" sz="1300" dirty="0"/>
          </a:p>
        </p:txBody>
      </p:sp>
      <p:pic>
        <p:nvPicPr>
          <p:cNvPr id="5" name="Image 1" descr="/home/claude/deck/assets/adani_logo.png"/>
          <p:cNvPicPr>
            <a:picLocks noChangeAspect="1"/>
          </p:cNvPicPr>
          <p:nvPr/>
        </p:nvPicPr>
        <p:blipFill>
          <a:blip r:embed="rId4"/>
          <a:stretch>
            <a:fillRect/>
          </a:stretch>
        </p:blipFill>
        <p:spPr>
          <a:xfrm>
            <a:off x="10058400" y="292608"/>
            <a:ext cx="1554480" cy="457200"/>
          </a:xfrm>
          <a:prstGeom prst="rect">
            <a:avLst/>
          </a:prstGeom>
        </p:spPr>
      </p:pic>
      <p:sp>
        <p:nvSpPr>
          <p:cNvPr id="6" name="Text 2"/>
          <p:cNvSpPr/>
          <p:nvPr/>
        </p:nvSpPr>
        <p:spPr>
          <a:xfrm>
            <a:off x="492981" y="1188720"/>
            <a:ext cx="11433976" cy="1828800"/>
          </a:xfrm>
          <a:prstGeom prst="rect">
            <a:avLst/>
          </a:prstGeom>
          <a:noFill/>
          <a:ln/>
        </p:spPr>
        <p:txBody>
          <a:bodyPr wrap="square" rtlCol="0" anchor="t"/>
          <a:lstStyle/>
          <a:p>
            <a:pPr marL="0" indent="0" algn="l">
              <a:lnSpc>
                <a:spcPct val="115000"/>
              </a:lnSpc>
              <a:buNone/>
            </a:pPr>
            <a:r>
              <a:rPr lang="en-US" sz="3200" b="1" dirty="0">
                <a:solidFill>
                  <a:srgbClr val="FFFFFF"/>
                </a:solidFill>
                <a:latin typeface="Arial" pitchFamily="34" charset="0"/>
                <a:ea typeface="Arial" pitchFamily="34" charset="-122"/>
                <a:cs typeface="Arial" pitchFamily="34" charset="-120"/>
              </a:rPr>
              <a:t>Performance Monitoring &amp; Improvement Opportunities
in OB &amp; Coal Operations
</a:t>
            </a:r>
            <a:r>
              <a:rPr lang="en-US" sz="3200" b="1" dirty="0">
                <a:solidFill>
                  <a:srgbClr val="00C4CC"/>
                </a:solidFill>
                <a:latin typeface="Arial" pitchFamily="34" charset="0"/>
                <a:ea typeface="Arial" pitchFamily="34" charset="-122"/>
                <a:cs typeface="Arial" pitchFamily="34" charset="-120"/>
              </a:rPr>
              <a:t>through FMS &amp; FUMS Data</a:t>
            </a:r>
            <a:endParaRPr lang="en-US" sz="3200" dirty="0"/>
          </a:p>
        </p:txBody>
      </p:sp>
      <p:sp>
        <p:nvSpPr>
          <p:cNvPr id="7" name="Text 3"/>
          <p:cNvSpPr/>
          <p:nvPr/>
        </p:nvSpPr>
        <p:spPr>
          <a:xfrm>
            <a:off x="492980" y="2994660"/>
            <a:ext cx="11064240" cy="365760"/>
          </a:xfrm>
          <a:prstGeom prst="rect">
            <a:avLst/>
          </a:prstGeom>
          <a:noFill/>
          <a:ln/>
        </p:spPr>
        <p:txBody>
          <a:bodyPr wrap="square" rtlCol="0" anchor="ctr"/>
          <a:lstStyle/>
          <a:p>
            <a:pPr marL="0" indent="0" algn="l">
              <a:buNone/>
            </a:pPr>
            <a:r>
              <a:rPr lang="en-US" sz="1300" kern="0" spc="100" dirty="0">
                <a:solidFill>
                  <a:srgbClr val="B3B3B3"/>
                </a:solidFill>
                <a:latin typeface="Arial" pitchFamily="34" charset="0"/>
                <a:ea typeface="Arial" pitchFamily="34" charset="-122"/>
                <a:cs typeface="Arial" pitchFamily="34" charset="-120"/>
              </a:rPr>
              <a:t>SUMMER INTERNSHIP REPORT  </a:t>
            </a:r>
            <a:r>
              <a:rPr lang="en-US" sz="1400" b="1" kern="0" spc="100" dirty="0">
                <a:solidFill>
                  <a:srgbClr val="B3B3B3"/>
                </a:solidFill>
                <a:latin typeface="Arial" pitchFamily="34" charset="0"/>
                <a:ea typeface="Arial" pitchFamily="34" charset="-122"/>
                <a:cs typeface="Arial" pitchFamily="34" charset="-120"/>
              </a:rPr>
              <a:t>·</a:t>
            </a:r>
            <a:r>
              <a:rPr lang="en-US" sz="1300" kern="0" spc="100" dirty="0">
                <a:solidFill>
                  <a:srgbClr val="B3B3B3"/>
                </a:solidFill>
                <a:latin typeface="Arial" pitchFamily="34" charset="0"/>
                <a:ea typeface="Arial" pitchFamily="34" charset="-122"/>
                <a:cs typeface="Arial" pitchFamily="34" charset="-120"/>
              </a:rPr>
              <a:t>  TALABIRA II &amp; III OPEN CAST PROJECT</a:t>
            </a:r>
            <a:endParaRPr lang="en-US" sz="1300" dirty="0"/>
          </a:p>
        </p:txBody>
      </p:sp>
      <p:sp>
        <p:nvSpPr>
          <p:cNvPr id="8" name="Shape 4"/>
          <p:cNvSpPr/>
          <p:nvPr/>
        </p:nvSpPr>
        <p:spPr>
          <a:xfrm>
            <a:off x="548640" y="3794760"/>
            <a:ext cx="11064240" cy="0"/>
          </a:xfrm>
          <a:prstGeom prst="line">
            <a:avLst/>
          </a:prstGeom>
          <a:noFill/>
          <a:ln w="9525">
            <a:solidFill>
              <a:srgbClr val="6E6E6E"/>
            </a:solidFill>
            <a:prstDash val="solid"/>
          </a:ln>
        </p:spPr>
      </p:sp>
      <p:sp>
        <p:nvSpPr>
          <p:cNvPr id="9" name="Text 5"/>
          <p:cNvSpPr/>
          <p:nvPr/>
        </p:nvSpPr>
        <p:spPr>
          <a:xfrm>
            <a:off x="548640" y="4023360"/>
            <a:ext cx="5303520" cy="274320"/>
          </a:xfrm>
          <a:prstGeom prst="rect">
            <a:avLst/>
          </a:prstGeom>
          <a:noFill/>
          <a:ln/>
        </p:spPr>
        <p:txBody>
          <a:bodyPr wrap="square" rtlCol="0" anchor="ctr"/>
          <a:lstStyle/>
          <a:p>
            <a:pPr marL="0" indent="0">
              <a:buNone/>
            </a:pPr>
            <a:r>
              <a:rPr lang="en-US" sz="1100" kern="0" spc="100" dirty="0">
                <a:solidFill>
                  <a:srgbClr val="B3B3B3"/>
                </a:solidFill>
                <a:latin typeface="Arial" pitchFamily="34" charset="0"/>
                <a:ea typeface="Arial" pitchFamily="34" charset="-122"/>
                <a:cs typeface="Arial" pitchFamily="34" charset="-120"/>
              </a:rPr>
              <a:t>PRESENTED BY</a:t>
            </a:r>
            <a:endParaRPr lang="en-US" sz="1100" dirty="0"/>
          </a:p>
        </p:txBody>
      </p:sp>
      <p:sp>
        <p:nvSpPr>
          <p:cNvPr id="10" name="Text 6"/>
          <p:cNvSpPr/>
          <p:nvPr/>
        </p:nvSpPr>
        <p:spPr>
          <a:xfrm>
            <a:off x="548640" y="4297680"/>
            <a:ext cx="530352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Sushant Rathore</a:t>
            </a:r>
            <a:endParaRPr lang="en-US" sz="1800" dirty="0"/>
          </a:p>
        </p:txBody>
      </p:sp>
      <p:sp>
        <p:nvSpPr>
          <p:cNvPr id="11" name="Text 7"/>
          <p:cNvSpPr/>
          <p:nvPr/>
        </p:nvSpPr>
        <p:spPr>
          <a:xfrm>
            <a:off x="548640" y="4709160"/>
            <a:ext cx="5303520" cy="594360"/>
          </a:xfrm>
          <a:prstGeom prst="rect">
            <a:avLst/>
          </a:prstGeom>
          <a:noFill/>
          <a:ln/>
        </p:spPr>
        <p:txBody>
          <a:bodyPr wrap="square" rtlCol="0" anchor="ctr"/>
          <a:lstStyle/>
          <a:p>
            <a:pPr marL="0" indent="0">
              <a:lnSpc>
                <a:spcPct val="125000"/>
              </a:lnSpc>
              <a:buNone/>
            </a:pPr>
            <a:r>
              <a:rPr lang="en-US" sz="1300" dirty="0">
                <a:solidFill>
                  <a:srgbClr val="B3B3B3"/>
                </a:solidFill>
                <a:latin typeface="Arial" pitchFamily="34" charset="0"/>
                <a:ea typeface="Arial" pitchFamily="34" charset="-122"/>
                <a:cs typeface="Arial" pitchFamily="34" charset="-120"/>
              </a:rPr>
              <a:t>B.Tech, Mining Engineering (ME'27)</a:t>
            </a:r>
            <a:endParaRPr lang="en-US" sz="1300" dirty="0"/>
          </a:p>
          <a:p>
            <a:pPr marL="0" indent="0">
              <a:lnSpc>
                <a:spcPct val="125000"/>
              </a:lnSpc>
              <a:buNone/>
            </a:pPr>
            <a:r>
              <a:rPr lang="en-US" sz="1300" dirty="0">
                <a:solidFill>
                  <a:srgbClr val="B3B3B3"/>
                </a:solidFill>
                <a:latin typeface="Arial" pitchFamily="34" charset="0"/>
                <a:ea typeface="Arial" pitchFamily="34" charset="-122"/>
                <a:cs typeface="Arial" pitchFamily="34" charset="-120"/>
              </a:rPr>
              <a:t>IIT (ISM) Dhanbad</a:t>
            </a:r>
            <a:endParaRPr lang="en-US" sz="1300" dirty="0"/>
          </a:p>
        </p:txBody>
      </p:sp>
      <p:sp>
        <p:nvSpPr>
          <p:cNvPr id="12" name="Text 8"/>
          <p:cNvSpPr/>
          <p:nvPr/>
        </p:nvSpPr>
        <p:spPr>
          <a:xfrm>
            <a:off x="6309360" y="4023360"/>
            <a:ext cx="5303520" cy="274320"/>
          </a:xfrm>
          <a:prstGeom prst="rect">
            <a:avLst/>
          </a:prstGeom>
          <a:noFill/>
          <a:ln/>
        </p:spPr>
        <p:txBody>
          <a:bodyPr wrap="square" rtlCol="0" anchor="ctr"/>
          <a:lstStyle/>
          <a:p>
            <a:r>
              <a:rPr lang="en-US" sz="1100" kern="0" spc="100" dirty="0">
                <a:solidFill>
                  <a:srgbClr val="B3B3B3"/>
                </a:solidFill>
                <a:latin typeface="Arial" pitchFamily="34" charset="0"/>
                <a:ea typeface="Arial" pitchFamily="34" charset="-122"/>
                <a:cs typeface="Arial" pitchFamily="34" charset="-120"/>
              </a:rPr>
              <a:t>INDUSTRY MENTOR</a:t>
            </a:r>
            <a:endParaRPr lang="en-US" sz="1100" dirty="0"/>
          </a:p>
        </p:txBody>
      </p:sp>
      <p:sp>
        <p:nvSpPr>
          <p:cNvPr id="13" name="Text 9"/>
          <p:cNvSpPr/>
          <p:nvPr/>
        </p:nvSpPr>
        <p:spPr>
          <a:xfrm>
            <a:off x="6309360" y="4297680"/>
            <a:ext cx="338328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Nabal Kishor Sharma</a:t>
            </a:r>
            <a:endParaRPr lang="en-US" sz="1800" dirty="0"/>
          </a:p>
        </p:txBody>
      </p:sp>
      <p:sp>
        <p:nvSpPr>
          <p:cNvPr id="14" name="Text 10"/>
          <p:cNvSpPr/>
          <p:nvPr/>
        </p:nvSpPr>
        <p:spPr>
          <a:xfrm>
            <a:off x="6309360" y="4709160"/>
            <a:ext cx="5303520" cy="274320"/>
          </a:xfrm>
          <a:prstGeom prst="rect">
            <a:avLst/>
          </a:prstGeom>
          <a:noFill/>
          <a:ln/>
        </p:spPr>
        <p:txBody>
          <a:bodyPr wrap="square" rtlCol="0" anchor="ctr"/>
          <a:lstStyle/>
          <a:p>
            <a:pPr marL="0" indent="0">
              <a:buNone/>
            </a:pPr>
            <a:endParaRPr lang="en-US" sz="1300" dirty="0"/>
          </a:p>
        </p:txBody>
      </p:sp>
      <p:sp>
        <p:nvSpPr>
          <p:cNvPr id="15" name="Shape 11"/>
          <p:cNvSpPr/>
          <p:nvPr/>
        </p:nvSpPr>
        <p:spPr>
          <a:xfrm>
            <a:off x="548640" y="5989320"/>
            <a:ext cx="11064240" cy="0"/>
          </a:xfrm>
          <a:prstGeom prst="line">
            <a:avLst/>
          </a:prstGeom>
          <a:noFill/>
          <a:ln w="9525">
            <a:solidFill>
              <a:srgbClr val="6E6E6E"/>
            </a:solidFill>
            <a:prstDash val="solid"/>
          </a:ln>
        </p:spPr>
      </p:sp>
      <p:sp>
        <p:nvSpPr>
          <p:cNvPr id="16" name="Text 12"/>
          <p:cNvSpPr/>
          <p:nvPr/>
        </p:nvSpPr>
        <p:spPr>
          <a:xfrm>
            <a:off x="548640" y="6126480"/>
            <a:ext cx="11064240" cy="320040"/>
          </a:xfrm>
          <a:prstGeom prst="rect">
            <a:avLst/>
          </a:prstGeom>
          <a:noFill/>
          <a:ln/>
        </p:spPr>
        <p:txBody>
          <a:bodyPr wrap="square" rtlCol="0" anchor="ctr"/>
          <a:lstStyle/>
          <a:p>
            <a:pPr marL="0" indent="0" algn="l">
              <a:buNone/>
            </a:pPr>
            <a:r>
              <a:rPr lang="en-US" sz="1200" dirty="0">
                <a:solidFill>
                  <a:srgbClr val="B3B3B3"/>
                </a:solidFill>
                <a:latin typeface="Arial" pitchFamily="34" charset="0"/>
                <a:ea typeface="Arial" pitchFamily="34" charset="-122"/>
                <a:cs typeface="Arial" pitchFamily="34" charset="-120"/>
              </a:rPr>
              <a:t>Adani Natural Resources   |   Talabira II &amp; III Open Cast Project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576072" y="1417320"/>
            <a:ext cx="11064240" cy="9144"/>
          </a:xfrm>
          <a:prstGeom prst="rect">
            <a:avLst/>
          </a:prstGeom>
          <a:solidFill>
            <a:srgbClr val="D9D9D9"/>
          </a:solidFill>
          <a:ln/>
        </p:spPr>
        <p:txBody>
          <a:bodyPr/>
          <a:lstStyle/>
          <a:p>
            <a:endParaRPr lang="en-IN"/>
          </a:p>
        </p:txBody>
      </p:sp>
      <p:sp>
        <p:nvSpPr>
          <p:cNvPr id="4" name="Shape 1"/>
          <p:cNvSpPr/>
          <p:nvPr/>
        </p:nvSpPr>
        <p:spPr>
          <a:xfrm>
            <a:off x="6080760" y="1737360"/>
            <a:ext cx="10973" cy="4114800"/>
          </a:xfrm>
          <a:prstGeom prst="rect">
            <a:avLst/>
          </a:prstGeom>
          <a:solidFill>
            <a:srgbClr val="D9D9D9"/>
          </a:solidFill>
          <a:ln/>
        </p:spPr>
        <p:txBody>
          <a:bodyPr/>
          <a:lstStyle/>
          <a:p>
            <a:endParaRPr lang="en-IN"/>
          </a:p>
        </p:txBody>
      </p:sp>
      <p:sp>
        <p:nvSpPr>
          <p:cNvPr id="5" name="Text 2"/>
          <p:cNvSpPr/>
          <p:nvPr/>
        </p:nvSpPr>
        <p:spPr>
          <a:xfrm>
            <a:off x="576072" y="1691640"/>
            <a:ext cx="5212080" cy="274320"/>
          </a:xfrm>
          <a:prstGeom prst="rect">
            <a:avLst/>
          </a:prstGeom>
          <a:noFill/>
          <a:ln/>
        </p:spPr>
        <p:txBody>
          <a:bodyPr wrap="square" rtlCol="0" anchor="ctr"/>
          <a:lstStyle/>
          <a:p>
            <a:pPr marL="0" indent="0">
              <a:buNone/>
            </a:pPr>
            <a:r>
              <a:rPr lang="en-US" sz="1100" b="1" kern="0" spc="120" dirty="0">
                <a:solidFill>
                  <a:srgbClr val="6B6B6B"/>
                </a:solidFill>
                <a:latin typeface="Arial" pitchFamily="34" charset="0"/>
                <a:ea typeface="Arial" pitchFamily="34" charset="-122"/>
                <a:cs typeface="Arial" pitchFamily="34" charset="-120"/>
              </a:rPr>
              <a:t>INTRODUCTION</a:t>
            </a:r>
            <a:endParaRPr lang="en-US" sz="1100" dirty="0"/>
          </a:p>
        </p:txBody>
      </p:sp>
      <p:sp>
        <p:nvSpPr>
          <p:cNvPr id="6" name="Text 3"/>
          <p:cNvSpPr/>
          <p:nvPr/>
        </p:nvSpPr>
        <p:spPr>
          <a:xfrm>
            <a:off x="576072" y="2011680"/>
            <a:ext cx="5212080" cy="411480"/>
          </a:xfrm>
          <a:prstGeom prst="rect">
            <a:avLst/>
          </a:prstGeom>
          <a:noFill/>
          <a:ln/>
        </p:spPr>
        <p:txBody>
          <a:bodyPr wrap="square" rtlCol="0" anchor="ctr"/>
          <a:lstStyle/>
          <a:p>
            <a:pPr marL="0" indent="0">
              <a:buNone/>
            </a:pPr>
            <a:r>
              <a:rPr lang="en-US" sz="2400" b="1" dirty="0">
                <a:solidFill>
                  <a:srgbClr val="12233F"/>
                </a:solidFill>
                <a:latin typeface="Arial" pitchFamily="34" charset="0"/>
                <a:ea typeface="Arial" pitchFamily="34" charset="-122"/>
                <a:cs typeface="Arial" pitchFamily="34" charset="-120"/>
              </a:rPr>
              <a:t>Sushant Rathore</a:t>
            </a:r>
            <a:endParaRPr lang="en-US" sz="2400" dirty="0"/>
          </a:p>
        </p:txBody>
      </p:sp>
      <p:sp>
        <p:nvSpPr>
          <p:cNvPr id="7" name="Text 4"/>
          <p:cNvSpPr/>
          <p:nvPr/>
        </p:nvSpPr>
        <p:spPr>
          <a:xfrm>
            <a:off x="576072" y="2374540"/>
            <a:ext cx="5212080" cy="963020"/>
          </a:xfrm>
          <a:prstGeom prst="rect">
            <a:avLst/>
          </a:prstGeom>
          <a:noFill/>
          <a:ln/>
        </p:spPr>
        <p:txBody>
          <a:bodyPr wrap="square" rtlCol="0" anchor="ctr"/>
          <a:lstStyle/>
          <a:p>
            <a:pPr marL="0" indent="0">
              <a:lnSpc>
                <a:spcPct val="130000"/>
              </a:lnSpc>
              <a:buNone/>
            </a:pPr>
            <a:r>
              <a:rPr lang="en-US" sz="1400" dirty="0">
                <a:solidFill>
                  <a:srgbClr val="3A3A3A"/>
                </a:solidFill>
                <a:latin typeface="Arial" pitchFamily="34" charset="0"/>
                <a:ea typeface="Arial" pitchFamily="34" charset="-122"/>
                <a:cs typeface="Arial" pitchFamily="34" charset="-120"/>
              </a:rPr>
              <a:t>Final-year Mining Engineering student with a strong focus on operational data analytics, fleet performance and asset optimization in surface mining.</a:t>
            </a:r>
            <a:endParaRPr lang="en-US" sz="1400" dirty="0"/>
          </a:p>
        </p:txBody>
      </p:sp>
      <p:sp>
        <p:nvSpPr>
          <p:cNvPr id="8" name="Text 5"/>
          <p:cNvSpPr/>
          <p:nvPr/>
        </p:nvSpPr>
        <p:spPr>
          <a:xfrm>
            <a:off x="576072" y="3520440"/>
            <a:ext cx="5212080" cy="274320"/>
          </a:xfrm>
          <a:prstGeom prst="rect">
            <a:avLst/>
          </a:prstGeom>
          <a:noFill/>
          <a:ln/>
        </p:spPr>
        <p:txBody>
          <a:bodyPr wrap="square" rtlCol="0" anchor="ctr"/>
          <a:lstStyle/>
          <a:p>
            <a:pPr marL="0" indent="0">
              <a:buNone/>
            </a:pPr>
            <a:r>
              <a:rPr lang="en-US" sz="1100" b="1" kern="0" spc="120" dirty="0">
                <a:solidFill>
                  <a:srgbClr val="6B6B6B"/>
                </a:solidFill>
                <a:latin typeface="Arial" pitchFamily="34" charset="0"/>
                <a:ea typeface="Arial" pitchFamily="34" charset="-122"/>
                <a:cs typeface="Arial" pitchFamily="34" charset="-120"/>
              </a:rPr>
              <a:t>EDUCATION</a:t>
            </a:r>
            <a:endParaRPr lang="en-US" sz="1100" dirty="0"/>
          </a:p>
        </p:txBody>
      </p:sp>
      <p:sp>
        <p:nvSpPr>
          <p:cNvPr id="9" name="Text 6"/>
          <p:cNvSpPr/>
          <p:nvPr/>
        </p:nvSpPr>
        <p:spPr>
          <a:xfrm>
            <a:off x="576072" y="3840480"/>
            <a:ext cx="5212080" cy="320040"/>
          </a:xfrm>
          <a:prstGeom prst="rect">
            <a:avLst/>
          </a:prstGeom>
          <a:noFill/>
          <a:ln/>
        </p:spPr>
        <p:txBody>
          <a:bodyPr wrap="square" rtlCol="0" anchor="ctr"/>
          <a:lstStyle/>
          <a:p>
            <a:pPr marL="0" indent="0">
              <a:buNone/>
            </a:pPr>
            <a:r>
              <a:rPr lang="en-US" sz="1400" b="1" dirty="0">
                <a:solidFill>
                  <a:srgbClr val="12233F"/>
                </a:solidFill>
                <a:latin typeface="Arial" pitchFamily="34" charset="0"/>
                <a:ea typeface="Arial" pitchFamily="34" charset="-122"/>
                <a:cs typeface="Arial" pitchFamily="34" charset="-120"/>
              </a:rPr>
              <a:t>B.Tech, Mining Engineering (ME'27)</a:t>
            </a:r>
            <a:endParaRPr lang="en-US" sz="1400" dirty="0"/>
          </a:p>
        </p:txBody>
      </p:sp>
      <p:sp>
        <p:nvSpPr>
          <p:cNvPr id="10" name="Text 7"/>
          <p:cNvSpPr/>
          <p:nvPr/>
        </p:nvSpPr>
        <p:spPr>
          <a:xfrm>
            <a:off x="576072" y="4160520"/>
            <a:ext cx="5212080" cy="320040"/>
          </a:xfrm>
          <a:prstGeom prst="rect">
            <a:avLst/>
          </a:prstGeom>
          <a:noFill/>
          <a:ln/>
        </p:spPr>
        <p:txBody>
          <a:bodyPr wrap="square" rtlCol="0" anchor="ctr"/>
          <a:lstStyle/>
          <a:p>
            <a:pPr marL="0" indent="0">
              <a:buNone/>
            </a:pPr>
            <a:r>
              <a:rPr lang="en-US" sz="1400" dirty="0">
                <a:solidFill>
                  <a:srgbClr val="3A3A3A"/>
                </a:solidFill>
                <a:latin typeface="Arial" pitchFamily="34" charset="0"/>
                <a:ea typeface="Arial" pitchFamily="34" charset="-122"/>
                <a:cs typeface="Arial" pitchFamily="34" charset="-120"/>
              </a:rPr>
              <a:t>Indian Institute of Technology (ISM), Dhanbad</a:t>
            </a:r>
            <a:endParaRPr lang="en-US" sz="1400" dirty="0"/>
          </a:p>
        </p:txBody>
      </p:sp>
      <p:sp>
        <p:nvSpPr>
          <p:cNvPr id="11" name="Text 8"/>
          <p:cNvSpPr/>
          <p:nvPr/>
        </p:nvSpPr>
        <p:spPr>
          <a:xfrm>
            <a:off x="6355080" y="1691640"/>
            <a:ext cx="5212080" cy="274320"/>
          </a:xfrm>
          <a:prstGeom prst="rect">
            <a:avLst/>
          </a:prstGeom>
          <a:noFill/>
          <a:ln/>
        </p:spPr>
        <p:txBody>
          <a:bodyPr wrap="square" rtlCol="0" anchor="ctr"/>
          <a:lstStyle/>
          <a:p>
            <a:pPr marL="0" indent="0">
              <a:buNone/>
            </a:pPr>
            <a:r>
              <a:rPr lang="en-US" sz="1100" b="1" kern="0" spc="120" dirty="0">
                <a:solidFill>
                  <a:srgbClr val="6B6B6B"/>
                </a:solidFill>
                <a:latin typeface="Arial" pitchFamily="34" charset="0"/>
                <a:ea typeface="Arial" pitchFamily="34" charset="-122"/>
                <a:cs typeface="Arial" pitchFamily="34" charset="-120"/>
              </a:rPr>
              <a:t>INTERNSHIP</a:t>
            </a:r>
            <a:endParaRPr lang="en-US" sz="1100" dirty="0"/>
          </a:p>
        </p:txBody>
      </p:sp>
      <p:sp>
        <p:nvSpPr>
          <p:cNvPr id="12" name="Text 9"/>
          <p:cNvSpPr/>
          <p:nvPr/>
        </p:nvSpPr>
        <p:spPr>
          <a:xfrm>
            <a:off x="6355080" y="2011680"/>
            <a:ext cx="5212080" cy="320040"/>
          </a:xfrm>
          <a:prstGeom prst="rect">
            <a:avLst/>
          </a:prstGeom>
          <a:noFill/>
          <a:ln/>
        </p:spPr>
        <p:txBody>
          <a:bodyPr wrap="square" rtlCol="0" anchor="ctr"/>
          <a:lstStyle/>
          <a:p>
            <a:pPr marL="0" indent="0">
              <a:buNone/>
            </a:pPr>
            <a:r>
              <a:rPr lang="en-US" sz="1400" b="1" dirty="0">
                <a:solidFill>
                  <a:srgbClr val="12233F"/>
                </a:solidFill>
                <a:latin typeface="Arial" pitchFamily="34" charset="0"/>
                <a:ea typeface="Arial" pitchFamily="34" charset="-122"/>
                <a:cs typeface="Arial" pitchFamily="34" charset="-120"/>
              </a:rPr>
              <a:t>Adani Natural Resources</a:t>
            </a:r>
            <a:endParaRPr lang="en-US" sz="1400" dirty="0"/>
          </a:p>
        </p:txBody>
      </p:sp>
      <p:sp>
        <p:nvSpPr>
          <p:cNvPr id="13" name="Text 10"/>
          <p:cNvSpPr/>
          <p:nvPr/>
        </p:nvSpPr>
        <p:spPr>
          <a:xfrm>
            <a:off x="6355080" y="2331720"/>
            <a:ext cx="5212080" cy="320040"/>
          </a:xfrm>
          <a:prstGeom prst="rect">
            <a:avLst/>
          </a:prstGeom>
          <a:noFill/>
          <a:ln/>
        </p:spPr>
        <p:txBody>
          <a:bodyPr wrap="square" rtlCol="0" anchor="ctr"/>
          <a:lstStyle/>
          <a:p>
            <a:pPr marL="0" indent="0">
              <a:buNone/>
            </a:pPr>
            <a:r>
              <a:rPr lang="en-US" sz="1400" dirty="0">
                <a:solidFill>
                  <a:srgbClr val="3A3A3A"/>
                </a:solidFill>
                <a:latin typeface="Arial" pitchFamily="34" charset="0"/>
                <a:ea typeface="Arial" pitchFamily="34" charset="-122"/>
                <a:cs typeface="Arial" pitchFamily="34" charset="-120"/>
              </a:rPr>
              <a:t>Talabira II &amp; III Open Cast Project</a:t>
            </a:r>
            <a:endParaRPr lang="en-US" sz="1400" dirty="0"/>
          </a:p>
        </p:txBody>
      </p:sp>
      <p:sp>
        <p:nvSpPr>
          <p:cNvPr id="14" name="Text 11"/>
          <p:cNvSpPr/>
          <p:nvPr/>
        </p:nvSpPr>
        <p:spPr>
          <a:xfrm>
            <a:off x="6355080" y="2651760"/>
            <a:ext cx="5212080" cy="320040"/>
          </a:xfrm>
          <a:prstGeom prst="rect">
            <a:avLst/>
          </a:prstGeom>
          <a:noFill/>
          <a:ln/>
        </p:spPr>
        <p:txBody>
          <a:bodyPr wrap="square" rtlCol="0" anchor="ctr"/>
          <a:lstStyle/>
          <a:p>
            <a:r>
              <a:rPr lang="en-US" sz="1400" dirty="0">
                <a:solidFill>
                  <a:srgbClr val="3A3A3A"/>
                </a:solidFill>
                <a:latin typeface="Arial" pitchFamily="34" charset="0"/>
                <a:ea typeface="Arial" pitchFamily="34" charset="-122"/>
                <a:cs typeface="Arial" pitchFamily="34" charset="-120"/>
              </a:rPr>
              <a:t>Summer Internship </a:t>
            </a:r>
            <a:r>
              <a:rPr lang="en-IN" sz="1400" dirty="0"/>
              <a:t>•</a:t>
            </a:r>
            <a:r>
              <a:rPr lang="en-US" sz="1400" dirty="0">
                <a:solidFill>
                  <a:srgbClr val="3A3A3A"/>
                </a:solidFill>
                <a:latin typeface="Arial" pitchFamily="34" charset="0"/>
                <a:ea typeface="Arial" pitchFamily="34" charset="-122"/>
                <a:cs typeface="Arial" pitchFamily="34" charset="-120"/>
              </a:rPr>
              <a:t> (2026)</a:t>
            </a:r>
            <a:endParaRPr lang="en-US" sz="1400" dirty="0"/>
          </a:p>
        </p:txBody>
      </p:sp>
      <p:sp>
        <p:nvSpPr>
          <p:cNvPr id="15" name="Text 12"/>
          <p:cNvSpPr/>
          <p:nvPr/>
        </p:nvSpPr>
        <p:spPr>
          <a:xfrm>
            <a:off x="6355080" y="3520440"/>
            <a:ext cx="5212080" cy="274320"/>
          </a:xfrm>
          <a:prstGeom prst="rect">
            <a:avLst/>
          </a:prstGeom>
          <a:noFill/>
          <a:ln/>
        </p:spPr>
        <p:txBody>
          <a:bodyPr wrap="square" rtlCol="0" anchor="ctr"/>
          <a:lstStyle/>
          <a:p>
            <a:pPr marL="0" indent="0">
              <a:buNone/>
            </a:pPr>
            <a:r>
              <a:rPr lang="en-US" sz="1100" b="1" kern="0" spc="120" dirty="0">
                <a:solidFill>
                  <a:srgbClr val="6B6B6B"/>
                </a:solidFill>
                <a:latin typeface="Arial" pitchFamily="34" charset="0"/>
                <a:ea typeface="Arial" pitchFamily="34" charset="-122"/>
                <a:cs typeface="Arial" pitchFamily="34" charset="-120"/>
              </a:rPr>
              <a:t>TECHNICAL INTERESTS</a:t>
            </a:r>
            <a:endParaRPr lang="en-US" sz="1100" dirty="0"/>
          </a:p>
        </p:txBody>
      </p:sp>
      <p:sp>
        <p:nvSpPr>
          <p:cNvPr id="16" name="Shape 13"/>
          <p:cNvSpPr/>
          <p:nvPr/>
        </p:nvSpPr>
        <p:spPr>
          <a:xfrm>
            <a:off x="6355080" y="3913632"/>
            <a:ext cx="18288" cy="256032"/>
          </a:xfrm>
          <a:prstGeom prst="rect">
            <a:avLst/>
          </a:prstGeom>
          <a:solidFill>
            <a:srgbClr val="00A99D"/>
          </a:solidFill>
          <a:ln/>
        </p:spPr>
        <p:txBody>
          <a:bodyPr/>
          <a:lstStyle/>
          <a:p>
            <a:endParaRPr lang="en-IN"/>
          </a:p>
        </p:txBody>
      </p:sp>
      <p:sp>
        <p:nvSpPr>
          <p:cNvPr id="17" name="Text 14"/>
          <p:cNvSpPr/>
          <p:nvPr/>
        </p:nvSpPr>
        <p:spPr>
          <a:xfrm>
            <a:off x="6519672" y="3886200"/>
            <a:ext cx="5029200" cy="320040"/>
          </a:xfrm>
          <a:prstGeom prst="rect">
            <a:avLst/>
          </a:prstGeom>
          <a:noFill/>
          <a:ln/>
        </p:spPr>
        <p:txBody>
          <a:bodyPr wrap="square" rtlCol="0" anchor="ctr"/>
          <a:lstStyle/>
          <a:p>
            <a:pPr marL="0" indent="0">
              <a:buNone/>
            </a:pPr>
            <a:r>
              <a:rPr lang="en-US" sz="1400" dirty="0">
                <a:solidFill>
                  <a:srgbClr val="3A3A3A"/>
                </a:solidFill>
                <a:latin typeface="Arial" pitchFamily="34" charset="0"/>
                <a:ea typeface="Arial" pitchFamily="34" charset="-122"/>
                <a:cs typeface="Arial" pitchFamily="34" charset="-120"/>
              </a:rPr>
              <a:t>Mining Operations &amp; Fleet Performance Analytics</a:t>
            </a:r>
            <a:endParaRPr lang="en-US" sz="1400" dirty="0"/>
          </a:p>
        </p:txBody>
      </p:sp>
      <p:sp>
        <p:nvSpPr>
          <p:cNvPr id="18" name="Shape 15"/>
          <p:cNvSpPr/>
          <p:nvPr/>
        </p:nvSpPr>
        <p:spPr>
          <a:xfrm>
            <a:off x="6355080" y="4370832"/>
            <a:ext cx="18288" cy="256032"/>
          </a:xfrm>
          <a:prstGeom prst="rect">
            <a:avLst/>
          </a:prstGeom>
          <a:solidFill>
            <a:srgbClr val="00A99D"/>
          </a:solidFill>
          <a:ln/>
        </p:spPr>
        <p:txBody>
          <a:bodyPr/>
          <a:lstStyle/>
          <a:p>
            <a:endParaRPr lang="en-IN"/>
          </a:p>
        </p:txBody>
      </p:sp>
      <p:sp>
        <p:nvSpPr>
          <p:cNvPr id="19" name="Text 16"/>
          <p:cNvSpPr/>
          <p:nvPr/>
        </p:nvSpPr>
        <p:spPr>
          <a:xfrm>
            <a:off x="6519672" y="4343400"/>
            <a:ext cx="5029200" cy="320040"/>
          </a:xfrm>
          <a:prstGeom prst="rect">
            <a:avLst/>
          </a:prstGeom>
          <a:noFill/>
          <a:ln/>
        </p:spPr>
        <p:txBody>
          <a:bodyPr wrap="square" rtlCol="0" anchor="ctr"/>
          <a:lstStyle/>
          <a:p>
            <a:pPr marL="0" indent="0">
              <a:buNone/>
            </a:pPr>
            <a:r>
              <a:rPr lang="en-US" sz="1400" dirty="0">
                <a:solidFill>
                  <a:srgbClr val="3A3A3A"/>
                </a:solidFill>
                <a:latin typeface="Arial" pitchFamily="34" charset="0"/>
                <a:ea typeface="Arial" pitchFamily="34" charset="-122"/>
                <a:cs typeface="Arial" pitchFamily="34" charset="-120"/>
              </a:rPr>
              <a:t>Reliability Engineering &amp; Asset Management</a:t>
            </a:r>
            <a:endParaRPr lang="en-US" sz="1400" dirty="0"/>
          </a:p>
        </p:txBody>
      </p:sp>
      <p:sp>
        <p:nvSpPr>
          <p:cNvPr id="20" name="Shape 17"/>
          <p:cNvSpPr/>
          <p:nvPr/>
        </p:nvSpPr>
        <p:spPr>
          <a:xfrm>
            <a:off x="6355080" y="4828032"/>
            <a:ext cx="18288" cy="256032"/>
          </a:xfrm>
          <a:prstGeom prst="rect">
            <a:avLst/>
          </a:prstGeom>
          <a:solidFill>
            <a:srgbClr val="00A99D"/>
          </a:solidFill>
          <a:ln/>
        </p:spPr>
        <p:txBody>
          <a:bodyPr/>
          <a:lstStyle/>
          <a:p>
            <a:endParaRPr lang="en-IN"/>
          </a:p>
        </p:txBody>
      </p:sp>
      <p:sp>
        <p:nvSpPr>
          <p:cNvPr id="21" name="Text 18"/>
          <p:cNvSpPr/>
          <p:nvPr/>
        </p:nvSpPr>
        <p:spPr>
          <a:xfrm>
            <a:off x="6519672" y="4800600"/>
            <a:ext cx="5029200" cy="320040"/>
          </a:xfrm>
          <a:prstGeom prst="rect">
            <a:avLst/>
          </a:prstGeom>
          <a:noFill/>
          <a:ln/>
        </p:spPr>
        <p:txBody>
          <a:bodyPr wrap="square" rtlCol="0" anchor="ctr"/>
          <a:lstStyle/>
          <a:p>
            <a:pPr marL="0" indent="0">
              <a:buNone/>
            </a:pPr>
            <a:r>
              <a:rPr lang="en-US" sz="1400" dirty="0">
                <a:solidFill>
                  <a:srgbClr val="3A3A3A"/>
                </a:solidFill>
                <a:latin typeface="Arial" pitchFamily="34" charset="0"/>
                <a:ea typeface="Arial" pitchFamily="34" charset="-122"/>
                <a:cs typeface="Arial" pitchFamily="34" charset="-120"/>
              </a:rPr>
              <a:t>Digital Mining Technologies</a:t>
            </a:r>
            <a:endParaRPr lang="en-US" sz="1400" dirty="0"/>
          </a:p>
        </p:txBody>
      </p:sp>
      <p:sp>
        <p:nvSpPr>
          <p:cNvPr id="23" name="TextBox 8">
            <a:extLst>
              <a:ext uri="{FF2B5EF4-FFF2-40B4-BE49-F238E27FC236}">
                <a16:creationId xmlns:a16="http://schemas.microsoft.com/office/drawing/2014/main" id="{62324DCB-602A-6E62-97EC-AA7111B0349D}"/>
              </a:ext>
            </a:extLst>
          </p:cNvPr>
          <p:cNvSpPr txBox="1"/>
          <p:nvPr/>
        </p:nvSpPr>
        <p:spPr>
          <a:xfrm>
            <a:off x="701753" y="662242"/>
            <a:ext cx="5579778" cy="423193"/>
          </a:xfrm>
          <a:prstGeom prst="rect">
            <a:avLst/>
          </a:prstGeom>
        </p:spPr>
        <p:txBody>
          <a:bodyPr wrap="square" lIns="0" tIns="0" rIns="0" bIns="0" rtlCol="0" anchor="t">
            <a:spAutoFit/>
          </a:bodyPr>
          <a:lstStyle/>
          <a:p>
            <a:pPr>
              <a:lnSpc>
                <a:spcPts val="3312"/>
              </a:lnSpc>
            </a:pPr>
            <a:r>
              <a:rPr lang="en-US" sz="3067" dirty="0">
                <a:solidFill>
                  <a:srgbClr val="0070C0"/>
                </a:solidFill>
                <a:latin typeface="AyrSaturday Night Interlock Regular"/>
                <a:ea typeface="AyrSaturday Night Interlock Regular"/>
                <a:cs typeface="AyrSaturday Night Interlock Regular"/>
                <a:sym typeface="AyrSaturday Night Interlock Regular"/>
              </a:rPr>
              <a:t>Presenter Profile</a:t>
            </a:r>
          </a:p>
        </p:txBody>
      </p:sp>
      <p:grpSp>
        <p:nvGrpSpPr>
          <p:cNvPr id="26" name="Group 5">
            <a:extLst>
              <a:ext uri="{FF2B5EF4-FFF2-40B4-BE49-F238E27FC236}">
                <a16:creationId xmlns:a16="http://schemas.microsoft.com/office/drawing/2014/main" id="{0EF18EDA-8F0D-0009-774D-B6F914CCF155}"/>
              </a:ext>
            </a:extLst>
          </p:cNvPr>
          <p:cNvGrpSpPr/>
          <p:nvPr/>
        </p:nvGrpSpPr>
        <p:grpSpPr>
          <a:xfrm>
            <a:off x="701753" y="1071521"/>
            <a:ext cx="3305704" cy="45719"/>
            <a:chOff x="0" y="0"/>
            <a:chExt cx="14068412" cy="121920"/>
          </a:xfrm>
        </p:grpSpPr>
        <p:sp>
          <p:nvSpPr>
            <p:cNvPr id="27" name="Freeform 6" descr="D:\Corp Comm Department Work 2015\Brand Adani 2012\adani_gradient_master.jpg">
              <a:extLst>
                <a:ext uri="{FF2B5EF4-FFF2-40B4-BE49-F238E27FC236}">
                  <a16:creationId xmlns:a16="http://schemas.microsoft.com/office/drawing/2014/main" id="{BC4088F1-582B-CBAA-D819-F93E3B50E463}"/>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3"/>
              <a:stretch>
                <a:fillRect b="-5072"/>
              </a:stretch>
            </a:blipFill>
          </p:spPr>
          <p:txBody>
            <a:bodyPr/>
            <a:lstStyle/>
            <a:p>
              <a:endParaRPr lang="en-IN"/>
            </a:p>
          </p:txBody>
        </p:sp>
      </p:grpSp>
      <p:grpSp>
        <p:nvGrpSpPr>
          <p:cNvPr id="28" name="Group 3">
            <a:extLst>
              <a:ext uri="{FF2B5EF4-FFF2-40B4-BE49-F238E27FC236}">
                <a16:creationId xmlns:a16="http://schemas.microsoft.com/office/drawing/2014/main" id="{5F0843A7-DC7E-73DF-B769-287D06A71480}"/>
              </a:ext>
            </a:extLst>
          </p:cNvPr>
          <p:cNvGrpSpPr/>
          <p:nvPr/>
        </p:nvGrpSpPr>
        <p:grpSpPr>
          <a:xfrm>
            <a:off x="10056527" y="6189371"/>
            <a:ext cx="2136000" cy="669944"/>
            <a:chOff x="0" y="0"/>
            <a:chExt cx="4272001" cy="1339888"/>
          </a:xfrm>
        </p:grpSpPr>
        <p:sp>
          <p:nvSpPr>
            <p:cNvPr id="29" name="Freeform 4">
              <a:extLst>
                <a:ext uri="{FF2B5EF4-FFF2-40B4-BE49-F238E27FC236}">
                  <a16:creationId xmlns:a16="http://schemas.microsoft.com/office/drawing/2014/main" id="{262A1E8C-BAEF-073F-531C-73AB3DA746CB}"/>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4"/>
              <a:stretch>
                <a:fillRect l="-470838" t="-924095" b="-2"/>
              </a:stretch>
            </a:blipFill>
          </p:spPr>
          <p:txBody>
            <a:bodyPr/>
            <a:lstStyle/>
            <a:p>
              <a:endParaRPr lang="en-IN"/>
            </a:p>
          </p:txBody>
        </p:sp>
      </p:grpSp>
    </p:spTree>
    <p:extLst>
      <p:ext uri="{BB962C8B-B14F-4D97-AF65-F5344CB8AC3E}">
        <p14:creationId xmlns:p14="http://schemas.microsoft.com/office/powerpoint/2010/main" val="1311797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685800" y="522599"/>
            <a:ext cx="3840480" cy="548640"/>
          </a:xfrm>
          <a:prstGeom prst="rect">
            <a:avLst/>
          </a:prstGeom>
          <a:solidFill>
            <a:srgbClr val="FFFFFF"/>
          </a:solidFill>
          <a:ln/>
        </p:spPr>
      </p:sp>
      <p:sp>
        <p:nvSpPr>
          <p:cNvPr id="4" name="Text 1"/>
          <p:cNvSpPr/>
          <p:nvPr/>
        </p:nvSpPr>
        <p:spPr>
          <a:xfrm>
            <a:off x="685800" y="464885"/>
            <a:ext cx="5486400" cy="502920"/>
          </a:xfrm>
          <a:prstGeom prst="rect">
            <a:avLst/>
          </a:prstGeom>
          <a:noFill/>
          <a:ln/>
        </p:spPr>
        <p:txBody>
          <a:bodyPr wrap="square" rtlCol="0" anchor="ctr"/>
          <a:lstStyle/>
          <a:p>
            <a:r>
              <a:rPr lang="en-US" sz="2600" dirty="0">
                <a:solidFill>
                  <a:srgbClr val="0070C0"/>
                </a:solidFill>
                <a:latin typeface="Arial" pitchFamily="34" charset="0"/>
                <a:ea typeface="Arial" pitchFamily="34" charset="-122"/>
                <a:cs typeface="Arial" pitchFamily="34" charset="-120"/>
              </a:rPr>
              <a:t>Business Context</a:t>
            </a:r>
            <a:endParaRPr lang="en-US" sz="2600" dirty="0"/>
          </a:p>
        </p:txBody>
      </p:sp>
      <p:sp>
        <p:nvSpPr>
          <p:cNvPr id="5" name="Text 2"/>
          <p:cNvSpPr/>
          <p:nvPr/>
        </p:nvSpPr>
        <p:spPr>
          <a:xfrm>
            <a:off x="502920" y="1298448"/>
            <a:ext cx="5486400" cy="201168"/>
          </a:xfrm>
          <a:prstGeom prst="rect">
            <a:avLst/>
          </a:prstGeom>
          <a:noFill/>
          <a:ln/>
        </p:spPr>
        <p:txBody>
          <a:bodyPr wrap="square" rtlCol="0" anchor="ctr"/>
          <a:lstStyle/>
          <a:p>
            <a:r>
              <a:rPr lang="en-US" sz="1050" b="1" kern="0" spc="110" dirty="0">
                <a:solidFill>
                  <a:srgbClr val="6B6B6B"/>
                </a:solidFill>
                <a:latin typeface="Arial" pitchFamily="34" charset="0"/>
                <a:ea typeface="Arial" pitchFamily="34" charset="-122"/>
                <a:cs typeface="Arial" pitchFamily="34" charset="-120"/>
              </a:rPr>
              <a:t>MINE SNAPSHOT</a:t>
            </a:r>
            <a:endParaRPr lang="en-US" sz="1050" dirty="0"/>
          </a:p>
        </p:txBody>
      </p:sp>
      <p:sp>
        <p:nvSpPr>
          <p:cNvPr id="6" name="Shape 3"/>
          <p:cNvSpPr/>
          <p:nvPr/>
        </p:nvSpPr>
        <p:spPr>
          <a:xfrm>
            <a:off x="502920" y="1554480"/>
            <a:ext cx="2624328" cy="22860"/>
          </a:xfrm>
          <a:prstGeom prst="rect">
            <a:avLst/>
          </a:prstGeom>
          <a:solidFill>
            <a:srgbClr val="00A99D"/>
          </a:solidFill>
          <a:ln/>
        </p:spPr>
      </p:sp>
      <p:sp>
        <p:nvSpPr>
          <p:cNvPr id="7" name="Text 4"/>
          <p:cNvSpPr/>
          <p:nvPr/>
        </p:nvSpPr>
        <p:spPr>
          <a:xfrm>
            <a:off x="502920" y="1609344"/>
            <a:ext cx="2624328" cy="237744"/>
          </a:xfrm>
          <a:prstGeom prst="rect">
            <a:avLst/>
          </a:prstGeom>
          <a:noFill/>
          <a:ln/>
        </p:spPr>
        <p:txBody>
          <a:bodyPr wrap="square" rtlCol="0" anchor="ctr"/>
          <a:lstStyle/>
          <a:p>
            <a:r>
              <a:rPr lang="en-US" sz="1300" b="1" dirty="0">
                <a:solidFill>
                  <a:srgbClr val="12233F"/>
                </a:solidFill>
                <a:latin typeface="Arial" pitchFamily="34" charset="0"/>
                <a:ea typeface="Arial" pitchFamily="34" charset="-122"/>
                <a:cs typeface="Arial" pitchFamily="34" charset="-120"/>
              </a:rPr>
              <a:t>Talabira II &amp; III OCP</a:t>
            </a:r>
            <a:endParaRPr lang="en-US" sz="1300" dirty="0"/>
          </a:p>
        </p:txBody>
      </p:sp>
      <p:sp>
        <p:nvSpPr>
          <p:cNvPr id="8" name="Text 5"/>
          <p:cNvSpPr/>
          <p:nvPr/>
        </p:nvSpPr>
        <p:spPr>
          <a:xfrm>
            <a:off x="502920" y="1847088"/>
            <a:ext cx="2624328" cy="201168"/>
          </a:xfrm>
          <a:prstGeom prst="rect">
            <a:avLst/>
          </a:prstGeom>
          <a:noFill/>
          <a:ln/>
        </p:spPr>
        <p:txBody>
          <a:bodyPr wrap="square" rtlCol="0" anchor="ctr"/>
          <a:lstStyle/>
          <a:p>
            <a:r>
              <a:rPr lang="en-US" sz="950" dirty="0">
                <a:solidFill>
                  <a:srgbClr val="6B6B6B"/>
                </a:solidFill>
                <a:latin typeface="Arial" pitchFamily="34" charset="0"/>
                <a:ea typeface="Arial" pitchFamily="34" charset="-122"/>
                <a:cs typeface="Arial" pitchFamily="34" charset="-120"/>
              </a:rPr>
              <a:t>Adani Natural Resources (MDO)</a:t>
            </a:r>
            <a:endParaRPr lang="en-US" sz="950" dirty="0"/>
          </a:p>
        </p:txBody>
      </p:sp>
      <p:sp>
        <p:nvSpPr>
          <p:cNvPr id="9" name="Shape 6"/>
          <p:cNvSpPr/>
          <p:nvPr/>
        </p:nvSpPr>
        <p:spPr>
          <a:xfrm>
            <a:off x="3246120" y="1554480"/>
            <a:ext cx="2624328" cy="22860"/>
          </a:xfrm>
          <a:prstGeom prst="rect">
            <a:avLst/>
          </a:prstGeom>
          <a:solidFill>
            <a:srgbClr val="00A99D"/>
          </a:solidFill>
          <a:ln/>
        </p:spPr>
      </p:sp>
      <p:sp>
        <p:nvSpPr>
          <p:cNvPr id="10" name="Text 7"/>
          <p:cNvSpPr/>
          <p:nvPr/>
        </p:nvSpPr>
        <p:spPr>
          <a:xfrm>
            <a:off x="3246120" y="1609344"/>
            <a:ext cx="2624328" cy="237744"/>
          </a:xfrm>
          <a:prstGeom prst="rect">
            <a:avLst/>
          </a:prstGeom>
          <a:noFill/>
          <a:ln/>
        </p:spPr>
        <p:txBody>
          <a:bodyPr wrap="square" rtlCol="0" anchor="ctr"/>
          <a:lstStyle/>
          <a:p>
            <a:r>
              <a:rPr lang="en-US" sz="1300" b="1" dirty="0">
                <a:solidFill>
                  <a:srgbClr val="12233F"/>
                </a:solidFill>
                <a:latin typeface="Arial" pitchFamily="34" charset="0"/>
                <a:ea typeface="Arial" pitchFamily="34" charset="-122"/>
                <a:cs typeface="Arial" pitchFamily="34" charset="-120"/>
              </a:rPr>
              <a:t>20 MTPA</a:t>
            </a:r>
            <a:endParaRPr lang="en-US" sz="1300" dirty="0"/>
          </a:p>
        </p:txBody>
      </p:sp>
      <p:sp>
        <p:nvSpPr>
          <p:cNvPr id="11" name="Text 8"/>
          <p:cNvSpPr/>
          <p:nvPr/>
        </p:nvSpPr>
        <p:spPr>
          <a:xfrm>
            <a:off x="3246120" y="1847088"/>
            <a:ext cx="2624328" cy="201168"/>
          </a:xfrm>
          <a:prstGeom prst="rect">
            <a:avLst/>
          </a:prstGeom>
          <a:noFill/>
          <a:ln/>
        </p:spPr>
        <p:txBody>
          <a:bodyPr wrap="square" rtlCol="0" anchor="ctr"/>
          <a:lstStyle/>
          <a:p>
            <a:r>
              <a:rPr lang="en-US" sz="950" dirty="0">
                <a:solidFill>
                  <a:srgbClr val="6B6B6B"/>
                </a:solidFill>
                <a:latin typeface="Arial" pitchFamily="34" charset="0"/>
                <a:ea typeface="Arial" pitchFamily="34" charset="-122"/>
                <a:cs typeface="Arial" pitchFamily="34" charset="-120"/>
              </a:rPr>
              <a:t>Normative Capacity</a:t>
            </a:r>
            <a:endParaRPr lang="en-US" sz="950" dirty="0"/>
          </a:p>
        </p:txBody>
      </p:sp>
      <p:sp>
        <p:nvSpPr>
          <p:cNvPr id="12" name="Shape 9"/>
          <p:cNvSpPr/>
          <p:nvPr/>
        </p:nvSpPr>
        <p:spPr>
          <a:xfrm>
            <a:off x="5989320" y="1554480"/>
            <a:ext cx="2624328" cy="22860"/>
          </a:xfrm>
          <a:prstGeom prst="rect">
            <a:avLst/>
          </a:prstGeom>
          <a:solidFill>
            <a:srgbClr val="00A99D"/>
          </a:solidFill>
          <a:ln/>
        </p:spPr>
      </p:sp>
      <p:sp>
        <p:nvSpPr>
          <p:cNvPr id="13" name="Text 10"/>
          <p:cNvSpPr/>
          <p:nvPr/>
        </p:nvSpPr>
        <p:spPr>
          <a:xfrm>
            <a:off x="5989320" y="1609344"/>
            <a:ext cx="2624328" cy="237744"/>
          </a:xfrm>
          <a:prstGeom prst="rect">
            <a:avLst/>
          </a:prstGeom>
          <a:noFill/>
          <a:ln/>
        </p:spPr>
        <p:txBody>
          <a:bodyPr wrap="square" rtlCol="0" anchor="ctr"/>
          <a:lstStyle/>
          <a:p>
            <a:r>
              <a:rPr lang="en-US" sz="1300" b="1" dirty="0">
                <a:solidFill>
                  <a:srgbClr val="12233F"/>
                </a:solidFill>
                <a:latin typeface="Arial" pitchFamily="34" charset="0"/>
                <a:ea typeface="Arial" pitchFamily="34" charset="-122"/>
                <a:cs typeface="Arial" pitchFamily="34" charset="-120"/>
              </a:rPr>
              <a:t>199 HEMM</a:t>
            </a:r>
            <a:endParaRPr lang="en-US" sz="1300" dirty="0"/>
          </a:p>
        </p:txBody>
      </p:sp>
      <p:sp>
        <p:nvSpPr>
          <p:cNvPr id="14" name="Text 11"/>
          <p:cNvSpPr/>
          <p:nvPr/>
        </p:nvSpPr>
        <p:spPr>
          <a:xfrm>
            <a:off x="5989320" y="1847088"/>
            <a:ext cx="2624328" cy="201168"/>
          </a:xfrm>
          <a:prstGeom prst="rect">
            <a:avLst/>
          </a:prstGeom>
          <a:noFill/>
          <a:ln/>
        </p:spPr>
        <p:txBody>
          <a:bodyPr wrap="square" rtlCol="0" anchor="ctr"/>
          <a:lstStyle/>
          <a:p>
            <a:r>
              <a:rPr lang="en-US" sz="950" dirty="0">
                <a:solidFill>
                  <a:srgbClr val="6B6B6B"/>
                </a:solidFill>
                <a:latin typeface="Arial" pitchFamily="34" charset="0"/>
                <a:ea typeface="Arial" pitchFamily="34" charset="-122"/>
                <a:cs typeface="Arial" pitchFamily="34" charset="-120"/>
              </a:rPr>
              <a:t>GPS-Enabled Fleet</a:t>
            </a:r>
            <a:endParaRPr lang="en-US" sz="950" dirty="0"/>
          </a:p>
        </p:txBody>
      </p:sp>
      <p:sp>
        <p:nvSpPr>
          <p:cNvPr id="15" name="Shape 12"/>
          <p:cNvSpPr/>
          <p:nvPr/>
        </p:nvSpPr>
        <p:spPr>
          <a:xfrm>
            <a:off x="8732520" y="1554480"/>
            <a:ext cx="2624328" cy="22860"/>
          </a:xfrm>
          <a:prstGeom prst="rect">
            <a:avLst/>
          </a:prstGeom>
          <a:solidFill>
            <a:srgbClr val="00A99D"/>
          </a:solidFill>
          <a:ln/>
        </p:spPr>
      </p:sp>
      <p:sp>
        <p:nvSpPr>
          <p:cNvPr id="16" name="Text 13"/>
          <p:cNvSpPr/>
          <p:nvPr/>
        </p:nvSpPr>
        <p:spPr>
          <a:xfrm>
            <a:off x="8732520" y="1609344"/>
            <a:ext cx="2624328" cy="237744"/>
          </a:xfrm>
          <a:prstGeom prst="rect">
            <a:avLst/>
          </a:prstGeom>
          <a:noFill/>
          <a:ln/>
        </p:spPr>
        <p:txBody>
          <a:bodyPr wrap="square" rtlCol="0" anchor="ctr"/>
          <a:lstStyle/>
          <a:p>
            <a:r>
              <a:rPr lang="en-US" sz="1300" b="1" dirty="0">
                <a:solidFill>
                  <a:srgbClr val="12233F"/>
                </a:solidFill>
                <a:latin typeface="Arial" pitchFamily="34" charset="0"/>
                <a:ea typeface="Arial" pitchFamily="34" charset="-122"/>
                <a:cs typeface="Arial" pitchFamily="34" charset="-120"/>
              </a:rPr>
              <a:t>Mine Operations Dept.</a:t>
            </a:r>
            <a:endParaRPr lang="en-US" sz="1300" dirty="0"/>
          </a:p>
        </p:txBody>
      </p:sp>
      <p:sp>
        <p:nvSpPr>
          <p:cNvPr id="17" name="Text 14"/>
          <p:cNvSpPr/>
          <p:nvPr/>
        </p:nvSpPr>
        <p:spPr>
          <a:xfrm>
            <a:off x="8732520" y="1847088"/>
            <a:ext cx="2624328" cy="201168"/>
          </a:xfrm>
          <a:prstGeom prst="rect">
            <a:avLst/>
          </a:prstGeom>
          <a:noFill/>
          <a:ln/>
        </p:spPr>
        <p:txBody>
          <a:bodyPr wrap="square" rtlCol="0" anchor="ctr"/>
          <a:lstStyle/>
          <a:p>
            <a:r>
              <a:rPr lang="en-US" sz="950" dirty="0">
                <a:solidFill>
                  <a:srgbClr val="6B6B6B"/>
                </a:solidFill>
                <a:latin typeface="Arial" pitchFamily="34" charset="0"/>
                <a:ea typeface="Arial" pitchFamily="34" charset="-122"/>
                <a:cs typeface="Arial" pitchFamily="34" charset="-120"/>
              </a:rPr>
              <a:t>FMS &amp; FUMS Monitored</a:t>
            </a:r>
            <a:endParaRPr lang="en-US" sz="950" dirty="0"/>
          </a:p>
        </p:txBody>
      </p:sp>
      <p:sp>
        <p:nvSpPr>
          <p:cNvPr id="18" name="Shape 15"/>
          <p:cNvSpPr/>
          <p:nvPr/>
        </p:nvSpPr>
        <p:spPr>
          <a:xfrm>
            <a:off x="502920" y="2176273"/>
            <a:ext cx="11201400" cy="7315"/>
          </a:xfrm>
          <a:prstGeom prst="rect">
            <a:avLst/>
          </a:prstGeom>
          <a:solidFill>
            <a:srgbClr val="D9D9D9"/>
          </a:solidFill>
          <a:ln/>
        </p:spPr>
      </p:sp>
      <p:sp>
        <p:nvSpPr>
          <p:cNvPr id="19" name="Text 16"/>
          <p:cNvSpPr/>
          <p:nvPr/>
        </p:nvSpPr>
        <p:spPr>
          <a:xfrm>
            <a:off x="502920" y="2304288"/>
            <a:ext cx="7315200" cy="201168"/>
          </a:xfrm>
          <a:prstGeom prst="rect">
            <a:avLst/>
          </a:prstGeom>
          <a:noFill/>
          <a:ln/>
        </p:spPr>
        <p:txBody>
          <a:bodyPr wrap="square" rtlCol="0" anchor="ctr"/>
          <a:lstStyle/>
          <a:p>
            <a:r>
              <a:rPr lang="en-US" sz="1000" b="1" kern="0" spc="110" dirty="0">
                <a:solidFill>
                  <a:srgbClr val="6B6B6B"/>
                </a:solidFill>
                <a:latin typeface="Arial" pitchFamily="34" charset="0"/>
                <a:ea typeface="Arial" pitchFamily="34" charset="-122"/>
                <a:cs typeface="Arial" pitchFamily="34" charset="-120"/>
              </a:rPr>
              <a:t>DIGITAL MONITORING INFRASTRUCTURE</a:t>
            </a:r>
            <a:endParaRPr lang="en-US" sz="1000" dirty="0"/>
          </a:p>
        </p:txBody>
      </p:sp>
      <p:sp>
        <p:nvSpPr>
          <p:cNvPr id="20" name="Shape 17"/>
          <p:cNvSpPr/>
          <p:nvPr/>
        </p:nvSpPr>
        <p:spPr>
          <a:xfrm>
            <a:off x="502920" y="2560320"/>
            <a:ext cx="5468112" cy="1298448"/>
          </a:xfrm>
          <a:prstGeom prst="rect">
            <a:avLst/>
          </a:prstGeom>
          <a:solidFill>
            <a:srgbClr val="F7F7F7"/>
          </a:solidFill>
          <a:ln/>
        </p:spPr>
      </p:sp>
      <p:sp>
        <p:nvSpPr>
          <p:cNvPr id="22" name="Text 19"/>
          <p:cNvSpPr/>
          <p:nvPr/>
        </p:nvSpPr>
        <p:spPr>
          <a:xfrm>
            <a:off x="685800" y="2651760"/>
            <a:ext cx="5102352" cy="256032"/>
          </a:xfrm>
          <a:prstGeom prst="rect">
            <a:avLst/>
          </a:prstGeom>
          <a:noFill/>
          <a:ln/>
        </p:spPr>
        <p:txBody>
          <a:bodyPr wrap="square" rtlCol="0" anchor="ctr"/>
          <a:lstStyle/>
          <a:p>
            <a:r>
              <a:rPr lang="en-US" sz="1350" b="1" dirty="0">
                <a:solidFill>
                  <a:srgbClr val="12233F"/>
                </a:solidFill>
                <a:latin typeface="Arial" pitchFamily="34" charset="0"/>
                <a:ea typeface="Arial" pitchFamily="34" charset="-122"/>
                <a:cs typeface="Arial" pitchFamily="34" charset="-120"/>
              </a:rPr>
              <a:t>Fleet Management System (FMS)</a:t>
            </a:r>
            <a:endParaRPr lang="en-US" sz="1350" dirty="0"/>
          </a:p>
        </p:txBody>
      </p:sp>
      <p:sp>
        <p:nvSpPr>
          <p:cNvPr id="23" name="Text 20"/>
          <p:cNvSpPr/>
          <p:nvPr/>
        </p:nvSpPr>
        <p:spPr>
          <a:xfrm>
            <a:off x="685800" y="2926080"/>
            <a:ext cx="5102352" cy="384048"/>
          </a:xfrm>
          <a:prstGeom prst="rect">
            <a:avLst/>
          </a:prstGeom>
          <a:noFill/>
          <a:ln/>
        </p:spPr>
        <p:txBody>
          <a:bodyPr wrap="square" rtlCol="0" anchor="ctr"/>
          <a:lstStyle/>
          <a:p>
            <a:pPr>
              <a:lnSpc>
                <a:spcPct val="120000"/>
              </a:lnSpc>
            </a:pPr>
            <a:r>
              <a:rPr lang="en-US" sz="1050" dirty="0">
                <a:solidFill>
                  <a:srgbClr val="3A3A3A"/>
                </a:solidFill>
                <a:latin typeface="Arial" pitchFamily="34" charset="0"/>
                <a:ea typeface="Arial" pitchFamily="34" charset="-122"/>
                <a:cs typeface="Arial" pitchFamily="34" charset="-120"/>
              </a:rPr>
              <a:t>Real-time monitoring of fleet operations using GPS and telematics.</a:t>
            </a:r>
            <a:endParaRPr lang="en-US" sz="1050" dirty="0"/>
          </a:p>
        </p:txBody>
      </p:sp>
      <p:sp>
        <p:nvSpPr>
          <p:cNvPr id="24" name="Text 21"/>
          <p:cNvSpPr/>
          <p:nvPr/>
        </p:nvSpPr>
        <p:spPr>
          <a:xfrm>
            <a:off x="685800" y="3401568"/>
            <a:ext cx="5102352" cy="365760"/>
          </a:xfrm>
          <a:prstGeom prst="rect">
            <a:avLst/>
          </a:prstGeom>
          <a:noFill/>
          <a:ln/>
        </p:spPr>
        <p:txBody>
          <a:bodyPr wrap="square" rtlCol="0" anchor="ctr"/>
          <a:lstStyle/>
          <a:p>
            <a:pPr>
              <a:lnSpc>
                <a:spcPct val="130000"/>
              </a:lnSpc>
            </a:pPr>
            <a:r>
              <a:rPr lang="en-US" sz="950" b="1" dirty="0">
                <a:solidFill>
                  <a:srgbClr val="12233F"/>
                </a:solidFill>
                <a:latin typeface="Arial" pitchFamily="34" charset="0"/>
                <a:ea typeface="Arial" pitchFamily="34" charset="-122"/>
                <a:cs typeface="Arial" pitchFamily="34" charset="-120"/>
              </a:rPr>
              <a:t>Equipment Tracking     •     Trip Monitoring     •     Production Monitoring     •     Equipment Utilization</a:t>
            </a:r>
            <a:endParaRPr lang="en-US" sz="950" dirty="0"/>
          </a:p>
        </p:txBody>
      </p:sp>
      <p:sp>
        <p:nvSpPr>
          <p:cNvPr id="25" name="Shape 22"/>
          <p:cNvSpPr/>
          <p:nvPr/>
        </p:nvSpPr>
        <p:spPr>
          <a:xfrm>
            <a:off x="6236208" y="2560320"/>
            <a:ext cx="5468112" cy="1298448"/>
          </a:xfrm>
          <a:prstGeom prst="rect">
            <a:avLst/>
          </a:prstGeom>
          <a:solidFill>
            <a:srgbClr val="F7F7F7"/>
          </a:solidFill>
          <a:ln/>
        </p:spPr>
      </p:sp>
      <p:sp>
        <p:nvSpPr>
          <p:cNvPr id="27" name="Text 24"/>
          <p:cNvSpPr/>
          <p:nvPr/>
        </p:nvSpPr>
        <p:spPr>
          <a:xfrm>
            <a:off x="6419088" y="2651760"/>
            <a:ext cx="5102352" cy="256032"/>
          </a:xfrm>
          <a:prstGeom prst="rect">
            <a:avLst/>
          </a:prstGeom>
          <a:noFill/>
          <a:ln/>
        </p:spPr>
        <p:txBody>
          <a:bodyPr wrap="square" rtlCol="0" anchor="ctr"/>
          <a:lstStyle/>
          <a:p>
            <a:r>
              <a:rPr lang="en-US" sz="1350" b="1" dirty="0">
                <a:solidFill>
                  <a:srgbClr val="12233F"/>
                </a:solidFill>
                <a:latin typeface="Arial" pitchFamily="34" charset="0"/>
                <a:ea typeface="Arial" pitchFamily="34" charset="-122"/>
                <a:cs typeface="Arial" pitchFamily="34" charset="-120"/>
              </a:rPr>
              <a:t>Fuel Management System (FUMS)</a:t>
            </a:r>
            <a:endParaRPr lang="en-US" sz="1350" dirty="0"/>
          </a:p>
        </p:txBody>
      </p:sp>
      <p:sp>
        <p:nvSpPr>
          <p:cNvPr id="28" name="Text 25"/>
          <p:cNvSpPr/>
          <p:nvPr/>
        </p:nvSpPr>
        <p:spPr>
          <a:xfrm>
            <a:off x="6419088" y="2926080"/>
            <a:ext cx="5102352" cy="384048"/>
          </a:xfrm>
          <a:prstGeom prst="rect">
            <a:avLst/>
          </a:prstGeom>
          <a:noFill/>
          <a:ln/>
        </p:spPr>
        <p:txBody>
          <a:bodyPr wrap="square" rtlCol="0" anchor="ctr"/>
          <a:lstStyle/>
          <a:p>
            <a:pPr>
              <a:lnSpc>
                <a:spcPct val="120000"/>
              </a:lnSpc>
            </a:pPr>
            <a:r>
              <a:rPr lang="en-US" sz="1050" dirty="0">
                <a:solidFill>
                  <a:srgbClr val="3A3A3A"/>
                </a:solidFill>
                <a:latin typeface="Arial" pitchFamily="34" charset="0"/>
                <a:ea typeface="Arial" pitchFamily="34" charset="-122"/>
                <a:cs typeface="Arial" pitchFamily="34" charset="-120"/>
              </a:rPr>
              <a:t>Automated monitoring and management of fuel dispensing.</a:t>
            </a:r>
            <a:endParaRPr lang="en-US" sz="1050" dirty="0"/>
          </a:p>
        </p:txBody>
      </p:sp>
      <p:sp>
        <p:nvSpPr>
          <p:cNvPr id="29" name="Text 26"/>
          <p:cNvSpPr/>
          <p:nvPr/>
        </p:nvSpPr>
        <p:spPr>
          <a:xfrm>
            <a:off x="6419088" y="3401568"/>
            <a:ext cx="5102352" cy="365760"/>
          </a:xfrm>
          <a:prstGeom prst="rect">
            <a:avLst/>
          </a:prstGeom>
          <a:noFill/>
          <a:ln/>
        </p:spPr>
        <p:txBody>
          <a:bodyPr wrap="square" rtlCol="0" anchor="ctr"/>
          <a:lstStyle/>
          <a:p>
            <a:pPr>
              <a:lnSpc>
                <a:spcPct val="130000"/>
              </a:lnSpc>
            </a:pPr>
            <a:r>
              <a:rPr lang="en-US" sz="950" b="1" dirty="0">
                <a:solidFill>
                  <a:srgbClr val="12233F"/>
                </a:solidFill>
                <a:latin typeface="Arial" pitchFamily="34" charset="0"/>
                <a:ea typeface="Arial" pitchFamily="34" charset="-122"/>
                <a:cs typeface="Arial" pitchFamily="34" charset="-120"/>
              </a:rPr>
              <a:t>Fuel Dispensing     •     Fuel Consumption     •     Fuel Inventory     •     Fuel Efficiency</a:t>
            </a:r>
            <a:endParaRPr lang="en-US" sz="950" dirty="0"/>
          </a:p>
        </p:txBody>
      </p:sp>
      <p:sp>
        <p:nvSpPr>
          <p:cNvPr id="30" name="Shape 27"/>
          <p:cNvSpPr/>
          <p:nvPr/>
        </p:nvSpPr>
        <p:spPr>
          <a:xfrm>
            <a:off x="502920" y="4005073"/>
            <a:ext cx="11201400" cy="7315"/>
          </a:xfrm>
          <a:prstGeom prst="rect">
            <a:avLst/>
          </a:prstGeom>
          <a:solidFill>
            <a:srgbClr val="D9D9D9"/>
          </a:solidFill>
          <a:ln/>
        </p:spPr>
      </p:sp>
      <p:sp>
        <p:nvSpPr>
          <p:cNvPr id="31" name="Text 28"/>
          <p:cNvSpPr/>
          <p:nvPr/>
        </p:nvSpPr>
        <p:spPr>
          <a:xfrm>
            <a:off x="489005" y="4148595"/>
            <a:ext cx="7315200" cy="201168"/>
          </a:xfrm>
          <a:prstGeom prst="rect">
            <a:avLst/>
          </a:prstGeom>
          <a:noFill/>
          <a:ln/>
        </p:spPr>
        <p:txBody>
          <a:bodyPr wrap="square" rtlCol="0" anchor="ctr"/>
          <a:lstStyle/>
          <a:p>
            <a:r>
              <a:rPr lang="en-US" sz="1100" b="1" kern="0" spc="110" dirty="0">
                <a:solidFill>
                  <a:srgbClr val="6B6B6B"/>
                </a:solidFill>
                <a:latin typeface="Arial" pitchFamily="34" charset="0"/>
                <a:ea typeface="Arial" pitchFamily="34" charset="-122"/>
                <a:cs typeface="Arial" pitchFamily="34" charset="-120"/>
              </a:rPr>
              <a:t>Operational Capabilities</a:t>
            </a:r>
            <a:endParaRPr lang="en-US" sz="1100" dirty="0"/>
          </a:p>
        </p:txBody>
      </p:sp>
      <p:sp>
        <p:nvSpPr>
          <p:cNvPr id="32" name="Shape 29"/>
          <p:cNvSpPr/>
          <p:nvPr/>
        </p:nvSpPr>
        <p:spPr>
          <a:xfrm>
            <a:off x="502920" y="4389120"/>
            <a:ext cx="2112264" cy="18288"/>
          </a:xfrm>
          <a:prstGeom prst="rect">
            <a:avLst/>
          </a:prstGeom>
          <a:solidFill>
            <a:srgbClr val="12233F"/>
          </a:solidFill>
          <a:ln/>
        </p:spPr>
      </p:sp>
      <p:sp>
        <p:nvSpPr>
          <p:cNvPr id="33" name="Text 30"/>
          <p:cNvSpPr/>
          <p:nvPr/>
        </p:nvSpPr>
        <p:spPr>
          <a:xfrm>
            <a:off x="502920" y="4443984"/>
            <a:ext cx="2112264" cy="256032"/>
          </a:xfrm>
          <a:prstGeom prst="rect">
            <a:avLst/>
          </a:prstGeom>
          <a:noFill/>
          <a:ln/>
        </p:spPr>
        <p:txBody>
          <a:bodyPr wrap="square" rtlCol="0" anchor="ctr"/>
          <a:lstStyle/>
          <a:p>
            <a:pPr>
              <a:lnSpc>
                <a:spcPct val="105000"/>
              </a:lnSpc>
            </a:pPr>
            <a:r>
              <a:rPr lang="en-US" sz="1150" b="1" dirty="0">
                <a:solidFill>
                  <a:srgbClr val="12233F"/>
                </a:solidFill>
                <a:latin typeface="Arial" pitchFamily="34" charset="0"/>
                <a:ea typeface="Arial" pitchFamily="34" charset="-122"/>
                <a:cs typeface="Arial" pitchFamily="34" charset="-120"/>
              </a:rPr>
              <a:t>Real-Time Fleet Visibility</a:t>
            </a:r>
            <a:endParaRPr lang="en-US" sz="1150" dirty="0"/>
          </a:p>
        </p:txBody>
      </p:sp>
      <p:sp>
        <p:nvSpPr>
          <p:cNvPr id="34" name="Text 31"/>
          <p:cNvSpPr/>
          <p:nvPr/>
        </p:nvSpPr>
        <p:spPr>
          <a:xfrm>
            <a:off x="502920" y="4718304"/>
            <a:ext cx="2112264" cy="457200"/>
          </a:xfrm>
          <a:prstGeom prst="rect">
            <a:avLst/>
          </a:prstGeom>
          <a:noFill/>
          <a:ln/>
        </p:spPr>
        <p:txBody>
          <a:bodyPr wrap="square" rtlCol="0" anchor="ctr"/>
          <a:lstStyle/>
          <a:p>
            <a:pPr>
              <a:lnSpc>
                <a:spcPct val="120000"/>
              </a:lnSpc>
            </a:pPr>
            <a:r>
              <a:rPr lang="en-US" sz="900" dirty="0">
                <a:solidFill>
                  <a:srgbClr val="6B6B6B"/>
                </a:solidFill>
                <a:latin typeface="Arial" pitchFamily="34" charset="0"/>
                <a:ea typeface="Arial" pitchFamily="34" charset="-122"/>
                <a:cs typeface="Arial" pitchFamily="34" charset="-120"/>
              </a:rPr>
              <a:t>Real-time view of equipment location and status.</a:t>
            </a:r>
            <a:endParaRPr lang="en-US" sz="900" dirty="0"/>
          </a:p>
        </p:txBody>
      </p:sp>
      <p:sp>
        <p:nvSpPr>
          <p:cNvPr id="35" name="Shape 32"/>
          <p:cNvSpPr/>
          <p:nvPr/>
        </p:nvSpPr>
        <p:spPr>
          <a:xfrm>
            <a:off x="2706624" y="4389120"/>
            <a:ext cx="2112264" cy="18288"/>
          </a:xfrm>
          <a:prstGeom prst="rect">
            <a:avLst/>
          </a:prstGeom>
          <a:solidFill>
            <a:srgbClr val="12233F"/>
          </a:solidFill>
          <a:ln/>
        </p:spPr>
      </p:sp>
      <p:sp>
        <p:nvSpPr>
          <p:cNvPr id="36" name="Text 33"/>
          <p:cNvSpPr/>
          <p:nvPr/>
        </p:nvSpPr>
        <p:spPr>
          <a:xfrm>
            <a:off x="2706624" y="4443984"/>
            <a:ext cx="2112264" cy="256032"/>
          </a:xfrm>
          <a:prstGeom prst="rect">
            <a:avLst/>
          </a:prstGeom>
          <a:noFill/>
          <a:ln/>
        </p:spPr>
        <p:txBody>
          <a:bodyPr wrap="square" rtlCol="0" anchor="ctr"/>
          <a:lstStyle/>
          <a:p>
            <a:pPr>
              <a:lnSpc>
                <a:spcPct val="105000"/>
              </a:lnSpc>
            </a:pPr>
            <a:r>
              <a:rPr lang="en-US" sz="1150" b="1" dirty="0">
                <a:solidFill>
                  <a:srgbClr val="12233F"/>
                </a:solidFill>
                <a:latin typeface="Arial" pitchFamily="34" charset="0"/>
                <a:ea typeface="Arial" pitchFamily="34" charset="-122"/>
                <a:cs typeface="Arial" pitchFamily="34" charset="-120"/>
              </a:rPr>
              <a:t>Production Monitoring</a:t>
            </a:r>
            <a:endParaRPr lang="en-US" sz="1150" dirty="0"/>
          </a:p>
        </p:txBody>
      </p:sp>
      <p:sp>
        <p:nvSpPr>
          <p:cNvPr id="37" name="Text 34"/>
          <p:cNvSpPr/>
          <p:nvPr/>
        </p:nvSpPr>
        <p:spPr>
          <a:xfrm>
            <a:off x="2706624" y="4718304"/>
            <a:ext cx="2112264" cy="457200"/>
          </a:xfrm>
          <a:prstGeom prst="rect">
            <a:avLst/>
          </a:prstGeom>
          <a:noFill/>
          <a:ln/>
        </p:spPr>
        <p:txBody>
          <a:bodyPr wrap="square" rtlCol="0" anchor="ctr"/>
          <a:lstStyle/>
          <a:p>
            <a:pPr>
              <a:lnSpc>
                <a:spcPct val="120000"/>
              </a:lnSpc>
            </a:pPr>
            <a:r>
              <a:rPr lang="en-US" sz="900" dirty="0">
                <a:solidFill>
                  <a:srgbClr val="6B6B6B"/>
                </a:solidFill>
                <a:latin typeface="Arial" pitchFamily="34" charset="0"/>
                <a:ea typeface="Arial" pitchFamily="34" charset="-122"/>
                <a:cs typeface="Arial" pitchFamily="34" charset="-120"/>
              </a:rPr>
              <a:t>Continuous tracking of output against targets.</a:t>
            </a:r>
            <a:endParaRPr lang="en-US" sz="900" dirty="0"/>
          </a:p>
        </p:txBody>
      </p:sp>
      <p:sp>
        <p:nvSpPr>
          <p:cNvPr id="38" name="Shape 35"/>
          <p:cNvSpPr/>
          <p:nvPr/>
        </p:nvSpPr>
        <p:spPr>
          <a:xfrm>
            <a:off x="4910328" y="4389120"/>
            <a:ext cx="2112264" cy="18288"/>
          </a:xfrm>
          <a:prstGeom prst="rect">
            <a:avLst/>
          </a:prstGeom>
          <a:solidFill>
            <a:srgbClr val="12233F"/>
          </a:solidFill>
          <a:ln/>
        </p:spPr>
      </p:sp>
      <p:sp>
        <p:nvSpPr>
          <p:cNvPr id="39" name="Text 36"/>
          <p:cNvSpPr/>
          <p:nvPr/>
        </p:nvSpPr>
        <p:spPr>
          <a:xfrm>
            <a:off x="4910328" y="4443984"/>
            <a:ext cx="2112264" cy="256032"/>
          </a:xfrm>
          <a:prstGeom prst="rect">
            <a:avLst/>
          </a:prstGeom>
          <a:noFill/>
          <a:ln/>
        </p:spPr>
        <p:txBody>
          <a:bodyPr wrap="square" rtlCol="0" anchor="ctr"/>
          <a:lstStyle/>
          <a:p>
            <a:pPr>
              <a:lnSpc>
                <a:spcPct val="105000"/>
              </a:lnSpc>
            </a:pPr>
            <a:r>
              <a:rPr lang="en-US" sz="1150" b="1" dirty="0">
                <a:solidFill>
                  <a:srgbClr val="12233F"/>
                </a:solidFill>
                <a:latin typeface="Arial" pitchFamily="34" charset="0"/>
                <a:ea typeface="Arial" pitchFamily="34" charset="-122"/>
                <a:cs typeface="Arial" pitchFamily="34" charset="-120"/>
              </a:rPr>
              <a:t>Fuel Management</a:t>
            </a:r>
            <a:endParaRPr lang="en-US" sz="1150" dirty="0"/>
          </a:p>
        </p:txBody>
      </p:sp>
      <p:sp>
        <p:nvSpPr>
          <p:cNvPr id="40" name="Text 37"/>
          <p:cNvSpPr/>
          <p:nvPr/>
        </p:nvSpPr>
        <p:spPr>
          <a:xfrm>
            <a:off x="4910328" y="4718304"/>
            <a:ext cx="2112264" cy="457200"/>
          </a:xfrm>
          <a:prstGeom prst="rect">
            <a:avLst/>
          </a:prstGeom>
          <a:noFill/>
          <a:ln/>
        </p:spPr>
        <p:txBody>
          <a:bodyPr wrap="square" rtlCol="0" anchor="ctr"/>
          <a:lstStyle/>
          <a:p>
            <a:pPr>
              <a:lnSpc>
                <a:spcPct val="120000"/>
              </a:lnSpc>
            </a:pPr>
            <a:r>
              <a:rPr lang="en-US" sz="900" dirty="0">
                <a:solidFill>
                  <a:srgbClr val="6B6B6B"/>
                </a:solidFill>
                <a:latin typeface="Arial" pitchFamily="34" charset="0"/>
                <a:ea typeface="Arial" pitchFamily="34" charset="-122"/>
                <a:cs typeface="Arial" pitchFamily="34" charset="-120"/>
              </a:rPr>
              <a:t>Oversight of consumption and dispensing patterns.</a:t>
            </a:r>
            <a:endParaRPr lang="en-US" sz="900" dirty="0"/>
          </a:p>
        </p:txBody>
      </p:sp>
      <p:sp>
        <p:nvSpPr>
          <p:cNvPr id="41" name="Shape 38"/>
          <p:cNvSpPr/>
          <p:nvPr/>
        </p:nvSpPr>
        <p:spPr>
          <a:xfrm>
            <a:off x="7114032" y="4389120"/>
            <a:ext cx="2112264" cy="18288"/>
          </a:xfrm>
          <a:prstGeom prst="rect">
            <a:avLst/>
          </a:prstGeom>
          <a:solidFill>
            <a:srgbClr val="12233F"/>
          </a:solidFill>
          <a:ln/>
        </p:spPr>
      </p:sp>
      <p:sp>
        <p:nvSpPr>
          <p:cNvPr id="42" name="Text 39"/>
          <p:cNvSpPr/>
          <p:nvPr/>
        </p:nvSpPr>
        <p:spPr>
          <a:xfrm>
            <a:off x="7114032" y="4443984"/>
            <a:ext cx="2112264" cy="256032"/>
          </a:xfrm>
          <a:prstGeom prst="rect">
            <a:avLst/>
          </a:prstGeom>
          <a:noFill/>
          <a:ln/>
        </p:spPr>
        <p:txBody>
          <a:bodyPr wrap="square" rtlCol="0" anchor="ctr"/>
          <a:lstStyle/>
          <a:p>
            <a:pPr>
              <a:lnSpc>
                <a:spcPct val="105000"/>
              </a:lnSpc>
            </a:pPr>
            <a:r>
              <a:rPr lang="en-US" sz="1150" b="1" dirty="0">
                <a:solidFill>
                  <a:srgbClr val="12233F"/>
                </a:solidFill>
                <a:latin typeface="Arial" pitchFamily="34" charset="0"/>
                <a:ea typeface="Arial" pitchFamily="34" charset="-122"/>
                <a:cs typeface="Arial" pitchFamily="34" charset="-120"/>
              </a:rPr>
              <a:t>Equipment Utilization</a:t>
            </a:r>
            <a:endParaRPr lang="en-US" sz="1150" dirty="0"/>
          </a:p>
        </p:txBody>
      </p:sp>
      <p:sp>
        <p:nvSpPr>
          <p:cNvPr id="43" name="Text 40"/>
          <p:cNvSpPr/>
          <p:nvPr/>
        </p:nvSpPr>
        <p:spPr>
          <a:xfrm>
            <a:off x="7114032" y="4718304"/>
            <a:ext cx="2112264" cy="457200"/>
          </a:xfrm>
          <a:prstGeom prst="rect">
            <a:avLst/>
          </a:prstGeom>
          <a:noFill/>
          <a:ln/>
        </p:spPr>
        <p:txBody>
          <a:bodyPr wrap="square" rtlCol="0" anchor="ctr"/>
          <a:lstStyle/>
          <a:p>
            <a:pPr>
              <a:lnSpc>
                <a:spcPct val="120000"/>
              </a:lnSpc>
            </a:pPr>
            <a:r>
              <a:rPr lang="en-US" sz="900" dirty="0">
                <a:solidFill>
                  <a:srgbClr val="6B6B6B"/>
                </a:solidFill>
                <a:latin typeface="Arial" pitchFamily="34" charset="0"/>
                <a:ea typeface="Arial" pitchFamily="34" charset="-122"/>
                <a:cs typeface="Arial" pitchFamily="34" charset="-120"/>
              </a:rPr>
              <a:t>Insight into how effectively assets are used.</a:t>
            </a:r>
            <a:endParaRPr lang="en-US" sz="900" dirty="0"/>
          </a:p>
        </p:txBody>
      </p:sp>
      <p:sp>
        <p:nvSpPr>
          <p:cNvPr id="44" name="Shape 41"/>
          <p:cNvSpPr/>
          <p:nvPr/>
        </p:nvSpPr>
        <p:spPr>
          <a:xfrm>
            <a:off x="9317736" y="4389120"/>
            <a:ext cx="2112264" cy="18288"/>
          </a:xfrm>
          <a:prstGeom prst="rect">
            <a:avLst/>
          </a:prstGeom>
          <a:solidFill>
            <a:srgbClr val="12233F"/>
          </a:solidFill>
          <a:ln/>
        </p:spPr>
      </p:sp>
      <p:sp>
        <p:nvSpPr>
          <p:cNvPr id="45" name="Text 42"/>
          <p:cNvSpPr/>
          <p:nvPr/>
        </p:nvSpPr>
        <p:spPr>
          <a:xfrm>
            <a:off x="9317736" y="4443984"/>
            <a:ext cx="2112264" cy="256032"/>
          </a:xfrm>
          <a:prstGeom prst="rect">
            <a:avLst/>
          </a:prstGeom>
          <a:noFill/>
          <a:ln/>
        </p:spPr>
        <p:txBody>
          <a:bodyPr wrap="square" rtlCol="0" anchor="ctr"/>
          <a:lstStyle/>
          <a:p>
            <a:pPr>
              <a:lnSpc>
                <a:spcPct val="105000"/>
              </a:lnSpc>
            </a:pPr>
            <a:r>
              <a:rPr lang="en-US" sz="1150" b="1" dirty="0">
                <a:solidFill>
                  <a:srgbClr val="12233F"/>
                </a:solidFill>
                <a:latin typeface="Arial" pitchFamily="34" charset="0"/>
                <a:ea typeface="Arial" pitchFamily="34" charset="-122"/>
                <a:cs typeface="Arial" pitchFamily="34" charset="-120"/>
              </a:rPr>
              <a:t>Decision Support</a:t>
            </a:r>
            <a:endParaRPr lang="en-US" sz="1150" dirty="0"/>
          </a:p>
        </p:txBody>
      </p:sp>
      <p:sp>
        <p:nvSpPr>
          <p:cNvPr id="46" name="Text 43"/>
          <p:cNvSpPr/>
          <p:nvPr/>
        </p:nvSpPr>
        <p:spPr>
          <a:xfrm>
            <a:off x="9317736" y="4718304"/>
            <a:ext cx="2112264" cy="457200"/>
          </a:xfrm>
          <a:prstGeom prst="rect">
            <a:avLst/>
          </a:prstGeom>
          <a:noFill/>
          <a:ln/>
        </p:spPr>
        <p:txBody>
          <a:bodyPr wrap="square" rtlCol="0" anchor="ctr"/>
          <a:lstStyle/>
          <a:p>
            <a:pPr>
              <a:lnSpc>
                <a:spcPct val="120000"/>
              </a:lnSpc>
            </a:pPr>
            <a:r>
              <a:rPr lang="en-US" sz="900" dirty="0">
                <a:solidFill>
                  <a:srgbClr val="6B6B6B"/>
                </a:solidFill>
                <a:latin typeface="Arial" pitchFamily="34" charset="0"/>
                <a:ea typeface="Arial" pitchFamily="34" charset="-122"/>
                <a:cs typeface="Arial" pitchFamily="34" charset="-120"/>
              </a:rPr>
              <a:t>Data to guide faster operational choices.</a:t>
            </a:r>
            <a:endParaRPr lang="en-US" sz="900" dirty="0"/>
          </a:p>
        </p:txBody>
      </p:sp>
      <p:sp>
        <p:nvSpPr>
          <p:cNvPr id="52" name="Shape 17">
            <a:extLst>
              <a:ext uri="{FF2B5EF4-FFF2-40B4-BE49-F238E27FC236}">
                <a16:creationId xmlns:a16="http://schemas.microsoft.com/office/drawing/2014/main" id="{48C51C03-8A3E-E27A-F99D-921993BDA6CF}"/>
              </a:ext>
            </a:extLst>
          </p:cNvPr>
          <p:cNvSpPr/>
          <p:nvPr/>
        </p:nvSpPr>
        <p:spPr>
          <a:xfrm>
            <a:off x="489005" y="5211758"/>
            <a:ext cx="11215314" cy="1065632"/>
          </a:xfrm>
          <a:prstGeom prst="rect">
            <a:avLst/>
          </a:prstGeom>
          <a:solidFill>
            <a:srgbClr val="F7F7F7"/>
          </a:solidFill>
          <a:ln/>
        </p:spPr>
      </p:sp>
      <p:sp>
        <p:nvSpPr>
          <p:cNvPr id="49" name="Text 46"/>
          <p:cNvSpPr/>
          <p:nvPr/>
        </p:nvSpPr>
        <p:spPr>
          <a:xfrm>
            <a:off x="514454" y="5272906"/>
            <a:ext cx="5486400" cy="201168"/>
          </a:xfrm>
          <a:prstGeom prst="rect">
            <a:avLst/>
          </a:prstGeom>
          <a:noFill/>
          <a:ln/>
        </p:spPr>
        <p:txBody>
          <a:bodyPr wrap="square" rtlCol="0" anchor="ctr"/>
          <a:lstStyle/>
          <a:p>
            <a:r>
              <a:rPr lang="en-US" sz="1100" b="1" kern="0" spc="110" dirty="0">
                <a:solidFill>
                  <a:srgbClr val="6B6B6B"/>
                </a:solidFill>
                <a:latin typeface="Arial" pitchFamily="34" charset="0"/>
                <a:ea typeface="Arial" pitchFamily="34" charset="-122"/>
                <a:cs typeface="Arial" pitchFamily="34" charset="-120"/>
              </a:rPr>
              <a:t>PROJECT RATIONALE</a:t>
            </a:r>
            <a:endParaRPr lang="en-US" sz="1100" dirty="0"/>
          </a:p>
        </p:txBody>
      </p:sp>
      <p:sp>
        <p:nvSpPr>
          <p:cNvPr id="50" name="Text 47"/>
          <p:cNvSpPr/>
          <p:nvPr/>
        </p:nvSpPr>
        <p:spPr>
          <a:xfrm>
            <a:off x="566928" y="5492921"/>
            <a:ext cx="10954512" cy="667512"/>
          </a:xfrm>
          <a:prstGeom prst="rect">
            <a:avLst/>
          </a:prstGeom>
          <a:noFill/>
          <a:ln/>
        </p:spPr>
        <p:txBody>
          <a:bodyPr wrap="square" rtlCol="0" anchor="ctr"/>
          <a:lstStyle/>
          <a:p>
            <a:r>
              <a:rPr lang="en-IN" sz="1200" b="1" dirty="0"/>
              <a:t>Talabira's FMS and FUMS generate comprehensive operational data across production, fleet operations, and fuel management. While these systems effectively support routine monitoring, their analytical potential offers opportunities for deeper analysis. This project systematically analyses the available data to identify improvement opportunities and propose practical recommendations for enhancing productivity, equipment reliability, and operational decision-making across the mine.</a:t>
            </a:r>
            <a:endParaRPr lang="en-IN" sz="1200" dirty="0"/>
          </a:p>
        </p:txBody>
      </p:sp>
      <p:grpSp>
        <p:nvGrpSpPr>
          <p:cNvPr id="47" name="Group 3">
            <a:extLst>
              <a:ext uri="{FF2B5EF4-FFF2-40B4-BE49-F238E27FC236}">
                <a16:creationId xmlns:a16="http://schemas.microsoft.com/office/drawing/2014/main" id="{C5C5C660-3C16-F957-0ACA-6D772E89EB55}"/>
              </a:ext>
            </a:extLst>
          </p:cNvPr>
          <p:cNvGrpSpPr/>
          <p:nvPr/>
        </p:nvGrpSpPr>
        <p:grpSpPr>
          <a:xfrm>
            <a:off x="10056527" y="6189371"/>
            <a:ext cx="2136000" cy="669944"/>
            <a:chOff x="0" y="0"/>
            <a:chExt cx="4272001" cy="1339888"/>
          </a:xfrm>
        </p:grpSpPr>
        <p:sp>
          <p:nvSpPr>
            <p:cNvPr id="48" name="Freeform 4">
              <a:extLst>
                <a:ext uri="{FF2B5EF4-FFF2-40B4-BE49-F238E27FC236}">
                  <a16:creationId xmlns:a16="http://schemas.microsoft.com/office/drawing/2014/main" id="{0B3F3A92-9CFD-0CCE-4683-9293733D23BB}"/>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3"/>
              <a:stretch>
                <a:fillRect l="-470838" t="-924095" b="-2"/>
              </a:stretch>
            </a:blipFill>
          </p:spPr>
        </p:sp>
      </p:grpSp>
      <p:grpSp>
        <p:nvGrpSpPr>
          <p:cNvPr id="2" name="Group 5">
            <a:extLst>
              <a:ext uri="{FF2B5EF4-FFF2-40B4-BE49-F238E27FC236}">
                <a16:creationId xmlns:a16="http://schemas.microsoft.com/office/drawing/2014/main" id="{C6995E9C-D2C4-ABF0-1185-248A547BF249}"/>
              </a:ext>
            </a:extLst>
          </p:cNvPr>
          <p:cNvGrpSpPr/>
          <p:nvPr/>
        </p:nvGrpSpPr>
        <p:grpSpPr>
          <a:xfrm>
            <a:off x="770311" y="908537"/>
            <a:ext cx="3305704" cy="45719"/>
            <a:chOff x="0" y="0"/>
            <a:chExt cx="14068412" cy="121920"/>
          </a:xfrm>
        </p:grpSpPr>
        <p:sp>
          <p:nvSpPr>
            <p:cNvPr id="51" name="Freeform 6" descr="D:\Corp Comm Department Work 2015\Brand Adani 2012\adani_gradient_master.jpg">
              <a:extLst>
                <a:ext uri="{FF2B5EF4-FFF2-40B4-BE49-F238E27FC236}">
                  <a16:creationId xmlns:a16="http://schemas.microsoft.com/office/drawing/2014/main" id="{F05BDB61-30FD-EFC9-A272-7FFB56333E22}"/>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4"/>
              <a:stretch>
                <a:fillRect b="-5072"/>
              </a:stretch>
            </a:blipFill>
          </p:spPr>
          <p:txBody>
            <a:bodyPr/>
            <a:lstStyle/>
            <a:p>
              <a:endParaRPr lang="en-IN"/>
            </a:p>
          </p:txBody>
        </p:sp>
      </p:grpSp>
    </p:spTree>
    <p:extLst>
      <p:ext uri="{BB962C8B-B14F-4D97-AF65-F5344CB8AC3E}">
        <p14:creationId xmlns:p14="http://schemas.microsoft.com/office/powerpoint/2010/main" val="2246392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hape 17">
            <a:extLst>
              <a:ext uri="{FF2B5EF4-FFF2-40B4-BE49-F238E27FC236}">
                <a16:creationId xmlns:a16="http://schemas.microsoft.com/office/drawing/2014/main" id="{3B315EE5-B38B-E3D7-47E6-E18AD0AD3B72}"/>
              </a:ext>
            </a:extLst>
          </p:cNvPr>
          <p:cNvSpPr/>
          <p:nvPr/>
        </p:nvSpPr>
        <p:spPr>
          <a:xfrm>
            <a:off x="548640" y="1396289"/>
            <a:ext cx="11155680" cy="981151"/>
          </a:xfrm>
          <a:prstGeom prst="rect">
            <a:avLst/>
          </a:prstGeom>
          <a:solidFill>
            <a:srgbClr val="F7F7F7"/>
          </a:solidFill>
          <a:ln/>
        </p:spPr>
      </p:sp>
      <p:sp>
        <p:nvSpPr>
          <p:cNvPr id="2" name="Text 0"/>
          <p:cNvSpPr/>
          <p:nvPr/>
        </p:nvSpPr>
        <p:spPr>
          <a:xfrm>
            <a:off x="548640" y="658368"/>
            <a:ext cx="5486400" cy="457200"/>
          </a:xfrm>
          <a:prstGeom prst="rect">
            <a:avLst/>
          </a:prstGeom>
          <a:noFill/>
          <a:ln/>
        </p:spPr>
        <p:txBody>
          <a:bodyPr wrap="square" rtlCol="0" anchor="ctr"/>
          <a:lstStyle/>
          <a:p>
            <a:pPr marL="0" indent="0">
              <a:buNone/>
            </a:pPr>
            <a:r>
              <a:rPr lang="en-US" sz="2600" dirty="0">
                <a:solidFill>
                  <a:srgbClr val="0070C0"/>
                </a:solidFill>
                <a:latin typeface="Arial" pitchFamily="34" charset="0"/>
                <a:ea typeface="Arial" pitchFamily="34" charset="-122"/>
                <a:cs typeface="Arial" pitchFamily="34" charset="-120"/>
              </a:rPr>
              <a:t>Project Objectives</a:t>
            </a:r>
            <a:endParaRPr lang="en-US" sz="2600" dirty="0"/>
          </a:p>
        </p:txBody>
      </p:sp>
      <p:sp>
        <p:nvSpPr>
          <p:cNvPr id="56" name="Text 53"/>
          <p:cNvSpPr/>
          <p:nvPr/>
        </p:nvSpPr>
        <p:spPr>
          <a:xfrm>
            <a:off x="640080" y="1502001"/>
            <a:ext cx="5486400" cy="219456"/>
          </a:xfrm>
          <a:prstGeom prst="rect">
            <a:avLst/>
          </a:prstGeom>
          <a:noFill/>
          <a:ln/>
        </p:spPr>
        <p:txBody>
          <a:bodyPr wrap="square" rtlCol="0" anchor="ctr"/>
          <a:lstStyle/>
          <a:p>
            <a:pPr marL="0" indent="0">
              <a:buNone/>
            </a:pPr>
            <a:r>
              <a:rPr lang="en-US" sz="1050" b="1" kern="0" spc="110" dirty="0">
                <a:solidFill>
                  <a:srgbClr val="6B6B6B"/>
                </a:solidFill>
                <a:latin typeface="Arial" pitchFamily="34" charset="0"/>
                <a:ea typeface="Arial" pitchFamily="34" charset="-122"/>
                <a:cs typeface="Arial" pitchFamily="34" charset="-120"/>
              </a:rPr>
              <a:t>PROJECT AIM</a:t>
            </a:r>
            <a:endParaRPr lang="en-US" sz="1050" dirty="0"/>
          </a:p>
        </p:txBody>
      </p:sp>
      <p:sp>
        <p:nvSpPr>
          <p:cNvPr id="57" name="Text 54"/>
          <p:cNvSpPr/>
          <p:nvPr/>
        </p:nvSpPr>
        <p:spPr>
          <a:xfrm>
            <a:off x="822960" y="1737360"/>
            <a:ext cx="10607040" cy="457200"/>
          </a:xfrm>
          <a:prstGeom prst="rect">
            <a:avLst/>
          </a:prstGeom>
          <a:noFill/>
          <a:ln/>
        </p:spPr>
        <p:txBody>
          <a:bodyPr wrap="square" rtlCol="0" anchor="ctr"/>
          <a:lstStyle/>
          <a:p>
            <a:pPr marL="0" indent="0">
              <a:lnSpc>
                <a:spcPct val="125000"/>
              </a:lnSpc>
              <a:buNone/>
            </a:pPr>
            <a:r>
              <a:rPr lang="en-US" sz="1400" dirty="0">
                <a:solidFill>
                  <a:srgbClr val="12233F"/>
                </a:solidFill>
                <a:latin typeface="Arial" pitchFamily="34" charset="0"/>
                <a:ea typeface="Arial" pitchFamily="34" charset="-122"/>
                <a:cs typeface="Arial" pitchFamily="34" charset="-120"/>
              </a:rPr>
              <a:t>To systematically evaluate operational performance at Talabira II &amp; III OCP using FMS and FUMS data, identify improvement opportunities, and develop practical recommendations that enhance productivity, reliability, and operational efficiency.  </a:t>
            </a:r>
            <a:endParaRPr lang="en-US" sz="1400" dirty="0"/>
          </a:p>
        </p:txBody>
      </p:sp>
      <p:sp>
        <p:nvSpPr>
          <p:cNvPr id="58" name="Text 55"/>
          <p:cNvSpPr/>
          <p:nvPr/>
        </p:nvSpPr>
        <p:spPr>
          <a:xfrm>
            <a:off x="548640" y="2496312"/>
            <a:ext cx="5486400" cy="219456"/>
          </a:xfrm>
          <a:prstGeom prst="rect">
            <a:avLst/>
          </a:prstGeom>
          <a:noFill/>
          <a:ln/>
        </p:spPr>
        <p:txBody>
          <a:bodyPr wrap="square" rtlCol="0" anchor="ctr"/>
          <a:lstStyle/>
          <a:p>
            <a:pPr marL="0" indent="0">
              <a:buNone/>
            </a:pPr>
            <a:r>
              <a:rPr lang="en-US" sz="1050" b="1" kern="0" spc="110" dirty="0">
                <a:solidFill>
                  <a:srgbClr val="6B6B6B"/>
                </a:solidFill>
                <a:latin typeface="Arial" pitchFamily="34" charset="0"/>
                <a:ea typeface="Arial" pitchFamily="34" charset="-122"/>
                <a:cs typeface="Arial" pitchFamily="34" charset="-120"/>
              </a:rPr>
              <a:t>PROJECT OBJECTIVES</a:t>
            </a:r>
            <a:endParaRPr lang="en-US" sz="1050" dirty="0"/>
          </a:p>
        </p:txBody>
      </p:sp>
      <p:sp>
        <p:nvSpPr>
          <p:cNvPr id="59" name="Text 56"/>
          <p:cNvSpPr/>
          <p:nvPr/>
        </p:nvSpPr>
        <p:spPr>
          <a:xfrm>
            <a:off x="548640" y="2788920"/>
            <a:ext cx="2624328" cy="365760"/>
          </a:xfrm>
          <a:prstGeom prst="rect">
            <a:avLst/>
          </a:prstGeom>
          <a:noFill/>
          <a:ln/>
        </p:spPr>
        <p:txBody>
          <a:bodyPr wrap="square" rtlCol="0" anchor="ctr"/>
          <a:lstStyle/>
          <a:p>
            <a:pPr marL="0" indent="0">
              <a:buNone/>
            </a:pPr>
            <a:r>
              <a:rPr lang="en-US" sz="2000" b="1" dirty="0">
                <a:solidFill>
                  <a:srgbClr val="00A99D"/>
                </a:solidFill>
                <a:latin typeface="Arial" pitchFamily="34" charset="0"/>
                <a:ea typeface="Arial" pitchFamily="34" charset="-122"/>
                <a:cs typeface="Arial" pitchFamily="34" charset="-120"/>
              </a:rPr>
              <a:t>01</a:t>
            </a:r>
            <a:endParaRPr lang="en-US" sz="2000" dirty="0"/>
          </a:p>
        </p:txBody>
      </p:sp>
      <p:sp>
        <p:nvSpPr>
          <p:cNvPr id="60" name="Shape 57"/>
          <p:cNvSpPr/>
          <p:nvPr/>
        </p:nvSpPr>
        <p:spPr>
          <a:xfrm>
            <a:off x="548640" y="3172968"/>
            <a:ext cx="2624328" cy="18288"/>
          </a:xfrm>
          <a:prstGeom prst="rect">
            <a:avLst/>
          </a:prstGeom>
          <a:solidFill>
            <a:srgbClr val="D9D9D9"/>
          </a:solidFill>
          <a:ln/>
        </p:spPr>
      </p:sp>
      <p:sp>
        <p:nvSpPr>
          <p:cNvPr id="61" name="Text 58"/>
          <p:cNvSpPr/>
          <p:nvPr/>
        </p:nvSpPr>
        <p:spPr>
          <a:xfrm>
            <a:off x="548640" y="3246120"/>
            <a:ext cx="262432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Evaluate Fleet Performance</a:t>
            </a:r>
            <a:endParaRPr lang="en-US" sz="1300" dirty="0"/>
          </a:p>
        </p:txBody>
      </p:sp>
      <p:sp>
        <p:nvSpPr>
          <p:cNvPr id="62" name="Text 59"/>
          <p:cNvSpPr/>
          <p:nvPr/>
        </p:nvSpPr>
        <p:spPr>
          <a:xfrm>
            <a:off x="548640" y="3657600"/>
            <a:ext cx="2624328" cy="594360"/>
          </a:xfrm>
          <a:prstGeom prst="rect">
            <a:avLst/>
          </a:prstGeom>
          <a:noFill/>
          <a:ln/>
        </p:spPr>
        <p:txBody>
          <a:bodyPr wrap="square" rtlCol="0" anchor="ctr"/>
          <a:lstStyle/>
          <a:p>
            <a:pPr marL="0" indent="0">
              <a:lnSpc>
                <a:spcPct val="125000"/>
              </a:lnSpc>
              <a:buNone/>
            </a:pPr>
            <a:r>
              <a:rPr lang="en-US" sz="1000" dirty="0">
                <a:solidFill>
                  <a:srgbClr val="3A3A3A"/>
                </a:solidFill>
                <a:latin typeface="Arial" pitchFamily="34" charset="0"/>
                <a:ea typeface="Arial" pitchFamily="34" charset="-122"/>
                <a:cs typeface="Arial" pitchFamily="34" charset="-120"/>
              </a:rPr>
              <a:t>Assess availability, utilization, and reliability across the HEMM fleet.</a:t>
            </a:r>
            <a:endParaRPr lang="en-US" sz="1000" dirty="0"/>
          </a:p>
        </p:txBody>
      </p:sp>
      <p:sp>
        <p:nvSpPr>
          <p:cNvPr id="63" name="Text 60"/>
          <p:cNvSpPr/>
          <p:nvPr/>
        </p:nvSpPr>
        <p:spPr>
          <a:xfrm>
            <a:off x="3291840" y="2788920"/>
            <a:ext cx="2624328" cy="365760"/>
          </a:xfrm>
          <a:prstGeom prst="rect">
            <a:avLst/>
          </a:prstGeom>
          <a:noFill/>
          <a:ln/>
        </p:spPr>
        <p:txBody>
          <a:bodyPr wrap="square" rtlCol="0" anchor="ctr"/>
          <a:lstStyle/>
          <a:p>
            <a:pPr marL="0" indent="0">
              <a:buNone/>
            </a:pPr>
            <a:r>
              <a:rPr lang="en-US" sz="2000" b="1" dirty="0">
                <a:solidFill>
                  <a:srgbClr val="00A99D"/>
                </a:solidFill>
                <a:latin typeface="Arial" pitchFamily="34" charset="0"/>
                <a:ea typeface="Arial" pitchFamily="34" charset="-122"/>
                <a:cs typeface="Arial" pitchFamily="34" charset="-120"/>
              </a:rPr>
              <a:t>02</a:t>
            </a:r>
            <a:endParaRPr lang="en-US" sz="2000" dirty="0"/>
          </a:p>
        </p:txBody>
      </p:sp>
      <p:sp>
        <p:nvSpPr>
          <p:cNvPr id="64" name="Shape 61"/>
          <p:cNvSpPr/>
          <p:nvPr/>
        </p:nvSpPr>
        <p:spPr>
          <a:xfrm>
            <a:off x="3291840" y="3172968"/>
            <a:ext cx="2624328" cy="18288"/>
          </a:xfrm>
          <a:prstGeom prst="rect">
            <a:avLst/>
          </a:prstGeom>
          <a:solidFill>
            <a:srgbClr val="D9D9D9"/>
          </a:solidFill>
          <a:ln/>
        </p:spPr>
      </p:sp>
      <p:sp>
        <p:nvSpPr>
          <p:cNvPr id="65" name="Text 62"/>
          <p:cNvSpPr/>
          <p:nvPr/>
        </p:nvSpPr>
        <p:spPr>
          <a:xfrm>
            <a:off x="3291840" y="3246120"/>
            <a:ext cx="262432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Analyse Production &amp; Fuel Trends</a:t>
            </a:r>
            <a:endParaRPr lang="en-US" sz="1300" dirty="0"/>
          </a:p>
        </p:txBody>
      </p:sp>
      <p:sp>
        <p:nvSpPr>
          <p:cNvPr id="66" name="Text 63"/>
          <p:cNvSpPr/>
          <p:nvPr/>
        </p:nvSpPr>
        <p:spPr>
          <a:xfrm>
            <a:off x="3291840" y="3657600"/>
            <a:ext cx="2624328" cy="594360"/>
          </a:xfrm>
          <a:prstGeom prst="rect">
            <a:avLst/>
          </a:prstGeom>
          <a:noFill/>
          <a:ln/>
        </p:spPr>
        <p:txBody>
          <a:bodyPr wrap="square" rtlCol="0" anchor="ctr"/>
          <a:lstStyle/>
          <a:p>
            <a:pPr marL="0" indent="0">
              <a:lnSpc>
                <a:spcPct val="125000"/>
              </a:lnSpc>
              <a:buNone/>
            </a:pPr>
            <a:r>
              <a:rPr lang="en-US" sz="1000" dirty="0">
                <a:solidFill>
                  <a:srgbClr val="3A3A3A"/>
                </a:solidFill>
                <a:latin typeface="Arial" pitchFamily="34" charset="0"/>
                <a:ea typeface="Arial" pitchFamily="34" charset="-122"/>
                <a:cs typeface="Arial" pitchFamily="34" charset="-120"/>
              </a:rPr>
              <a:t>Examine FMS and FUMS data to identify patterns in output and fuel consumption.</a:t>
            </a:r>
            <a:endParaRPr lang="en-US" sz="1000" dirty="0"/>
          </a:p>
        </p:txBody>
      </p:sp>
      <p:sp>
        <p:nvSpPr>
          <p:cNvPr id="67" name="Text 64"/>
          <p:cNvSpPr/>
          <p:nvPr/>
        </p:nvSpPr>
        <p:spPr>
          <a:xfrm>
            <a:off x="6035040" y="2788920"/>
            <a:ext cx="2624328" cy="365760"/>
          </a:xfrm>
          <a:prstGeom prst="rect">
            <a:avLst/>
          </a:prstGeom>
          <a:noFill/>
          <a:ln/>
        </p:spPr>
        <p:txBody>
          <a:bodyPr wrap="square" rtlCol="0" anchor="ctr"/>
          <a:lstStyle/>
          <a:p>
            <a:pPr marL="0" indent="0">
              <a:buNone/>
            </a:pPr>
            <a:r>
              <a:rPr lang="en-US" sz="2000" b="1" dirty="0">
                <a:solidFill>
                  <a:srgbClr val="00A99D"/>
                </a:solidFill>
                <a:latin typeface="Arial" pitchFamily="34" charset="0"/>
                <a:ea typeface="Arial" pitchFamily="34" charset="-122"/>
                <a:cs typeface="Arial" pitchFamily="34" charset="-120"/>
              </a:rPr>
              <a:t>03</a:t>
            </a:r>
            <a:endParaRPr lang="en-US" sz="2000" dirty="0"/>
          </a:p>
        </p:txBody>
      </p:sp>
      <p:sp>
        <p:nvSpPr>
          <p:cNvPr id="68" name="Shape 65"/>
          <p:cNvSpPr/>
          <p:nvPr/>
        </p:nvSpPr>
        <p:spPr>
          <a:xfrm>
            <a:off x="6035040" y="3172968"/>
            <a:ext cx="2624328" cy="18288"/>
          </a:xfrm>
          <a:prstGeom prst="rect">
            <a:avLst/>
          </a:prstGeom>
          <a:solidFill>
            <a:srgbClr val="D9D9D9"/>
          </a:solidFill>
          <a:ln/>
        </p:spPr>
      </p:sp>
      <p:sp>
        <p:nvSpPr>
          <p:cNvPr id="69" name="Text 66"/>
          <p:cNvSpPr/>
          <p:nvPr/>
        </p:nvSpPr>
        <p:spPr>
          <a:xfrm>
            <a:off x="6035040" y="3246120"/>
            <a:ext cx="262432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Identify Improvement Opportunities</a:t>
            </a:r>
            <a:endParaRPr lang="en-US" sz="1300" dirty="0"/>
          </a:p>
        </p:txBody>
      </p:sp>
      <p:sp>
        <p:nvSpPr>
          <p:cNvPr id="70" name="Text 67"/>
          <p:cNvSpPr/>
          <p:nvPr/>
        </p:nvSpPr>
        <p:spPr>
          <a:xfrm>
            <a:off x="6035040" y="3657600"/>
            <a:ext cx="2624328" cy="594360"/>
          </a:xfrm>
          <a:prstGeom prst="rect">
            <a:avLst/>
          </a:prstGeom>
          <a:noFill/>
          <a:ln/>
        </p:spPr>
        <p:txBody>
          <a:bodyPr wrap="square" rtlCol="0" anchor="ctr"/>
          <a:lstStyle/>
          <a:p>
            <a:pPr marL="0" indent="0">
              <a:lnSpc>
                <a:spcPct val="125000"/>
              </a:lnSpc>
              <a:buNone/>
            </a:pPr>
            <a:r>
              <a:rPr lang="en-US" sz="1000" dirty="0">
                <a:solidFill>
                  <a:srgbClr val="3A3A3A"/>
                </a:solidFill>
                <a:latin typeface="Arial" pitchFamily="34" charset="0"/>
                <a:ea typeface="Arial" pitchFamily="34" charset="-122"/>
                <a:cs typeface="Arial" pitchFamily="34" charset="-120"/>
              </a:rPr>
              <a:t>Pinpoint gaps in current monitoring and operational practices.</a:t>
            </a:r>
            <a:endParaRPr lang="en-US" sz="1000" dirty="0"/>
          </a:p>
        </p:txBody>
      </p:sp>
      <p:sp>
        <p:nvSpPr>
          <p:cNvPr id="71" name="Text 68"/>
          <p:cNvSpPr/>
          <p:nvPr/>
        </p:nvSpPr>
        <p:spPr>
          <a:xfrm>
            <a:off x="8778240" y="2788920"/>
            <a:ext cx="2624328" cy="365760"/>
          </a:xfrm>
          <a:prstGeom prst="rect">
            <a:avLst/>
          </a:prstGeom>
          <a:noFill/>
          <a:ln/>
        </p:spPr>
        <p:txBody>
          <a:bodyPr wrap="square" rtlCol="0" anchor="ctr"/>
          <a:lstStyle/>
          <a:p>
            <a:pPr marL="0" indent="0">
              <a:buNone/>
            </a:pPr>
            <a:r>
              <a:rPr lang="en-US" sz="2000" b="1" dirty="0">
                <a:solidFill>
                  <a:srgbClr val="00A99D"/>
                </a:solidFill>
                <a:latin typeface="Arial" pitchFamily="34" charset="0"/>
                <a:ea typeface="Arial" pitchFamily="34" charset="-122"/>
                <a:cs typeface="Arial" pitchFamily="34" charset="-120"/>
              </a:rPr>
              <a:t>04</a:t>
            </a:r>
            <a:endParaRPr lang="en-US" sz="2000" dirty="0"/>
          </a:p>
        </p:txBody>
      </p:sp>
      <p:sp>
        <p:nvSpPr>
          <p:cNvPr id="72" name="Shape 69"/>
          <p:cNvSpPr/>
          <p:nvPr/>
        </p:nvSpPr>
        <p:spPr>
          <a:xfrm>
            <a:off x="8778240" y="3172968"/>
            <a:ext cx="2624328" cy="18288"/>
          </a:xfrm>
          <a:prstGeom prst="rect">
            <a:avLst/>
          </a:prstGeom>
          <a:solidFill>
            <a:srgbClr val="D9D9D9"/>
          </a:solidFill>
          <a:ln/>
        </p:spPr>
      </p:sp>
      <p:sp>
        <p:nvSpPr>
          <p:cNvPr id="73" name="Text 70"/>
          <p:cNvSpPr/>
          <p:nvPr/>
        </p:nvSpPr>
        <p:spPr>
          <a:xfrm>
            <a:off x="8778240" y="3246120"/>
            <a:ext cx="262432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Recommend Practical Solutions</a:t>
            </a:r>
            <a:endParaRPr lang="en-US" sz="1300" dirty="0"/>
          </a:p>
        </p:txBody>
      </p:sp>
      <p:sp>
        <p:nvSpPr>
          <p:cNvPr id="74" name="Text 71"/>
          <p:cNvSpPr/>
          <p:nvPr/>
        </p:nvSpPr>
        <p:spPr>
          <a:xfrm>
            <a:off x="8778240" y="3657600"/>
            <a:ext cx="2624328" cy="594360"/>
          </a:xfrm>
          <a:prstGeom prst="rect">
            <a:avLst/>
          </a:prstGeom>
          <a:noFill/>
          <a:ln/>
        </p:spPr>
        <p:txBody>
          <a:bodyPr wrap="square" rtlCol="0" anchor="ctr"/>
          <a:lstStyle/>
          <a:p>
            <a:pPr marL="0" indent="0">
              <a:lnSpc>
                <a:spcPct val="125000"/>
              </a:lnSpc>
              <a:buNone/>
            </a:pPr>
            <a:r>
              <a:rPr lang="en-US" sz="1000" dirty="0">
                <a:solidFill>
                  <a:srgbClr val="3A3A3A"/>
                </a:solidFill>
                <a:latin typeface="Arial" pitchFamily="34" charset="0"/>
                <a:ea typeface="Arial" pitchFamily="34" charset="-122"/>
                <a:cs typeface="Arial" pitchFamily="34" charset="-120"/>
              </a:rPr>
              <a:t>Propose data-backed actions to strengthen fleet and production outcomes.</a:t>
            </a:r>
            <a:endParaRPr lang="en-US" sz="1000" dirty="0"/>
          </a:p>
        </p:txBody>
      </p:sp>
      <p:sp>
        <p:nvSpPr>
          <p:cNvPr id="75" name="Shape 72"/>
          <p:cNvSpPr/>
          <p:nvPr/>
        </p:nvSpPr>
        <p:spPr>
          <a:xfrm>
            <a:off x="548640" y="4389120"/>
            <a:ext cx="11155680" cy="7315"/>
          </a:xfrm>
          <a:prstGeom prst="rect">
            <a:avLst/>
          </a:prstGeom>
          <a:solidFill>
            <a:srgbClr val="D9D9D9"/>
          </a:solidFill>
          <a:ln/>
        </p:spPr>
      </p:sp>
      <p:sp>
        <p:nvSpPr>
          <p:cNvPr id="76" name="Text 73"/>
          <p:cNvSpPr/>
          <p:nvPr/>
        </p:nvSpPr>
        <p:spPr>
          <a:xfrm>
            <a:off x="548640" y="4557369"/>
            <a:ext cx="5486400" cy="219456"/>
          </a:xfrm>
          <a:prstGeom prst="rect">
            <a:avLst/>
          </a:prstGeom>
          <a:noFill/>
          <a:ln/>
        </p:spPr>
        <p:txBody>
          <a:bodyPr wrap="square" rtlCol="0" anchor="ctr"/>
          <a:lstStyle/>
          <a:p>
            <a:pPr marL="0" indent="0">
              <a:buNone/>
            </a:pPr>
            <a:r>
              <a:rPr lang="en-US" sz="1050" b="1" kern="0" spc="110" dirty="0">
                <a:solidFill>
                  <a:srgbClr val="6B6B6B"/>
                </a:solidFill>
                <a:latin typeface="Arial" pitchFamily="34" charset="0"/>
                <a:ea typeface="Arial" pitchFamily="34" charset="-122"/>
                <a:cs typeface="Arial" pitchFamily="34" charset="-120"/>
              </a:rPr>
              <a:t>Deliverables</a:t>
            </a:r>
            <a:endParaRPr lang="en-US" sz="1050" dirty="0"/>
          </a:p>
        </p:txBody>
      </p:sp>
      <p:sp>
        <p:nvSpPr>
          <p:cNvPr id="77" name="Shape 74"/>
          <p:cNvSpPr/>
          <p:nvPr/>
        </p:nvSpPr>
        <p:spPr>
          <a:xfrm>
            <a:off x="548640" y="4846320"/>
            <a:ext cx="2624328" cy="18288"/>
          </a:xfrm>
          <a:prstGeom prst="rect">
            <a:avLst/>
          </a:prstGeom>
          <a:solidFill>
            <a:srgbClr val="12233F"/>
          </a:solidFill>
          <a:ln/>
        </p:spPr>
      </p:sp>
      <p:sp>
        <p:nvSpPr>
          <p:cNvPr id="78" name="Text 75"/>
          <p:cNvSpPr/>
          <p:nvPr/>
        </p:nvSpPr>
        <p:spPr>
          <a:xfrm>
            <a:off x="548640" y="4937760"/>
            <a:ext cx="2624328" cy="548640"/>
          </a:xfrm>
          <a:prstGeom prst="rect">
            <a:avLst/>
          </a:prstGeom>
          <a:noFill/>
          <a:ln/>
        </p:spPr>
        <p:txBody>
          <a:bodyPr wrap="square" rtlCol="0" anchor="ctr"/>
          <a:lstStyle/>
          <a:p>
            <a:pPr marL="0" indent="0">
              <a:lnSpc>
                <a:spcPct val="115000"/>
              </a:lnSpc>
              <a:buNone/>
            </a:pPr>
            <a:r>
              <a:rPr lang="en-US" sz="1250" b="1" dirty="0">
                <a:solidFill>
                  <a:srgbClr val="12233F"/>
                </a:solidFill>
                <a:latin typeface="Arial" pitchFamily="34" charset="0"/>
                <a:ea typeface="Arial" pitchFamily="34" charset="-122"/>
                <a:cs typeface="Arial" pitchFamily="34" charset="-120"/>
              </a:rPr>
              <a:t>Comprehensive Performance Assessment</a:t>
            </a:r>
            <a:endParaRPr lang="en-US" sz="1250" dirty="0"/>
          </a:p>
        </p:txBody>
      </p:sp>
      <p:sp>
        <p:nvSpPr>
          <p:cNvPr id="79" name="Text 76"/>
          <p:cNvSpPr/>
          <p:nvPr/>
        </p:nvSpPr>
        <p:spPr>
          <a:xfrm>
            <a:off x="548640" y="5504688"/>
            <a:ext cx="2624328" cy="457200"/>
          </a:xfrm>
          <a:prstGeom prst="rect">
            <a:avLst/>
          </a:prstGeom>
          <a:noFill/>
          <a:ln/>
        </p:spPr>
        <p:txBody>
          <a:bodyPr wrap="square" rtlCol="0" anchor="ctr"/>
          <a:lstStyle/>
          <a:p>
            <a:pPr marL="0" indent="0">
              <a:lnSpc>
                <a:spcPct val="125000"/>
              </a:lnSpc>
              <a:buNone/>
            </a:pPr>
            <a:r>
              <a:rPr lang="en-US" sz="1000" dirty="0">
                <a:solidFill>
                  <a:srgbClr val="6B6B6B"/>
                </a:solidFill>
                <a:latin typeface="Arial" pitchFamily="34" charset="0"/>
                <a:ea typeface="Arial" pitchFamily="34" charset="-122"/>
                <a:cs typeface="Arial" pitchFamily="34" charset="-120"/>
              </a:rPr>
              <a:t>A clear picture of current fleet and production performance.</a:t>
            </a:r>
            <a:endParaRPr lang="en-US" sz="1000" dirty="0"/>
          </a:p>
        </p:txBody>
      </p:sp>
      <p:sp>
        <p:nvSpPr>
          <p:cNvPr id="80" name="Shape 77"/>
          <p:cNvSpPr/>
          <p:nvPr/>
        </p:nvSpPr>
        <p:spPr>
          <a:xfrm>
            <a:off x="3291840" y="4846320"/>
            <a:ext cx="2624328" cy="18288"/>
          </a:xfrm>
          <a:prstGeom prst="rect">
            <a:avLst/>
          </a:prstGeom>
          <a:solidFill>
            <a:srgbClr val="12233F"/>
          </a:solidFill>
          <a:ln/>
        </p:spPr>
      </p:sp>
      <p:sp>
        <p:nvSpPr>
          <p:cNvPr id="81" name="Text 78"/>
          <p:cNvSpPr/>
          <p:nvPr/>
        </p:nvSpPr>
        <p:spPr>
          <a:xfrm>
            <a:off x="3291840" y="4937760"/>
            <a:ext cx="2624328" cy="548640"/>
          </a:xfrm>
          <a:prstGeom prst="rect">
            <a:avLst/>
          </a:prstGeom>
          <a:noFill/>
          <a:ln/>
        </p:spPr>
        <p:txBody>
          <a:bodyPr wrap="square" rtlCol="0" anchor="ctr"/>
          <a:lstStyle/>
          <a:p>
            <a:pPr marL="0" indent="0">
              <a:lnSpc>
                <a:spcPct val="115000"/>
              </a:lnSpc>
              <a:buNone/>
            </a:pPr>
            <a:r>
              <a:rPr lang="en-US" sz="1250" b="1" dirty="0">
                <a:solidFill>
                  <a:srgbClr val="12233F"/>
                </a:solidFill>
                <a:latin typeface="Arial" pitchFamily="34" charset="0"/>
                <a:ea typeface="Arial" pitchFamily="34" charset="-122"/>
                <a:cs typeface="Arial" pitchFamily="34" charset="-120"/>
              </a:rPr>
              <a:t>Operational Improvement Opportunities</a:t>
            </a:r>
            <a:endParaRPr lang="en-US" sz="1250" dirty="0"/>
          </a:p>
        </p:txBody>
      </p:sp>
      <p:sp>
        <p:nvSpPr>
          <p:cNvPr id="82" name="Text 79"/>
          <p:cNvSpPr/>
          <p:nvPr/>
        </p:nvSpPr>
        <p:spPr>
          <a:xfrm>
            <a:off x="3291840" y="5504688"/>
            <a:ext cx="2624328" cy="457200"/>
          </a:xfrm>
          <a:prstGeom prst="rect">
            <a:avLst/>
          </a:prstGeom>
          <a:noFill/>
          <a:ln/>
        </p:spPr>
        <p:txBody>
          <a:bodyPr wrap="square" rtlCol="0" anchor="ctr"/>
          <a:lstStyle/>
          <a:p>
            <a:pPr marL="0" indent="0">
              <a:lnSpc>
                <a:spcPct val="125000"/>
              </a:lnSpc>
              <a:buNone/>
            </a:pPr>
            <a:r>
              <a:rPr lang="en-US" sz="1000" dirty="0">
                <a:solidFill>
                  <a:srgbClr val="6B6B6B"/>
                </a:solidFill>
                <a:latin typeface="Arial" pitchFamily="34" charset="0"/>
                <a:ea typeface="Arial" pitchFamily="34" charset="-122"/>
                <a:cs typeface="Arial" pitchFamily="34" charset="-120"/>
              </a:rPr>
              <a:t>Specific, evidence-based areas for operational gains.</a:t>
            </a:r>
            <a:endParaRPr lang="en-US" sz="1000" dirty="0"/>
          </a:p>
        </p:txBody>
      </p:sp>
      <p:sp>
        <p:nvSpPr>
          <p:cNvPr id="83" name="Shape 80"/>
          <p:cNvSpPr/>
          <p:nvPr/>
        </p:nvSpPr>
        <p:spPr>
          <a:xfrm>
            <a:off x="6035040" y="4846320"/>
            <a:ext cx="2624328" cy="18288"/>
          </a:xfrm>
          <a:prstGeom prst="rect">
            <a:avLst/>
          </a:prstGeom>
          <a:solidFill>
            <a:srgbClr val="12233F"/>
          </a:solidFill>
          <a:ln/>
        </p:spPr>
      </p:sp>
      <p:sp>
        <p:nvSpPr>
          <p:cNvPr id="84" name="Text 81"/>
          <p:cNvSpPr/>
          <p:nvPr/>
        </p:nvSpPr>
        <p:spPr>
          <a:xfrm>
            <a:off x="6035040" y="4937760"/>
            <a:ext cx="2624328" cy="548640"/>
          </a:xfrm>
          <a:prstGeom prst="rect">
            <a:avLst/>
          </a:prstGeom>
          <a:noFill/>
          <a:ln/>
        </p:spPr>
        <p:txBody>
          <a:bodyPr wrap="square" rtlCol="0" anchor="ctr"/>
          <a:lstStyle/>
          <a:p>
            <a:pPr marL="0" indent="0">
              <a:lnSpc>
                <a:spcPct val="115000"/>
              </a:lnSpc>
              <a:buNone/>
            </a:pPr>
            <a:r>
              <a:rPr lang="en-US" sz="1250" b="1" dirty="0">
                <a:solidFill>
                  <a:srgbClr val="12233F"/>
                </a:solidFill>
                <a:latin typeface="Arial" pitchFamily="34" charset="0"/>
                <a:ea typeface="Arial" pitchFamily="34" charset="-122"/>
                <a:cs typeface="Arial" pitchFamily="34" charset="-120"/>
              </a:rPr>
              <a:t>Data-Driven Recommendations</a:t>
            </a:r>
            <a:endParaRPr lang="en-US" sz="1250" dirty="0"/>
          </a:p>
        </p:txBody>
      </p:sp>
      <p:sp>
        <p:nvSpPr>
          <p:cNvPr id="85" name="Text 82"/>
          <p:cNvSpPr/>
          <p:nvPr/>
        </p:nvSpPr>
        <p:spPr>
          <a:xfrm>
            <a:off x="6035040" y="5504688"/>
            <a:ext cx="2624328" cy="457200"/>
          </a:xfrm>
          <a:prstGeom prst="rect">
            <a:avLst/>
          </a:prstGeom>
          <a:noFill/>
          <a:ln/>
        </p:spPr>
        <p:txBody>
          <a:bodyPr wrap="square" rtlCol="0" anchor="ctr"/>
          <a:lstStyle/>
          <a:p>
            <a:pPr marL="0" indent="0">
              <a:lnSpc>
                <a:spcPct val="125000"/>
              </a:lnSpc>
              <a:buNone/>
            </a:pPr>
            <a:r>
              <a:rPr lang="en-US" sz="1000" dirty="0">
                <a:solidFill>
                  <a:srgbClr val="6B6B6B"/>
                </a:solidFill>
                <a:latin typeface="Arial" pitchFamily="34" charset="0"/>
                <a:ea typeface="Arial" pitchFamily="34" charset="-122"/>
                <a:cs typeface="Arial" pitchFamily="34" charset="-120"/>
              </a:rPr>
              <a:t>Actionable proposals grounded in FMS/FUMS analysis.</a:t>
            </a:r>
            <a:endParaRPr lang="en-US" sz="1000" dirty="0"/>
          </a:p>
        </p:txBody>
      </p:sp>
      <p:sp>
        <p:nvSpPr>
          <p:cNvPr id="86" name="Shape 83"/>
          <p:cNvSpPr/>
          <p:nvPr/>
        </p:nvSpPr>
        <p:spPr>
          <a:xfrm>
            <a:off x="8778240" y="4846320"/>
            <a:ext cx="2624328" cy="18288"/>
          </a:xfrm>
          <a:prstGeom prst="rect">
            <a:avLst/>
          </a:prstGeom>
          <a:solidFill>
            <a:srgbClr val="12233F"/>
          </a:solidFill>
          <a:ln/>
        </p:spPr>
      </p:sp>
      <p:sp>
        <p:nvSpPr>
          <p:cNvPr id="87" name="Text 84"/>
          <p:cNvSpPr/>
          <p:nvPr/>
        </p:nvSpPr>
        <p:spPr>
          <a:xfrm>
            <a:off x="8778240" y="4937760"/>
            <a:ext cx="2624328" cy="548640"/>
          </a:xfrm>
          <a:prstGeom prst="rect">
            <a:avLst/>
          </a:prstGeom>
          <a:noFill/>
          <a:ln/>
        </p:spPr>
        <p:txBody>
          <a:bodyPr wrap="square" rtlCol="0" anchor="ctr"/>
          <a:lstStyle/>
          <a:p>
            <a:pPr marL="0" indent="0">
              <a:lnSpc>
                <a:spcPct val="115000"/>
              </a:lnSpc>
              <a:buNone/>
            </a:pPr>
            <a:r>
              <a:rPr lang="en-US" sz="1250" b="1" dirty="0">
                <a:solidFill>
                  <a:srgbClr val="12233F"/>
                </a:solidFill>
                <a:latin typeface="Arial" pitchFamily="34" charset="0"/>
                <a:ea typeface="Arial" pitchFamily="34" charset="-122"/>
                <a:cs typeface="Arial" pitchFamily="34" charset="-120"/>
              </a:rPr>
              <a:t>Enhanced Decision Support</a:t>
            </a:r>
            <a:endParaRPr lang="en-US" sz="1250" dirty="0"/>
          </a:p>
        </p:txBody>
      </p:sp>
      <p:sp>
        <p:nvSpPr>
          <p:cNvPr id="88" name="Text 85"/>
          <p:cNvSpPr/>
          <p:nvPr/>
        </p:nvSpPr>
        <p:spPr>
          <a:xfrm>
            <a:off x="8778240" y="5504688"/>
            <a:ext cx="2624328" cy="457200"/>
          </a:xfrm>
          <a:prstGeom prst="rect">
            <a:avLst/>
          </a:prstGeom>
          <a:noFill/>
          <a:ln/>
        </p:spPr>
        <p:txBody>
          <a:bodyPr wrap="square" rtlCol="0" anchor="ctr"/>
          <a:lstStyle/>
          <a:p>
            <a:pPr marL="0" indent="0">
              <a:lnSpc>
                <a:spcPct val="125000"/>
              </a:lnSpc>
              <a:buNone/>
            </a:pPr>
            <a:r>
              <a:rPr lang="en-US" sz="1000" dirty="0">
                <a:solidFill>
                  <a:srgbClr val="6B6B6B"/>
                </a:solidFill>
                <a:latin typeface="Arial" pitchFamily="34" charset="0"/>
                <a:ea typeface="Arial" pitchFamily="34" charset="-122"/>
                <a:cs typeface="Arial" pitchFamily="34" charset="-120"/>
              </a:rPr>
              <a:t>A stronger basis for day-to-day operational decisions.</a:t>
            </a:r>
            <a:endParaRPr lang="en-US" sz="1000" dirty="0"/>
          </a:p>
        </p:txBody>
      </p:sp>
      <p:grpSp>
        <p:nvGrpSpPr>
          <p:cNvPr id="91" name="Group 3">
            <a:extLst>
              <a:ext uri="{FF2B5EF4-FFF2-40B4-BE49-F238E27FC236}">
                <a16:creationId xmlns:a16="http://schemas.microsoft.com/office/drawing/2014/main" id="{EF89231B-71EF-5721-47C8-EB5E2951E595}"/>
              </a:ext>
            </a:extLst>
          </p:cNvPr>
          <p:cNvGrpSpPr/>
          <p:nvPr/>
        </p:nvGrpSpPr>
        <p:grpSpPr>
          <a:xfrm>
            <a:off x="10056527" y="6189371"/>
            <a:ext cx="2136000" cy="669944"/>
            <a:chOff x="0" y="0"/>
            <a:chExt cx="4272001" cy="1339888"/>
          </a:xfrm>
        </p:grpSpPr>
        <p:sp>
          <p:nvSpPr>
            <p:cNvPr id="92" name="Freeform 4">
              <a:extLst>
                <a:ext uri="{FF2B5EF4-FFF2-40B4-BE49-F238E27FC236}">
                  <a16:creationId xmlns:a16="http://schemas.microsoft.com/office/drawing/2014/main" id="{1195C039-883C-09F8-AE4D-A0D864B6F24B}"/>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3"/>
              <a:stretch>
                <a:fillRect l="-470838" t="-924095" b="-2"/>
              </a:stretch>
            </a:blipFill>
          </p:spPr>
        </p:sp>
      </p:grpSp>
      <p:grpSp>
        <p:nvGrpSpPr>
          <p:cNvPr id="93" name="Group 5">
            <a:extLst>
              <a:ext uri="{FF2B5EF4-FFF2-40B4-BE49-F238E27FC236}">
                <a16:creationId xmlns:a16="http://schemas.microsoft.com/office/drawing/2014/main" id="{FF1F2C43-E397-7E1A-7205-2CBD7B2E2DE2}"/>
              </a:ext>
            </a:extLst>
          </p:cNvPr>
          <p:cNvGrpSpPr/>
          <p:nvPr/>
        </p:nvGrpSpPr>
        <p:grpSpPr>
          <a:xfrm>
            <a:off x="623354" y="1069849"/>
            <a:ext cx="3305704" cy="45719"/>
            <a:chOff x="0" y="0"/>
            <a:chExt cx="14068412" cy="121920"/>
          </a:xfrm>
        </p:grpSpPr>
        <p:sp>
          <p:nvSpPr>
            <p:cNvPr id="94" name="Freeform 6" descr="D:\Corp Comm Department Work 2015\Brand Adani 2012\adani_gradient_master.jpg">
              <a:extLst>
                <a:ext uri="{FF2B5EF4-FFF2-40B4-BE49-F238E27FC236}">
                  <a16:creationId xmlns:a16="http://schemas.microsoft.com/office/drawing/2014/main" id="{EAB24398-786F-7F07-A4CE-3955651C1F07}"/>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4"/>
              <a:stretch>
                <a:fillRect b="-5072"/>
              </a:stretch>
            </a:blipFill>
          </p:spPr>
          <p:txBody>
            <a:bodyPr/>
            <a:lstStyle/>
            <a:p>
              <a:endParaRPr lang="en-IN"/>
            </a:p>
          </p:txBody>
        </p:sp>
      </p:grpSp>
    </p:spTree>
    <p:extLst>
      <p:ext uri="{BB962C8B-B14F-4D97-AF65-F5344CB8AC3E}">
        <p14:creationId xmlns:p14="http://schemas.microsoft.com/office/powerpoint/2010/main" val="3311022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hape 67">
            <a:extLst>
              <a:ext uri="{FF2B5EF4-FFF2-40B4-BE49-F238E27FC236}">
                <a16:creationId xmlns:a16="http://schemas.microsoft.com/office/drawing/2014/main" id="{AA20C996-B967-33DC-41D1-4F2B7C1D3727}"/>
              </a:ext>
            </a:extLst>
          </p:cNvPr>
          <p:cNvSpPr/>
          <p:nvPr/>
        </p:nvSpPr>
        <p:spPr>
          <a:xfrm>
            <a:off x="7566725" y="1156334"/>
            <a:ext cx="1269989" cy="481719"/>
          </a:xfrm>
          <a:prstGeom prst="rect">
            <a:avLst/>
          </a:prstGeom>
          <a:solidFill>
            <a:srgbClr val="F9F9FA"/>
          </a:solidFill>
          <a:ln w="12700">
            <a:solidFill>
              <a:srgbClr val="12233F"/>
            </a:solidFill>
            <a:prstDash val="solid"/>
          </a:ln>
        </p:spPr>
      </p:sp>
      <p:sp>
        <p:nvSpPr>
          <p:cNvPr id="66" name="Shape 63"/>
          <p:cNvSpPr/>
          <p:nvPr/>
        </p:nvSpPr>
        <p:spPr>
          <a:xfrm>
            <a:off x="9978992" y="1784966"/>
            <a:ext cx="1691640" cy="706656"/>
          </a:xfrm>
          <a:prstGeom prst="rect">
            <a:avLst/>
          </a:prstGeom>
          <a:solidFill>
            <a:srgbClr val="FFFFFF"/>
          </a:solidFill>
          <a:ln w="12700">
            <a:solidFill>
              <a:srgbClr val="12233F"/>
            </a:solidFill>
            <a:prstDash val="solid"/>
          </a:ln>
        </p:spPr>
      </p:sp>
      <p:sp>
        <p:nvSpPr>
          <p:cNvPr id="2" name="Text 0"/>
          <p:cNvSpPr/>
          <p:nvPr/>
        </p:nvSpPr>
        <p:spPr>
          <a:xfrm>
            <a:off x="548640" y="502920"/>
            <a:ext cx="8686800" cy="457200"/>
          </a:xfrm>
          <a:prstGeom prst="rect">
            <a:avLst/>
          </a:prstGeom>
          <a:noFill/>
          <a:ln/>
        </p:spPr>
        <p:txBody>
          <a:bodyPr wrap="square" rtlCol="0" anchor="ctr"/>
          <a:lstStyle/>
          <a:p>
            <a:pPr marL="0" indent="0">
              <a:buNone/>
            </a:pPr>
            <a:r>
              <a:rPr lang="en-US" sz="2400" dirty="0">
                <a:solidFill>
                  <a:srgbClr val="0070C0"/>
                </a:solidFill>
                <a:latin typeface="Arial" pitchFamily="34" charset="0"/>
                <a:ea typeface="Arial" pitchFamily="34" charset="-122"/>
                <a:cs typeface="Arial" pitchFamily="34" charset="-120"/>
              </a:rPr>
              <a:t>Current Operational Workflow</a:t>
            </a:r>
            <a:endParaRPr lang="en-US" sz="2400" dirty="0"/>
          </a:p>
        </p:txBody>
      </p:sp>
      <p:sp>
        <p:nvSpPr>
          <p:cNvPr id="54" name="Text 51"/>
          <p:cNvSpPr/>
          <p:nvPr/>
        </p:nvSpPr>
        <p:spPr>
          <a:xfrm>
            <a:off x="560288" y="1192257"/>
            <a:ext cx="7315200" cy="201168"/>
          </a:xfrm>
          <a:prstGeom prst="rect">
            <a:avLst/>
          </a:prstGeom>
          <a:noFill/>
          <a:ln/>
        </p:spPr>
        <p:txBody>
          <a:bodyPr wrap="square" rtlCol="0" anchor="ctr"/>
          <a:lstStyle/>
          <a:p>
            <a:pPr marL="0" indent="0">
              <a:buNone/>
            </a:pPr>
            <a:r>
              <a:rPr lang="en-US" sz="1000" b="1" kern="0" spc="110" dirty="0">
                <a:solidFill>
                  <a:srgbClr val="6B6B6B"/>
                </a:solidFill>
                <a:latin typeface="Arial" pitchFamily="34" charset="0"/>
                <a:ea typeface="Arial" pitchFamily="34" charset="-122"/>
                <a:cs typeface="Arial" pitchFamily="34" charset="-120"/>
              </a:rPr>
              <a:t>OPERATIONAL DATA FLOW</a:t>
            </a:r>
            <a:endParaRPr lang="en-US" sz="1000" dirty="0"/>
          </a:p>
        </p:txBody>
      </p:sp>
      <p:sp>
        <p:nvSpPr>
          <p:cNvPr id="55" name="Shape 52"/>
          <p:cNvSpPr/>
          <p:nvPr/>
        </p:nvSpPr>
        <p:spPr>
          <a:xfrm>
            <a:off x="849162" y="1800396"/>
            <a:ext cx="1691640" cy="674827"/>
          </a:xfrm>
          <a:prstGeom prst="rect">
            <a:avLst/>
          </a:prstGeom>
          <a:solidFill>
            <a:srgbClr val="F9F9FA"/>
          </a:solidFill>
          <a:ln w="12700">
            <a:solidFill>
              <a:srgbClr val="12233F"/>
            </a:solidFill>
            <a:prstDash val="solid"/>
          </a:ln>
        </p:spPr>
      </p:sp>
      <p:sp>
        <p:nvSpPr>
          <p:cNvPr id="56" name="Text 53"/>
          <p:cNvSpPr/>
          <p:nvPr/>
        </p:nvSpPr>
        <p:spPr>
          <a:xfrm>
            <a:off x="841248" y="1808865"/>
            <a:ext cx="1685544" cy="658368"/>
          </a:xfrm>
          <a:prstGeom prst="rect">
            <a:avLst/>
          </a:prstGeom>
          <a:noFill/>
          <a:ln/>
        </p:spPr>
        <p:txBody>
          <a:bodyPr wrap="square" rtlCol="0" anchor="ctr"/>
          <a:lstStyle/>
          <a:p>
            <a:pPr marL="0" indent="0" algn="ctr">
              <a:lnSpc>
                <a:spcPct val="110000"/>
              </a:lnSpc>
              <a:buNone/>
            </a:pPr>
            <a:r>
              <a:rPr lang="en-US" sz="1100" b="1" dirty="0">
                <a:solidFill>
                  <a:srgbClr val="12233F"/>
                </a:solidFill>
                <a:latin typeface="Arial" pitchFamily="34" charset="0"/>
                <a:ea typeface="Arial" pitchFamily="34" charset="-122"/>
                <a:cs typeface="Arial" pitchFamily="34" charset="-120"/>
              </a:rPr>
              <a:t>GPS Satellites</a:t>
            </a:r>
          </a:p>
          <a:p>
            <a:pPr marL="0" indent="0" algn="ctr">
              <a:lnSpc>
                <a:spcPct val="110000"/>
              </a:lnSpc>
              <a:buNone/>
            </a:pPr>
            <a:r>
              <a:rPr lang="en-US" sz="1100" b="1" dirty="0">
                <a:solidFill>
                  <a:srgbClr val="12233F"/>
                </a:solidFill>
                <a:latin typeface="Arial" pitchFamily="34" charset="0"/>
                <a:cs typeface="Arial" pitchFamily="34" charset="-120"/>
              </a:rPr>
              <a:t>(GNSS Constellation)</a:t>
            </a:r>
            <a:endParaRPr lang="en-US" sz="1100" dirty="0"/>
          </a:p>
        </p:txBody>
      </p:sp>
      <p:sp>
        <p:nvSpPr>
          <p:cNvPr id="57" name="Shape 54"/>
          <p:cNvSpPr/>
          <p:nvPr/>
        </p:nvSpPr>
        <p:spPr>
          <a:xfrm>
            <a:off x="2532888" y="2111663"/>
            <a:ext cx="228600" cy="0"/>
          </a:xfrm>
          <a:prstGeom prst="line">
            <a:avLst/>
          </a:prstGeom>
          <a:noFill/>
          <a:ln w="15875">
            <a:solidFill>
              <a:srgbClr val="6B6B6B"/>
            </a:solidFill>
            <a:prstDash val="solid"/>
            <a:tailEnd type="triangle"/>
          </a:ln>
        </p:spPr>
      </p:sp>
      <p:sp>
        <p:nvSpPr>
          <p:cNvPr id="58" name="Shape 55"/>
          <p:cNvSpPr/>
          <p:nvPr/>
        </p:nvSpPr>
        <p:spPr>
          <a:xfrm>
            <a:off x="2761488" y="1816856"/>
            <a:ext cx="1691640" cy="658368"/>
          </a:xfrm>
          <a:prstGeom prst="rect">
            <a:avLst/>
          </a:prstGeom>
          <a:solidFill>
            <a:srgbClr val="F9F9FA"/>
          </a:solidFill>
          <a:ln w="12700">
            <a:solidFill>
              <a:srgbClr val="12233F"/>
            </a:solidFill>
            <a:prstDash val="solid"/>
          </a:ln>
        </p:spPr>
      </p:sp>
      <p:sp>
        <p:nvSpPr>
          <p:cNvPr id="59" name="Text 56"/>
          <p:cNvSpPr/>
          <p:nvPr/>
        </p:nvSpPr>
        <p:spPr>
          <a:xfrm>
            <a:off x="2731029" y="1808865"/>
            <a:ext cx="1737360" cy="658368"/>
          </a:xfrm>
          <a:prstGeom prst="rect">
            <a:avLst/>
          </a:prstGeom>
          <a:noFill/>
          <a:ln/>
        </p:spPr>
        <p:txBody>
          <a:bodyPr wrap="square" rtlCol="0" anchor="ctr"/>
          <a:lstStyle/>
          <a:p>
            <a:pPr marL="0" indent="0" algn="ctr">
              <a:lnSpc>
                <a:spcPct val="110000"/>
              </a:lnSpc>
              <a:buNone/>
            </a:pPr>
            <a:r>
              <a:rPr lang="en-US" sz="1100" b="1" dirty="0">
                <a:solidFill>
                  <a:srgbClr val="12233F"/>
                </a:solidFill>
                <a:latin typeface="Arial" pitchFamily="34" charset="0"/>
                <a:cs typeface="Arial" pitchFamily="34" charset="-120"/>
              </a:rPr>
              <a:t>Vehicle Tracking Unit</a:t>
            </a:r>
            <a:endParaRPr lang="en-US" sz="1100" dirty="0"/>
          </a:p>
        </p:txBody>
      </p:sp>
      <p:sp>
        <p:nvSpPr>
          <p:cNvPr id="60" name="Shape 57"/>
          <p:cNvSpPr/>
          <p:nvPr/>
        </p:nvSpPr>
        <p:spPr>
          <a:xfrm>
            <a:off x="5905313" y="2111663"/>
            <a:ext cx="228600" cy="0"/>
          </a:xfrm>
          <a:prstGeom prst="line">
            <a:avLst/>
          </a:prstGeom>
          <a:noFill/>
          <a:ln w="15875">
            <a:solidFill>
              <a:srgbClr val="6B6B6B"/>
            </a:solidFill>
            <a:prstDash val="solid"/>
            <a:tailEnd type="triangle"/>
          </a:ln>
        </p:spPr>
      </p:sp>
      <p:sp>
        <p:nvSpPr>
          <p:cNvPr id="61" name="Shape 58"/>
          <p:cNvSpPr/>
          <p:nvPr/>
        </p:nvSpPr>
        <p:spPr>
          <a:xfrm>
            <a:off x="6126480" y="1837760"/>
            <a:ext cx="1691640" cy="658368"/>
          </a:xfrm>
          <a:prstGeom prst="rect">
            <a:avLst/>
          </a:prstGeom>
          <a:solidFill>
            <a:srgbClr val="F9F9FA"/>
          </a:solidFill>
          <a:ln w="12700">
            <a:solidFill>
              <a:srgbClr val="12233F"/>
            </a:solidFill>
            <a:prstDash val="solid"/>
          </a:ln>
        </p:spPr>
        <p:txBody>
          <a:bodyPr/>
          <a:lstStyle/>
          <a:p>
            <a:pPr algn="ctr"/>
            <a:endParaRPr lang="en-IN" sz="1100" dirty="0">
              <a:latin typeface="Arial" panose="020B0604020202020204" pitchFamily="34" charset="0"/>
              <a:cs typeface="Arial" panose="020B0604020202020204" pitchFamily="34" charset="0"/>
            </a:endParaRPr>
          </a:p>
        </p:txBody>
      </p:sp>
      <p:sp>
        <p:nvSpPr>
          <p:cNvPr id="63" name="Shape 60"/>
          <p:cNvSpPr/>
          <p:nvPr/>
        </p:nvSpPr>
        <p:spPr>
          <a:xfrm>
            <a:off x="8052736" y="1811370"/>
            <a:ext cx="1691640" cy="684758"/>
          </a:xfrm>
          <a:prstGeom prst="rect">
            <a:avLst/>
          </a:prstGeom>
          <a:solidFill>
            <a:srgbClr val="F9F9FA"/>
          </a:solidFill>
          <a:ln w="12700">
            <a:solidFill>
              <a:srgbClr val="12233F"/>
            </a:solidFill>
            <a:prstDash val="solid"/>
          </a:ln>
        </p:spPr>
        <p:txBody>
          <a:bodyPr/>
          <a:lstStyle/>
          <a:p>
            <a:endParaRPr lang="en-IN" dirty="0"/>
          </a:p>
        </p:txBody>
      </p:sp>
      <p:sp>
        <p:nvSpPr>
          <p:cNvPr id="62" name="Text 59"/>
          <p:cNvSpPr/>
          <p:nvPr/>
        </p:nvSpPr>
        <p:spPr>
          <a:xfrm>
            <a:off x="10035540" y="1800397"/>
            <a:ext cx="1600200" cy="658368"/>
          </a:xfrm>
          <a:prstGeom prst="rect">
            <a:avLst/>
          </a:prstGeom>
          <a:noFill/>
          <a:ln/>
        </p:spPr>
        <p:txBody>
          <a:bodyPr wrap="square" rtlCol="0" anchor="ctr"/>
          <a:lstStyle/>
          <a:p>
            <a:pPr marL="0" indent="0" algn="ctr">
              <a:lnSpc>
                <a:spcPct val="110000"/>
              </a:lnSpc>
              <a:buNone/>
            </a:pPr>
            <a:r>
              <a:rPr lang="en-US" sz="1100" b="1" dirty="0">
                <a:solidFill>
                  <a:srgbClr val="12233F"/>
                </a:solidFill>
                <a:latin typeface="Arial" pitchFamily="34" charset="0"/>
                <a:ea typeface="Arial" pitchFamily="34" charset="-122"/>
                <a:cs typeface="Arial" pitchFamily="34" charset="-120"/>
              </a:rPr>
              <a:t>Dashboard &amp; MIS Reports</a:t>
            </a:r>
          </a:p>
        </p:txBody>
      </p:sp>
      <p:sp>
        <p:nvSpPr>
          <p:cNvPr id="64" name="Text 61"/>
          <p:cNvSpPr/>
          <p:nvPr/>
        </p:nvSpPr>
        <p:spPr>
          <a:xfrm>
            <a:off x="8002061" y="1891791"/>
            <a:ext cx="1819080" cy="566973"/>
          </a:xfrm>
          <a:prstGeom prst="rect">
            <a:avLst/>
          </a:prstGeom>
          <a:noFill/>
          <a:ln/>
        </p:spPr>
        <p:txBody>
          <a:bodyPr wrap="square" rtlCol="0" anchor="ctr"/>
          <a:lstStyle/>
          <a:p>
            <a:pPr marL="0" indent="0" algn="ctr">
              <a:lnSpc>
                <a:spcPct val="110000"/>
              </a:lnSpc>
              <a:buNone/>
            </a:pPr>
            <a:r>
              <a:rPr lang="en-US" sz="1100" b="1" dirty="0">
                <a:solidFill>
                  <a:srgbClr val="12233F"/>
                </a:solidFill>
                <a:latin typeface="Arial" pitchFamily="34" charset="0"/>
                <a:ea typeface="Arial" pitchFamily="34" charset="-122"/>
                <a:cs typeface="Arial" pitchFamily="34" charset="-120"/>
              </a:rPr>
              <a:t>Central FMS Server</a:t>
            </a:r>
          </a:p>
          <a:p>
            <a:pPr marL="0" indent="0" algn="ctr">
              <a:lnSpc>
                <a:spcPct val="110000"/>
              </a:lnSpc>
              <a:buNone/>
            </a:pPr>
            <a:r>
              <a:rPr lang="en-US" sz="1100" b="1" dirty="0">
                <a:solidFill>
                  <a:srgbClr val="12233F"/>
                </a:solidFill>
                <a:latin typeface="Arial" pitchFamily="34" charset="0"/>
                <a:cs typeface="Arial" pitchFamily="34" charset="-120"/>
              </a:rPr>
              <a:t>(Data Processing + Analytical)</a:t>
            </a:r>
            <a:endParaRPr lang="en-US" sz="1100" dirty="0"/>
          </a:p>
        </p:txBody>
      </p:sp>
      <p:sp>
        <p:nvSpPr>
          <p:cNvPr id="65" name="Shape 62"/>
          <p:cNvSpPr/>
          <p:nvPr/>
        </p:nvSpPr>
        <p:spPr>
          <a:xfrm>
            <a:off x="7817413" y="2156301"/>
            <a:ext cx="228600" cy="0"/>
          </a:xfrm>
          <a:prstGeom prst="line">
            <a:avLst/>
          </a:prstGeom>
          <a:noFill/>
          <a:ln w="15875">
            <a:solidFill>
              <a:srgbClr val="6B6B6B"/>
            </a:solidFill>
            <a:prstDash val="solid"/>
            <a:tailEnd type="triangle"/>
          </a:ln>
        </p:spPr>
      </p:sp>
      <p:sp>
        <p:nvSpPr>
          <p:cNvPr id="67" name="Text 64"/>
          <p:cNvSpPr/>
          <p:nvPr/>
        </p:nvSpPr>
        <p:spPr>
          <a:xfrm>
            <a:off x="6125774" y="1905843"/>
            <a:ext cx="1691639" cy="561390"/>
          </a:xfrm>
          <a:prstGeom prst="rect">
            <a:avLst/>
          </a:prstGeom>
          <a:noFill/>
          <a:ln/>
        </p:spPr>
        <p:txBody>
          <a:bodyPr wrap="square" rtlCol="0" anchor="ctr"/>
          <a:lstStyle/>
          <a:p>
            <a:pPr marL="0" indent="0" algn="ctr">
              <a:lnSpc>
                <a:spcPct val="110000"/>
              </a:lnSpc>
              <a:buNone/>
            </a:pPr>
            <a:r>
              <a:rPr lang="en-US" sz="1100" b="1" dirty="0">
                <a:solidFill>
                  <a:srgbClr val="12233F"/>
                </a:solidFill>
                <a:latin typeface="Arial" pitchFamily="34" charset="0"/>
                <a:ea typeface="Arial" pitchFamily="34" charset="-122"/>
                <a:cs typeface="Arial" pitchFamily="34" charset="-120"/>
              </a:rPr>
              <a:t>Cellular Transmission</a:t>
            </a:r>
            <a:endParaRPr lang="en-US" sz="1100" dirty="0"/>
          </a:p>
        </p:txBody>
      </p:sp>
      <p:sp>
        <p:nvSpPr>
          <p:cNvPr id="69" name="Text 66"/>
          <p:cNvSpPr/>
          <p:nvPr/>
        </p:nvSpPr>
        <p:spPr>
          <a:xfrm>
            <a:off x="7502531" y="1115206"/>
            <a:ext cx="1445053" cy="466345"/>
          </a:xfrm>
          <a:prstGeom prst="rect">
            <a:avLst/>
          </a:prstGeom>
          <a:noFill/>
          <a:ln/>
        </p:spPr>
        <p:txBody>
          <a:bodyPr wrap="square" rtlCol="0" anchor="ctr"/>
          <a:lstStyle/>
          <a:p>
            <a:pPr marL="0" indent="0" algn="ctr">
              <a:lnSpc>
                <a:spcPct val="110000"/>
              </a:lnSpc>
              <a:buNone/>
            </a:pPr>
            <a:r>
              <a:rPr lang="en-US" sz="900" dirty="0">
                <a:solidFill>
                  <a:srgbClr val="12233F"/>
                </a:solidFill>
                <a:latin typeface="Calibri (Body)"/>
                <a:ea typeface="Arial" pitchFamily="34" charset="-122"/>
                <a:cs typeface="Arial" pitchFamily="34" charset="-120"/>
              </a:rPr>
              <a:t>ROM Coal</a:t>
            </a:r>
            <a:endParaRPr lang="en-US" sz="900" dirty="0">
              <a:latin typeface="Calibri (Body)"/>
            </a:endParaRPr>
          </a:p>
          <a:p>
            <a:pPr marL="0" indent="0" algn="ctr">
              <a:lnSpc>
                <a:spcPct val="110000"/>
              </a:lnSpc>
              <a:buNone/>
            </a:pPr>
            <a:r>
              <a:rPr lang="en-US" sz="900" dirty="0">
                <a:solidFill>
                  <a:srgbClr val="12233F"/>
                </a:solidFill>
                <a:latin typeface="Calibri (Body)"/>
                <a:ea typeface="Arial" pitchFamily="34" charset="-122"/>
                <a:cs typeface="Arial" pitchFamily="34" charset="-120"/>
              </a:rPr>
              <a:t>(Weighbridge Report)</a:t>
            </a:r>
            <a:endParaRPr lang="en-US" sz="900" dirty="0">
              <a:latin typeface="Calibri (Body)"/>
            </a:endParaRPr>
          </a:p>
        </p:txBody>
      </p:sp>
      <p:sp>
        <p:nvSpPr>
          <p:cNvPr id="72" name="Shape 69"/>
          <p:cNvSpPr/>
          <p:nvPr/>
        </p:nvSpPr>
        <p:spPr>
          <a:xfrm>
            <a:off x="4455676" y="2150849"/>
            <a:ext cx="108000" cy="10973"/>
          </a:xfrm>
          <a:prstGeom prst="rect">
            <a:avLst/>
          </a:prstGeom>
          <a:solidFill>
            <a:srgbClr val="6B6B6B"/>
          </a:solidFill>
          <a:ln/>
        </p:spPr>
      </p:sp>
      <p:sp>
        <p:nvSpPr>
          <p:cNvPr id="73" name="Shape 70"/>
          <p:cNvSpPr/>
          <p:nvPr/>
        </p:nvSpPr>
        <p:spPr>
          <a:xfrm>
            <a:off x="4531766" y="1778451"/>
            <a:ext cx="10973" cy="792000"/>
          </a:xfrm>
          <a:prstGeom prst="rect">
            <a:avLst/>
          </a:prstGeom>
          <a:solidFill>
            <a:srgbClr val="6B6B6B"/>
          </a:solidFill>
          <a:ln/>
        </p:spPr>
        <p:txBody>
          <a:bodyPr anchor="ctr"/>
          <a:lstStyle/>
          <a:p>
            <a:endParaRPr lang="en-IN"/>
          </a:p>
        </p:txBody>
      </p:sp>
      <p:sp>
        <p:nvSpPr>
          <p:cNvPr id="76" name="Shape 73"/>
          <p:cNvSpPr/>
          <p:nvPr/>
        </p:nvSpPr>
        <p:spPr>
          <a:xfrm>
            <a:off x="7607808" y="1366114"/>
            <a:ext cx="0" cy="10973"/>
          </a:xfrm>
          <a:prstGeom prst="rect">
            <a:avLst/>
          </a:prstGeom>
          <a:solidFill>
            <a:srgbClr val="6B6B6B"/>
          </a:solidFill>
          <a:ln/>
        </p:spPr>
      </p:sp>
      <p:sp>
        <p:nvSpPr>
          <p:cNvPr id="77" name="Shape 74"/>
          <p:cNvSpPr/>
          <p:nvPr/>
        </p:nvSpPr>
        <p:spPr>
          <a:xfrm>
            <a:off x="7607808" y="2024482"/>
            <a:ext cx="0" cy="10973"/>
          </a:xfrm>
          <a:prstGeom prst="rect">
            <a:avLst/>
          </a:prstGeom>
          <a:solidFill>
            <a:srgbClr val="6B6B6B"/>
          </a:solidFill>
          <a:ln/>
        </p:spPr>
      </p:sp>
      <p:sp>
        <p:nvSpPr>
          <p:cNvPr id="79" name="Shape 76"/>
          <p:cNvSpPr/>
          <p:nvPr/>
        </p:nvSpPr>
        <p:spPr>
          <a:xfrm>
            <a:off x="4540570" y="1784966"/>
            <a:ext cx="160020" cy="0"/>
          </a:xfrm>
          <a:prstGeom prst="line">
            <a:avLst/>
          </a:prstGeom>
          <a:noFill/>
          <a:ln w="15875">
            <a:solidFill>
              <a:srgbClr val="6B6B6B"/>
            </a:solidFill>
            <a:prstDash val="solid"/>
            <a:tailEnd type="triangle"/>
          </a:ln>
        </p:spPr>
      </p:sp>
      <p:sp>
        <p:nvSpPr>
          <p:cNvPr id="80" name="Text 77"/>
          <p:cNvSpPr/>
          <p:nvPr/>
        </p:nvSpPr>
        <p:spPr>
          <a:xfrm>
            <a:off x="560288" y="3019304"/>
            <a:ext cx="11091672" cy="320040"/>
          </a:xfrm>
          <a:prstGeom prst="rect">
            <a:avLst/>
          </a:prstGeom>
          <a:noFill/>
          <a:ln/>
        </p:spPr>
        <p:txBody>
          <a:bodyPr wrap="square" rtlCol="0" anchor="ctr"/>
          <a:lstStyle/>
          <a:p>
            <a:pPr marL="0" indent="0" algn="ctr">
              <a:lnSpc>
                <a:spcPct val="120000"/>
              </a:lnSpc>
              <a:buNone/>
            </a:pPr>
            <a:r>
              <a:rPr lang="en-US" sz="1200" i="1" dirty="0">
                <a:solidFill>
                  <a:srgbClr val="6B6B6B"/>
                </a:solidFill>
                <a:latin typeface="Arial" pitchFamily="34" charset="0"/>
                <a:ea typeface="Arial" pitchFamily="34" charset="-122"/>
                <a:cs typeface="Arial" pitchFamily="34" charset="-120"/>
              </a:rPr>
              <a:t>Operational data is processed into production and performance insights for operational decision-making.</a:t>
            </a:r>
            <a:endParaRPr lang="en-US" sz="1200" dirty="0"/>
          </a:p>
        </p:txBody>
      </p:sp>
      <p:sp>
        <p:nvSpPr>
          <p:cNvPr id="81" name="Shape 78"/>
          <p:cNvSpPr/>
          <p:nvPr/>
        </p:nvSpPr>
        <p:spPr>
          <a:xfrm>
            <a:off x="560288" y="3347068"/>
            <a:ext cx="11091672" cy="6300"/>
          </a:xfrm>
          <a:prstGeom prst="rect">
            <a:avLst/>
          </a:prstGeom>
          <a:solidFill>
            <a:srgbClr val="D9D9D9"/>
          </a:solidFill>
          <a:ln/>
        </p:spPr>
      </p:sp>
      <p:sp>
        <p:nvSpPr>
          <p:cNvPr id="82" name="Text 79"/>
          <p:cNvSpPr/>
          <p:nvPr/>
        </p:nvSpPr>
        <p:spPr>
          <a:xfrm>
            <a:off x="502213" y="3461123"/>
            <a:ext cx="7315200" cy="157524"/>
          </a:xfrm>
          <a:prstGeom prst="rect">
            <a:avLst/>
          </a:prstGeom>
          <a:noFill/>
          <a:ln/>
        </p:spPr>
        <p:txBody>
          <a:bodyPr wrap="square" rtlCol="0" anchor="ctr"/>
          <a:lstStyle/>
          <a:p>
            <a:pPr marL="0" indent="0">
              <a:buNone/>
            </a:pPr>
            <a:r>
              <a:rPr lang="en-US" sz="1000" b="1" kern="0" spc="110" dirty="0">
                <a:solidFill>
                  <a:srgbClr val="6B6B6B"/>
                </a:solidFill>
                <a:latin typeface="Arial" pitchFamily="34" charset="0"/>
                <a:ea typeface="Arial" pitchFamily="34" charset="-122"/>
                <a:cs typeface="Arial" pitchFamily="34" charset="-120"/>
              </a:rPr>
              <a:t>CURRENT SYSTEM CAPABILITIES</a:t>
            </a:r>
            <a:endParaRPr lang="en-US" sz="1000" dirty="0"/>
          </a:p>
        </p:txBody>
      </p:sp>
      <p:sp>
        <p:nvSpPr>
          <p:cNvPr id="83" name="Shape 80"/>
          <p:cNvSpPr/>
          <p:nvPr/>
        </p:nvSpPr>
        <p:spPr>
          <a:xfrm>
            <a:off x="548640" y="3715419"/>
            <a:ext cx="2601468" cy="21481"/>
          </a:xfrm>
          <a:prstGeom prst="rect">
            <a:avLst/>
          </a:prstGeom>
          <a:solidFill>
            <a:srgbClr val="00A99D"/>
          </a:solidFill>
          <a:ln/>
        </p:spPr>
      </p:sp>
      <p:sp>
        <p:nvSpPr>
          <p:cNvPr id="84" name="Text 81"/>
          <p:cNvSpPr/>
          <p:nvPr/>
        </p:nvSpPr>
        <p:spPr>
          <a:xfrm>
            <a:off x="548640" y="3863912"/>
            <a:ext cx="2601468" cy="286406"/>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Fleet Visibility</a:t>
            </a:r>
            <a:endParaRPr lang="en-US" sz="1300" dirty="0"/>
          </a:p>
        </p:txBody>
      </p:sp>
      <p:sp>
        <p:nvSpPr>
          <p:cNvPr id="85" name="Text 82"/>
          <p:cNvSpPr/>
          <p:nvPr/>
        </p:nvSpPr>
        <p:spPr>
          <a:xfrm>
            <a:off x="548640" y="4229672"/>
            <a:ext cx="2601468" cy="286406"/>
          </a:xfrm>
          <a:prstGeom prst="rect">
            <a:avLst/>
          </a:prstGeom>
          <a:noFill/>
          <a:ln/>
        </p:spPr>
        <p:txBody>
          <a:bodyPr wrap="square" rtlCol="0" anchor="ctr"/>
          <a:lstStyle/>
          <a:p>
            <a:pPr marL="0" indent="0">
              <a:lnSpc>
                <a:spcPct val="120000"/>
              </a:lnSpc>
              <a:buNone/>
            </a:pPr>
            <a:r>
              <a:rPr lang="en-US" sz="1000" dirty="0">
                <a:solidFill>
                  <a:srgbClr val="6B6B6B"/>
                </a:solidFill>
                <a:latin typeface="Arial" pitchFamily="34" charset="0"/>
                <a:ea typeface="Arial" pitchFamily="34" charset="-122"/>
                <a:cs typeface="Arial" pitchFamily="34" charset="-120"/>
              </a:rPr>
              <a:t>Real-time equipment tracking</a:t>
            </a:r>
            <a:endParaRPr lang="en-US" sz="1000" dirty="0"/>
          </a:p>
        </p:txBody>
      </p:sp>
      <p:sp>
        <p:nvSpPr>
          <p:cNvPr id="86" name="Shape 83"/>
          <p:cNvSpPr/>
          <p:nvPr/>
        </p:nvSpPr>
        <p:spPr>
          <a:xfrm>
            <a:off x="3378708" y="3715419"/>
            <a:ext cx="2601468" cy="21481"/>
          </a:xfrm>
          <a:prstGeom prst="rect">
            <a:avLst/>
          </a:prstGeom>
          <a:solidFill>
            <a:srgbClr val="00A99D"/>
          </a:solidFill>
          <a:ln/>
        </p:spPr>
      </p:sp>
      <p:sp>
        <p:nvSpPr>
          <p:cNvPr id="87" name="Text 84"/>
          <p:cNvSpPr/>
          <p:nvPr/>
        </p:nvSpPr>
        <p:spPr>
          <a:xfrm>
            <a:off x="3378708" y="3863912"/>
            <a:ext cx="2601468" cy="286406"/>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Production Monitoring</a:t>
            </a:r>
            <a:endParaRPr lang="en-US" sz="1300" dirty="0"/>
          </a:p>
        </p:txBody>
      </p:sp>
      <p:sp>
        <p:nvSpPr>
          <p:cNvPr id="88" name="Text 85"/>
          <p:cNvSpPr/>
          <p:nvPr/>
        </p:nvSpPr>
        <p:spPr>
          <a:xfrm>
            <a:off x="3378708" y="4229672"/>
            <a:ext cx="2601468" cy="286406"/>
          </a:xfrm>
          <a:prstGeom prst="rect">
            <a:avLst/>
          </a:prstGeom>
          <a:noFill/>
          <a:ln/>
        </p:spPr>
        <p:txBody>
          <a:bodyPr wrap="square" rtlCol="0" anchor="ctr"/>
          <a:lstStyle/>
          <a:p>
            <a:pPr marL="0" indent="0">
              <a:lnSpc>
                <a:spcPct val="120000"/>
              </a:lnSpc>
              <a:buNone/>
            </a:pPr>
            <a:r>
              <a:rPr lang="en-US" sz="1000" dirty="0">
                <a:solidFill>
                  <a:srgbClr val="6B6B6B"/>
                </a:solidFill>
                <a:latin typeface="Arial" pitchFamily="34" charset="0"/>
                <a:ea typeface="Arial" pitchFamily="34" charset="-122"/>
                <a:cs typeface="Arial" pitchFamily="34" charset="-120"/>
              </a:rPr>
              <a:t>OB &amp; ROM production tracking</a:t>
            </a:r>
            <a:endParaRPr lang="en-US" sz="1000" dirty="0"/>
          </a:p>
        </p:txBody>
      </p:sp>
      <p:sp>
        <p:nvSpPr>
          <p:cNvPr id="89" name="Shape 86"/>
          <p:cNvSpPr/>
          <p:nvPr/>
        </p:nvSpPr>
        <p:spPr>
          <a:xfrm>
            <a:off x="6208776" y="3715419"/>
            <a:ext cx="2601468" cy="21481"/>
          </a:xfrm>
          <a:prstGeom prst="rect">
            <a:avLst/>
          </a:prstGeom>
          <a:solidFill>
            <a:srgbClr val="00A99D"/>
          </a:solidFill>
          <a:ln/>
        </p:spPr>
      </p:sp>
      <p:sp>
        <p:nvSpPr>
          <p:cNvPr id="90" name="Text 87"/>
          <p:cNvSpPr/>
          <p:nvPr/>
        </p:nvSpPr>
        <p:spPr>
          <a:xfrm>
            <a:off x="6208776" y="3863912"/>
            <a:ext cx="2601468" cy="286406"/>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Fuel Management</a:t>
            </a:r>
            <a:endParaRPr lang="en-US" sz="1300" dirty="0"/>
          </a:p>
        </p:txBody>
      </p:sp>
      <p:sp>
        <p:nvSpPr>
          <p:cNvPr id="91" name="Text 88"/>
          <p:cNvSpPr/>
          <p:nvPr/>
        </p:nvSpPr>
        <p:spPr>
          <a:xfrm>
            <a:off x="6208776" y="4229672"/>
            <a:ext cx="2601468" cy="286406"/>
          </a:xfrm>
          <a:prstGeom prst="rect">
            <a:avLst/>
          </a:prstGeom>
          <a:noFill/>
          <a:ln/>
        </p:spPr>
        <p:txBody>
          <a:bodyPr wrap="square" rtlCol="0" anchor="ctr"/>
          <a:lstStyle/>
          <a:p>
            <a:pPr marL="0" indent="0">
              <a:lnSpc>
                <a:spcPct val="120000"/>
              </a:lnSpc>
              <a:buNone/>
            </a:pPr>
            <a:r>
              <a:rPr lang="en-US" sz="1000" dirty="0">
                <a:solidFill>
                  <a:srgbClr val="6B6B6B"/>
                </a:solidFill>
                <a:latin typeface="Arial" pitchFamily="34" charset="0"/>
                <a:ea typeface="Arial" pitchFamily="34" charset="-122"/>
                <a:cs typeface="Arial" pitchFamily="34" charset="-120"/>
              </a:rPr>
              <a:t>RFID-based fuel monitoring</a:t>
            </a:r>
            <a:endParaRPr lang="en-US" sz="1000" dirty="0"/>
          </a:p>
        </p:txBody>
      </p:sp>
      <p:sp>
        <p:nvSpPr>
          <p:cNvPr id="92" name="Shape 89"/>
          <p:cNvSpPr/>
          <p:nvPr/>
        </p:nvSpPr>
        <p:spPr>
          <a:xfrm>
            <a:off x="9038844" y="3715419"/>
            <a:ext cx="2601468" cy="21481"/>
          </a:xfrm>
          <a:prstGeom prst="rect">
            <a:avLst/>
          </a:prstGeom>
          <a:solidFill>
            <a:srgbClr val="00A99D"/>
          </a:solidFill>
          <a:ln/>
        </p:spPr>
      </p:sp>
      <p:sp>
        <p:nvSpPr>
          <p:cNvPr id="93" name="Text 90"/>
          <p:cNvSpPr/>
          <p:nvPr/>
        </p:nvSpPr>
        <p:spPr>
          <a:xfrm>
            <a:off x="9038844" y="3863912"/>
            <a:ext cx="2601468" cy="286406"/>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Performance Reporting</a:t>
            </a:r>
            <a:endParaRPr lang="en-US" sz="1300" dirty="0"/>
          </a:p>
        </p:txBody>
      </p:sp>
      <p:sp>
        <p:nvSpPr>
          <p:cNvPr id="94" name="Text 91"/>
          <p:cNvSpPr/>
          <p:nvPr/>
        </p:nvSpPr>
        <p:spPr>
          <a:xfrm>
            <a:off x="9038844" y="4229672"/>
            <a:ext cx="2601468" cy="286406"/>
          </a:xfrm>
          <a:prstGeom prst="rect">
            <a:avLst/>
          </a:prstGeom>
          <a:noFill/>
          <a:ln/>
        </p:spPr>
        <p:txBody>
          <a:bodyPr wrap="square" rtlCol="0" anchor="ctr"/>
          <a:lstStyle/>
          <a:p>
            <a:pPr marL="0" indent="0">
              <a:lnSpc>
                <a:spcPct val="120000"/>
              </a:lnSpc>
              <a:buNone/>
            </a:pPr>
            <a:r>
              <a:rPr lang="en-US" sz="1000" dirty="0">
                <a:solidFill>
                  <a:srgbClr val="6B6B6B"/>
                </a:solidFill>
                <a:latin typeface="Arial" pitchFamily="34" charset="0"/>
                <a:ea typeface="Arial" pitchFamily="34" charset="-122"/>
                <a:cs typeface="Arial" pitchFamily="34" charset="-120"/>
              </a:rPr>
              <a:t>Availability, utilization &amp; MIS reporting</a:t>
            </a:r>
            <a:endParaRPr lang="en-US" sz="1000" dirty="0"/>
          </a:p>
        </p:txBody>
      </p:sp>
      <p:sp>
        <p:nvSpPr>
          <p:cNvPr id="95" name="Shape 92"/>
          <p:cNvSpPr/>
          <p:nvPr/>
        </p:nvSpPr>
        <p:spPr>
          <a:xfrm>
            <a:off x="560288" y="4691361"/>
            <a:ext cx="11091672" cy="7315"/>
          </a:xfrm>
          <a:prstGeom prst="rect">
            <a:avLst/>
          </a:prstGeom>
          <a:solidFill>
            <a:srgbClr val="D9D9D9"/>
          </a:solidFill>
          <a:ln/>
        </p:spPr>
      </p:sp>
      <p:sp>
        <p:nvSpPr>
          <p:cNvPr id="96" name="Text 93"/>
          <p:cNvSpPr/>
          <p:nvPr/>
        </p:nvSpPr>
        <p:spPr>
          <a:xfrm>
            <a:off x="548640" y="4870612"/>
            <a:ext cx="7315200" cy="117178"/>
          </a:xfrm>
          <a:prstGeom prst="rect">
            <a:avLst/>
          </a:prstGeom>
          <a:noFill/>
          <a:ln/>
        </p:spPr>
        <p:txBody>
          <a:bodyPr wrap="square" rtlCol="0" anchor="ctr"/>
          <a:lstStyle/>
          <a:p>
            <a:pPr marL="0" indent="0">
              <a:buNone/>
            </a:pPr>
            <a:r>
              <a:rPr lang="en-US" sz="1000" b="1" kern="0" spc="110" dirty="0">
                <a:solidFill>
                  <a:srgbClr val="6B6B6B"/>
                </a:solidFill>
                <a:latin typeface="Arial" pitchFamily="34" charset="0"/>
                <a:ea typeface="Arial" pitchFamily="34" charset="-122"/>
                <a:cs typeface="Arial" pitchFamily="34" charset="-120"/>
              </a:rPr>
              <a:t>KEY FOCUS AREAS</a:t>
            </a:r>
            <a:endParaRPr lang="en-US" sz="1000" dirty="0"/>
          </a:p>
        </p:txBody>
      </p:sp>
      <p:sp>
        <p:nvSpPr>
          <p:cNvPr id="97" name="Shape 94"/>
          <p:cNvSpPr/>
          <p:nvPr/>
        </p:nvSpPr>
        <p:spPr>
          <a:xfrm>
            <a:off x="548640" y="5159727"/>
            <a:ext cx="2601468" cy="23395"/>
          </a:xfrm>
          <a:prstGeom prst="rect">
            <a:avLst/>
          </a:prstGeom>
          <a:solidFill>
            <a:srgbClr val="12233F"/>
          </a:solidFill>
          <a:ln/>
        </p:spPr>
      </p:sp>
      <p:sp>
        <p:nvSpPr>
          <p:cNvPr id="98" name="Text 95"/>
          <p:cNvSpPr/>
          <p:nvPr/>
        </p:nvSpPr>
        <p:spPr>
          <a:xfrm>
            <a:off x="548640" y="5294352"/>
            <a:ext cx="2601468" cy="311928"/>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Production Accuracy</a:t>
            </a:r>
            <a:endParaRPr lang="en-US" sz="1300" dirty="0"/>
          </a:p>
        </p:txBody>
      </p:sp>
      <p:sp>
        <p:nvSpPr>
          <p:cNvPr id="99" name="Text 96"/>
          <p:cNvSpPr/>
          <p:nvPr/>
        </p:nvSpPr>
        <p:spPr>
          <a:xfrm>
            <a:off x="548640" y="5660112"/>
            <a:ext cx="2601468" cy="311928"/>
          </a:xfrm>
          <a:prstGeom prst="rect">
            <a:avLst/>
          </a:prstGeom>
          <a:noFill/>
          <a:ln/>
        </p:spPr>
        <p:txBody>
          <a:bodyPr wrap="square" rtlCol="0" anchor="ctr"/>
          <a:lstStyle/>
          <a:p>
            <a:pPr marL="0" indent="0">
              <a:lnSpc>
                <a:spcPct val="120000"/>
              </a:lnSpc>
              <a:buNone/>
            </a:pPr>
            <a:r>
              <a:rPr lang="en-US" sz="1000" dirty="0">
                <a:solidFill>
                  <a:srgbClr val="6B6B6B"/>
                </a:solidFill>
                <a:latin typeface="Arial" pitchFamily="34" charset="0"/>
                <a:ea typeface="Arial" pitchFamily="34" charset="-122"/>
                <a:cs typeface="Arial" pitchFamily="34" charset="-120"/>
              </a:rPr>
              <a:t>Static Truck Factor estimation</a:t>
            </a:r>
            <a:endParaRPr lang="en-US" sz="1000" dirty="0"/>
          </a:p>
        </p:txBody>
      </p:sp>
      <p:sp>
        <p:nvSpPr>
          <p:cNvPr id="100" name="Shape 97"/>
          <p:cNvSpPr/>
          <p:nvPr/>
        </p:nvSpPr>
        <p:spPr>
          <a:xfrm>
            <a:off x="3378708" y="5159727"/>
            <a:ext cx="2601468" cy="23395"/>
          </a:xfrm>
          <a:prstGeom prst="rect">
            <a:avLst/>
          </a:prstGeom>
          <a:solidFill>
            <a:srgbClr val="12233F"/>
          </a:solidFill>
          <a:ln/>
        </p:spPr>
      </p:sp>
      <p:sp>
        <p:nvSpPr>
          <p:cNvPr id="101" name="Text 98"/>
          <p:cNvSpPr/>
          <p:nvPr/>
        </p:nvSpPr>
        <p:spPr>
          <a:xfrm>
            <a:off x="3378708" y="5294352"/>
            <a:ext cx="2601468" cy="311928"/>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Machine Diagnostics</a:t>
            </a:r>
            <a:endParaRPr lang="en-US" sz="1300" dirty="0"/>
          </a:p>
        </p:txBody>
      </p:sp>
      <p:sp>
        <p:nvSpPr>
          <p:cNvPr id="102" name="Text 99"/>
          <p:cNvSpPr/>
          <p:nvPr/>
        </p:nvSpPr>
        <p:spPr>
          <a:xfrm>
            <a:off x="3378708" y="5660112"/>
            <a:ext cx="2601468" cy="311928"/>
          </a:xfrm>
          <a:prstGeom prst="rect">
            <a:avLst/>
          </a:prstGeom>
          <a:noFill/>
          <a:ln/>
        </p:spPr>
        <p:txBody>
          <a:bodyPr wrap="square" rtlCol="0" anchor="ctr"/>
          <a:lstStyle/>
          <a:p>
            <a:pPr marL="0" indent="0">
              <a:lnSpc>
                <a:spcPct val="120000"/>
              </a:lnSpc>
              <a:buNone/>
            </a:pPr>
            <a:r>
              <a:rPr lang="en-US" sz="1000" dirty="0">
                <a:solidFill>
                  <a:srgbClr val="6B6B6B"/>
                </a:solidFill>
                <a:latin typeface="Arial" pitchFamily="34" charset="0"/>
                <a:ea typeface="Arial" pitchFamily="34" charset="-122"/>
                <a:cs typeface="Arial" pitchFamily="34" charset="-120"/>
              </a:rPr>
              <a:t>No integrated machine diagnostics</a:t>
            </a:r>
            <a:endParaRPr lang="en-US" sz="1000" dirty="0"/>
          </a:p>
        </p:txBody>
      </p:sp>
      <p:sp>
        <p:nvSpPr>
          <p:cNvPr id="103" name="Shape 100"/>
          <p:cNvSpPr/>
          <p:nvPr/>
        </p:nvSpPr>
        <p:spPr>
          <a:xfrm>
            <a:off x="6208776" y="5159727"/>
            <a:ext cx="2601468" cy="23395"/>
          </a:xfrm>
          <a:prstGeom prst="rect">
            <a:avLst/>
          </a:prstGeom>
          <a:solidFill>
            <a:srgbClr val="12233F"/>
          </a:solidFill>
          <a:ln/>
        </p:spPr>
      </p:sp>
      <p:sp>
        <p:nvSpPr>
          <p:cNvPr id="104" name="Text 101"/>
          <p:cNvSpPr/>
          <p:nvPr/>
        </p:nvSpPr>
        <p:spPr>
          <a:xfrm>
            <a:off x="6208776" y="5294352"/>
            <a:ext cx="2601468" cy="311928"/>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Equipment Health Monitoring</a:t>
            </a:r>
            <a:endParaRPr lang="en-US" sz="1300" dirty="0"/>
          </a:p>
        </p:txBody>
      </p:sp>
      <p:sp>
        <p:nvSpPr>
          <p:cNvPr id="105" name="Text 102"/>
          <p:cNvSpPr/>
          <p:nvPr/>
        </p:nvSpPr>
        <p:spPr>
          <a:xfrm>
            <a:off x="6208776" y="5660112"/>
            <a:ext cx="2601468" cy="311928"/>
          </a:xfrm>
          <a:prstGeom prst="rect">
            <a:avLst/>
          </a:prstGeom>
          <a:noFill/>
          <a:ln/>
        </p:spPr>
        <p:txBody>
          <a:bodyPr wrap="square" rtlCol="0" anchor="ctr"/>
          <a:lstStyle/>
          <a:p>
            <a:pPr marL="0" indent="0">
              <a:lnSpc>
                <a:spcPct val="120000"/>
              </a:lnSpc>
              <a:buNone/>
            </a:pPr>
            <a:r>
              <a:rPr lang="en-US" sz="1000" dirty="0">
                <a:solidFill>
                  <a:srgbClr val="6B6B6B"/>
                </a:solidFill>
                <a:latin typeface="Arial" pitchFamily="34" charset="0"/>
                <a:ea typeface="Arial" pitchFamily="34" charset="-122"/>
                <a:cs typeface="Arial" pitchFamily="34" charset="-120"/>
              </a:rPr>
              <a:t>Limited access to machine health data</a:t>
            </a:r>
            <a:endParaRPr lang="en-US" sz="1000" dirty="0"/>
          </a:p>
        </p:txBody>
      </p:sp>
      <p:sp>
        <p:nvSpPr>
          <p:cNvPr id="106" name="Shape 103"/>
          <p:cNvSpPr/>
          <p:nvPr/>
        </p:nvSpPr>
        <p:spPr>
          <a:xfrm>
            <a:off x="9038844" y="5159727"/>
            <a:ext cx="2601468" cy="23395"/>
          </a:xfrm>
          <a:prstGeom prst="rect">
            <a:avLst/>
          </a:prstGeom>
          <a:solidFill>
            <a:srgbClr val="12233F"/>
          </a:solidFill>
          <a:ln/>
        </p:spPr>
      </p:sp>
      <p:sp>
        <p:nvSpPr>
          <p:cNvPr id="107" name="Text 104"/>
          <p:cNvSpPr/>
          <p:nvPr/>
        </p:nvSpPr>
        <p:spPr>
          <a:xfrm>
            <a:off x="9038844" y="5294352"/>
            <a:ext cx="2601468" cy="311928"/>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Operational Decision Support</a:t>
            </a:r>
            <a:endParaRPr lang="en-US" sz="1300" dirty="0"/>
          </a:p>
        </p:txBody>
      </p:sp>
      <p:sp>
        <p:nvSpPr>
          <p:cNvPr id="108" name="Text 105"/>
          <p:cNvSpPr/>
          <p:nvPr/>
        </p:nvSpPr>
        <p:spPr>
          <a:xfrm>
            <a:off x="9038844" y="5660112"/>
            <a:ext cx="2601468" cy="311928"/>
          </a:xfrm>
          <a:prstGeom prst="rect">
            <a:avLst/>
          </a:prstGeom>
          <a:noFill/>
          <a:ln/>
        </p:spPr>
        <p:txBody>
          <a:bodyPr wrap="square" rtlCol="0" anchor="ctr"/>
          <a:lstStyle/>
          <a:p>
            <a:pPr marL="0" indent="0">
              <a:lnSpc>
                <a:spcPct val="120000"/>
              </a:lnSpc>
              <a:buNone/>
            </a:pPr>
            <a:r>
              <a:rPr lang="en-US" sz="1000" dirty="0">
                <a:solidFill>
                  <a:srgbClr val="6B6B6B"/>
                </a:solidFill>
                <a:latin typeface="Arial" pitchFamily="34" charset="0"/>
                <a:ea typeface="Arial" pitchFamily="34" charset="-122"/>
                <a:cs typeface="Arial" pitchFamily="34" charset="-120"/>
              </a:rPr>
              <a:t>Limited real-time operational insights</a:t>
            </a:r>
            <a:endParaRPr lang="en-US" sz="1000" dirty="0"/>
          </a:p>
        </p:txBody>
      </p:sp>
      <p:sp>
        <p:nvSpPr>
          <p:cNvPr id="112" name="Shape 65">
            <a:extLst>
              <a:ext uri="{FF2B5EF4-FFF2-40B4-BE49-F238E27FC236}">
                <a16:creationId xmlns:a16="http://schemas.microsoft.com/office/drawing/2014/main" id="{7D58E0B6-4ACA-DBCA-A003-ADA933CA40EF}"/>
              </a:ext>
            </a:extLst>
          </p:cNvPr>
          <p:cNvSpPr/>
          <p:nvPr/>
        </p:nvSpPr>
        <p:spPr>
          <a:xfrm>
            <a:off x="4700590" y="1971867"/>
            <a:ext cx="1054061" cy="348345"/>
          </a:xfrm>
          <a:prstGeom prst="rect">
            <a:avLst/>
          </a:prstGeom>
          <a:solidFill>
            <a:srgbClr val="F9F9FA"/>
          </a:solidFill>
          <a:ln w="12700">
            <a:solidFill>
              <a:srgbClr val="12233F"/>
            </a:solidFill>
            <a:prstDash val="solid"/>
          </a:ln>
        </p:spPr>
        <p:txBody>
          <a:bodyPr/>
          <a:lstStyle/>
          <a:p>
            <a:pPr algn="ctr"/>
            <a:r>
              <a:rPr lang="en-US" sz="900" dirty="0"/>
              <a:t>Ignition </a:t>
            </a:r>
          </a:p>
          <a:p>
            <a:pPr algn="ctr"/>
            <a:r>
              <a:rPr lang="en-US" sz="900" dirty="0"/>
              <a:t>(Wire Sense)</a:t>
            </a:r>
            <a:endParaRPr lang="en-IN" sz="900" dirty="0"/>
          </a:p>
        </p:txBody>
      </p:sp>
      <p:sp>
        <p:nvSpPr>
          <p:cNvPr id="116" name="Shape 65">
            <a:extLst>
              <a:ext uri="{FF2B5EF4-FFF2-40B4-BE49-F238E27FC236}">
                <a16:creationId xmlns:a16="http://schemas.microsoft.com/office/drawing/2014/main" id="{4E54020D-9E04-EC3F-551F-6824048E077F}"/>
              </a:ext>
            </a:extLst>
          </p:cNvPr>
          <p:cNvSpPr/>
          <p:nvPr/>
        </p:nvSpPr>
        <p:spPr>
          <a:xfrm>
            <a:off x="4699380" y="2426773"/>
            <a:ext cx="1065035" cy="348345"/>
          </a:xfrm>
          <a:prstGeom prst="rect">
            <a:avLst/>
          </a:prstGeom>
          <a:solidFill>
            <a:srgbClr val="F9F9FA"/>
          </a:solidFill>
          <a:ln w="12700">
            <a:solidFill>
              <a:srgbClr val="12233F"/>
            </a:solidFill>
            <a:prstDash val="solid"/>
          </a:ln>
        </p:spPr>
        <p:txBody>
          <a:bodyPr/>
          <a:lstStyle/>
          <a:p>
            <a:pPr algn="ctr"/>
            <a:r>
              <a:rPr lang="en-US" sz="900" dirty="0"/>
              <a:t>HMR</a:t>
            </a:r>
          </a:p>
          <a:p>
            <a:pPr algn="ctr"/>
            <a:r>
              <a:rPr lang="en-US" sz="900" dirty="0"/>
              <a:t>(Hour Meter Wire)</a:t>
            </a:r>
            <a:endParaRPr lang="en-IN" sz="900" dirty="0"/>
          </a:p>
        </p:txBody>
      </p:sp>
      <p:sp>
        <p:nvSpPr>
          <p:cNvPr id="118" name="Shape 65">
            <a:extLst>
              <a:ext uri="{FF2B5EF4-FFF2-40B4-BE49-F238E27FC236}">
                <a16:creationId xmlns:a16="http://schemas.microsoft.com/office/drawing/2014/main" id="{B2FE2C32-5A72-0157-07DC-395C0B1DC7B4}"/>
              </a:ext>
            </a:extLst>
          </p:cNvPr>
          <p:cNvSpPr/>
          <p:nvPr/>
        </p:nvSpPr>
        <p:spPr>
          <a:xfrm>
            <a:off x="4700590" y="1532557"/>
            <a:ext cx="1065035" cy="348345"/>
          </a:xfrm>
          <a:prstGeom prst="rect">
            <a:avLst/>
          </a:prstGeom>
          <a:solidFill>
            <a:srgbClr val="F9F9FA"/>
          </a:solidFill>
          <a:ln w="12700">
            <a:solidFill>
              <a:srgbClr val="12233F"/>
            </a:solidFill>
            <a:prstDash val="solid"/>
          </a:ln>
        </p:spPr>
        <p:txBody>
          <a:bodyPr/>
          <a:lstStyle/>
          <a:p>
            <a:pPr algn="ctr"/>
            <a:r>
              <a:rPr lang="en-US" sz="900" dirty="0"/>
              <a:t>GPS Position/Speed</a:t>
            </a:r>
            <a:endParaRPr lang="en-IN" sz="900" dirty="0"/>
          </a:p>
        </p:txBody>
      </p:sp>
      <p:sp>
        <p:nvSpPr>
          <p:cNvPr id="120" name="Shape 76">
            <a:extLst>
              <a:ext uri="{FF2B5EF4-FFF2-40B4-BE49-F238E27FC236}">
                <a16:creationId xmlns:a16="http://schemas.microsoft.com/office/drawing/2014/main" id="{913BBCAF-455A-4DAF-0F82-A041BC6691A9}"/>
              </a:ext>
            </a:extLst>
          </p:cNvPr>
          <p:cNvSpPr/>
          <p:nvPr/>
        </p:nvSpPr>
        <p:spPr>
          <a:xfrm>
            <a:off x="4539360" y="2156301"/>
            <a:ext cx="160020" cy="0"/>
          </a:xfrm>
          <a:prstGeom prst="line">
            <a:avLst/>
          </a:prstGeom>
          <a:noFill/>
          <a:ln w="15875">
            <a:solidFill>
              <a:srgbClr val="6B6B6B"/>
            </a:solidFill>
            <a:prstDash val="solid"/>
            <a:tailEnd type="triangle"/>
          </a:ln>
        </p:spPr>
      </p:sp>
      <p:sp>
        <p:nvSpPr>
          <p:cNvPr id="122" name="Shape 76">
            <a:extLst>
              <a:ext uri="{FF2B5EF4-FFF2-40B4-BE49-F238E27FC236}">
                <a16:creationId xmlns:a16="http://schemas.microsoft.com/office/drawing/2014/main" id="{131BB719-46A5-D816-77D9-46542D321674}"/>
              </a:ext>
            </a:extLst>
          </p:cNvPr>
          <p:cNvSpPr/>
          <p:nvPr/>
        </p:nvSpPr>
        <p:spPr>
          <a:xfrm>
            <a:off x="4532054" y="2570451"/>
            <a:ext cx="160020" cy="0"/>
          </a:xfrm>
          <a:prstGeom prst="line">
            <a:avLst/>
          </a:prstGeom>
          <a:noFill/>
          <a:ln w="15875">
            <a:solidFill>
              <a:srgbClr val="6B6B6B"/>
            </a:solidFill>
            <a:prstDash val="solid"/>
            <a:tailEnd type="triangle"/>
          </a:ln>
        </p:spPr>
      </p:sp>
      <p:sp>
        <p:nvSpPr>
          <p:cNvPr id="124" name="Shape 70">
            <a:extLst>
              <a:ext uri="{FF2B5EF4-FFF2-40B4-BE49-F238E27FC236}">
                <a16:creationId xmlns:a16="http://schemas.microsoft.com/office/drawing/2014/main" id="{6D63C6EC-1986-0736-93C2-B4CD4E5C6F28}"/>
              </a:ext>
            </a:extLst>
          </p:cNvPr>
          <p:cNvSpPr/>
          <p:nvPr/>
        </p:nvSpPr>
        <p:spPr>
          <a:xfrm>
            <a:off x="5903654" y="1736965"/>
            <a:ext cx="10973" cy="792000"/>
          </a:xfrm>
          <a:prstGeom prst="rect">
            <a:avLst/>
          </a:prstGeom>
          <a:solidFill>
            <a:srgbClr val="6B6B6B"/>
          </a:solidFill>
          <a:ln/>
        </p:spPr>
        <p:txBody>
          <a:bodyPr anchor="ctr"/>
          <a:lstStyle/>
          <a:p>
            <a:endParaRPr lang="en-IN"/>
          </a:p>
        </p:txBody>
      </p:sp>
      <p:sp>
        <p:nvSpPr>
          <p:cNvPr id="130" name="Shape 70">
            <a:extLst>
              <a:ext uri="{FF2B5EF4-FFF2-40B4-BE49-F238E27FC236}">
                <a16:creationId xmlns:a16="http://schemas.microsoft.com/office/drawing/2014/main" id="{83878D36-29A3-ED31-DD58-AF58158449E0}"/>
              </a:ext>
            </a:extLst>
          </p:cNvPr>
          <p:cNvSpPr/>
          <p:nvPr/>
        </p:nvSpPr>
        <p:spPr>
          <a:xfrm rot="5400000">
            <a:off x="5837139" y="1670452"/>
            <a:ext cx="10973" cy="144000"/>
          </a:xfrm>
          <a:prstGeom prst="rect">
            <a:avLst/>
          </a:prstGeom>
          <a:solidFill>
            <a:srgbClr val="6B6B6B"/>
          </a:solidFill>
          <a:ln/>
        </p:spPr>
        <p:txBody>
          <a:bodyPr anchor="ctr"/>
          <a:lstStyle/>
          <a:p>
            <a:endParaRPr lang="en-IN"/>
          </a:p>
        </p:txBody>
      </p:sp>
      <p:sp>
        <p:nvSpPr>
          <p:cNvPr id="132" name="Shape 70">
            <a:extLst>
              <a:ext uri="{FF2B5EF4-FFF2-40B4-BE49-F238E27FC236}">
                <a16:creationId xmlns:a16="http://schemas.microsoft.com/office/drawing/2014/main" id="{0955AB80-0BC9-F346-3371-48AC449C8081}"/>
              </a:ext>
            </a:extLst>
          </p:cNvPr>
          <p:cNvSpPr/>
          <p:nvPr/>
        </p:nvSpPr>
        <p:spPr>
          <a:xfrm rot="5400000">
            <a:off x="5845639" y="2027150"/>
            <a:ext cx="10973" cy="180000"/>
          </a:xfrm>
          <a:prstGeom prst="rect">
            <a:avLst/>
          </a:prstGeom>
          <a:solidFill>
            <a:srgbClr val="6B6B6B"/>
          </a:solidFill>
          <a:ln/>
        </p:spPr>
        <p:txBody>
          <a:bodyPr anchor="ctr"/>
          <a:lstStyle/>
          <a:p>
            <a:endParaRPr lang="en-IN"/>
          </a:p>
        </p:txBody>
      </p:sp>
      <p:sp>
        <p:nvSpPr>
          <p:cNvPr id="134" name="Shape 70">
            <a:extLst>
              <a:ext uri="{FF2B5EF4-FFF2-40B4-BE49-F238E27FC236}">
                <a16:creationId xmlns:a16="http://schemas.microsoft.com/office/drawing/2014/main" id="{A46C8DBD-9D06-E640-CF44-348E6B8F11E3}"/>
              </a:ext>
            </a:extLst>
          </p:cNvPr>
          <p:cNvSpPr/>
          <p:nvPr/>
        </p:nvSpPr>
        <p:spPr>
          <a:xfrm rot="5400000">
            <a:off x="5837140" y="2461746"/>
            <a:ext cx="10973" cy="144000"/>
          </a:xfrm>
          <a:prstGeom prst="rect">
            <a:avLst/>
          </a:prstGeom>
          <a:solidFill>
            <a:srgbClr val="6B6B6B"/>
          </a:solidFill>
          <a:ln/>
        </p:spPr>
        <p:txBody>
          <a:bodyPr anchor="ctr"/>
          <a:lstStyle/>
          <a:p>
            <a:endParaRPr lang="en-IN"/>
          </a:p>
        </p:txBody>
      </p:sp>
      <p:sp>
        <p:nvSpPr>
          <p:cNvPr id="136" name="Shape 62">
            <a:extLst>
              <a:ext uri="{FF2B5EF4-FFF2-40B4-BE49-F238E27FC236}">
                <a16:creationId xmlns:a16="http://schemas.microsoft.com/office/drawing/2014/main" id="{AB8D9FF9-3ED5-AEC7-27BF-F8E60BFC2F3A}"/>
              </a:ext>
            </a:extLst>
          </p:cNvPr>
          <p:cNvSpPr/>
          <p:nvPr/>
        </p:nvSpPr>
        <p:spPr>
          <a:xfrm>
            <a:off x="9754322" y="2136318"/>
            <a:ext cx="228600" cy="0"/>
          </a:xfrm>
          <a:prstGeom prst="line">
            <a:avLst/>
          </a:prstGeom>
          <a:noFill/>
          <a:ln w="15875">
            <a:solidFill>
              <a:srgbClr val="6B6B6B"/>
            </a:solidFill>
            <a:prstDash val="solid"/>
            <a:tailEnd type="triangle"/>
          </a:ln>
        </p:spPr>
      </p:sp>
      <p:sp>
        <p:nvSpPr>
          <p:cNvPr id="142" name="Shape 67">
            <a:extLst>
              <a:ext uri="{FF2B5EF4-FFF2-40B4-BE49-F238E27FC236}">
                <a16:creationId xmlns:a16="http://schemas.microsoft.com/office/drawing/2014/main" id="{893FEACC-47A0-BBB5-4A29-7DEE4E38EAF3}"/>
              </a:ext>
            </a:extLst>
          </p:cNvPr>
          <p:cNvSpPr/>
          <p:nvPr/>
        </p:nvSpPr>
        <p:spPr>
          <a:xfrm>
            <a:off x="9011778" y="1157905"/>
            <a:ext cx="1269989" cy="481719"/>
          </a:xfrm>
          <a:prstGeom prst="rect">
            <a:avLst/>
          </a:prstGeom>
          <a:solidFill>
            <a:srgbClr val="F9F9FA"/>
          </a:solidFill>
          <a:ln w="12700">
            <a:solidFill>
              <a:srgbClr val="12233F"/>
            </a:solidFill>
            <a:prstDash val="solid"/>
          </a:ln>
        </p:spPr>
        <p:txBody>
          <a:bodyPr/>
          <a:lstStyle/>
          <a:p>
            <a:pPr algn="ctr"/>
            <a:r>
              <a:rPr lang="en-IN" sz="900" dirty="0"/>
              <a:t>Fuel Consumption</a:t>
            </a:r>
          </a:p>
          <a:p>
            <a:pPr algn="ctr"/>
            <a:r>
              <a:rPr lang="en-IN" sz="900" dirty="0"/>
              <a:t>(Fuel Report)</a:t>
            </a:r>
          </a:p>
        </p:txBody>
      </p:sp>
      <p:grpSp>
        <p:nvGrpSpPr>
          <p:cNvPr id="68" name="Group 3">
            <a:extLst>
              <a:ext uri="{FF2B5EF4-FFF2-40B4-BE49-F238E27FC236}">
                <a16:creationId xmlns:a16="http://schemas.microsoft.com/office/drawing/2014/main" id="{3475A184-0171-ABE6-FF5E-532E0C4C5126}"/>
              </a:ext>
            </a:extLst>
          </p:cNvPr>
          <p:cNvGrpSpPr/>
          <p:nvPr/>
        </p:nvGrpSpPr>
        <p:grpSpPr>
          <a:xfrm>
            <a:off x="10056527" y="6189371"/>
            <a:ext cx="2136000" cy="669944"/>
            <a:chOff x="0" y="0"/>
            <a:chExt cx="4272001" cy="1339888"/>
          </a:xfrm>
        </p:grpSpPr>
        <p:sp>
          <p:nvSpPr>
            <p:cNvPr id="70" name="Freeform 4">
              <a:extLst>
                <a:ext uri="{FF2B5EF4-FFF2-40B4-BE49-F238E27FC236}">
                  <a16:creationId xmlns:a16="http://schemas.microsoft.com/office/drawing/2014/main" id="{D06BC0CC-EC98-812A-C34C-AF087300B433}"/>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3"/>
              <a:stretch>
                <a:fillRect l="-470838" t="-924095" b="-2"/>
              </a:stretch>
            </a:blipFill>
          </p:spPr>
        </p:sp>
      </p:grpSp>
      <p:grpSp>
        <p:nvGrpSpPr>
          <p:cNvPr id="74" name="Group 5">
            <a:extLst>
              <a:ext uri="{FF2B5EF4-FFF2-40B4-BE49-F238E27FC236}">
                <a16:creationId xmlns:a16="http://schemas.microsoft.com/office/drawing/2014/main" id="{2B8F4671-29A2-4A9F-AB26-427379D41A03}"/>
              </a:ext>
            </a:extLst>
          </p:cNvPr>
          <p:cNvGrpSpPr/>
          <p:nvPr/>
        </p:nvGrpSpPr>
        <p:grpSpPr>
          <a:xfrm>
            <a:off x="623361" y="910848"/>
            <a:ext cx="4860000" cy="45719"/>
            <a:chOff x="0" y="0"/>
            <a:chExt cx="14068412" cy="121920"/>
          </a:xfrm>
        </p:grpSpPr>
        <p:sp>
          <p:nvSpPr>
            <p:cNvPr id="75" name="Freeform 6" descr="D:\Corp Comm Department Work 2015\Brand Adani 2012\adani_gradient_master.jpg">
              <a:extLst>
                <a:ext uri="{FF2B5EF4-FFF2-40B4-BE49-F238E27FC236}">
                  <a16:creationId xmlns:a16="http://schemas.microsoft.com/office/drawing/2014/main" id="{57A2A0CD-986A-A2D7-E71F-539C60390AFC}"/>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4"/>
              <a:stretch>
                <a:fillRect b="-5072"/>
              </a:stretch>
            </a:blipFill>
          </p:spPr>
          <p:txBody>
            <a:bodyPr/>
            <a:lstStyle/>
            <a:p>
              <a:endParaRPr lang="en-IN"/>
            </a:p>
          </p:txBody>
        </p:sp>
      </p:grpSp>
      <p:sp>
        <p:nvSpPr>
          <p:cNvPr id="109" name="Shape 57">
            <a:extLst>
              <a:ext uri="{FF2B5EF4-FFF2-40B4-BE49-F238E27FC236}">
                <a16:creationId xmlns:a16="http://schemas.microsoft.com/office/drawing/2014/main" id="{694C6611-A244-EA36-05A9-C6BA0890E4A3}"/>
              </a:ext>
            </a:extLst>
          </p:cNvPr>
          <p:cNvSpPr/>
          <p:nvPr/>
        </p:nvSpPr>
        <p:spPr>
          <a:xfrm rot="5400000">
            <a:off x="8397940" y="1740438"/>
            <a:ext cx="144000" cy="0"/>
          </a:xfrm>
          <a:prstGeom prst="line">
            <a:avLst/>
          </a:prstGeom>
          <a:noFill/>
          <a:ln w="15875">
            <a:solidFill>
              <a:srgbClr val="6B6B6B"/>
            </a:solidFill>
            <a:prstDash val="solid"/>
            <a:tailEnd type="triangle"/>
          </a:ln>
        </p:spPr>
      </p:sp>
      <p:sp>
        <p:nvSpPr>
          <p:cNvPr id="113" name="Shape 57">
            <a:extLst>
              <a:ext uri="{FF2B5EF4-FFF2-40B4-BE49-F238E27FC236}">
                <a16:creationId xmlns:a16="http://schemas.microsoft.com/office/drawing/2014/main" id="{8A94D447-B560-541B-21FF-73DF153D5C94}"/>
              </a:ext>
            </a:extLst>
          </p:cNvPr>
          <p:cNvSpPr/>
          <p:nvPr/>
        </p:nvSpPr>
        <p:spPr>
          <a:xfrm rot="5400000">
            <a:off x="9303358" y="1740438"/>
            <a:ext cx="144000" cy="0"/>
          </a:xfrm>
          <a:prstGeom prst="line">
            <a:avLst/>
          </a:prstGeom>
          <a:noFill/>
          <a:ln w="15875">
            <a:solidFill>
              <a:srgbClr val="6B6B6B"/>
            </a:solidFill>
            <a:prstDash val="solid"/>
            <a:tailEnd type="triangle"/>
          </a:ln>
        </p:spPr>
      </p:sp>
      <p:pic>
        <p:nvPicPr>
          <p:cNvPr id="4" name="Picture 3" descr="RUTM20 - Teltonika Networks Wiki">
            <a:extLst>
              <a:ext uri="{FF2B5EF4-FFF2-40B4-BE49-F238E27FC236}">
                <a16:creationId xmlns:a16="http://schemas.microsoft.com/office/drawing/2014/main" id="{4CD4B0D1-D5FF-A98C-1AA2-BC28AE1C8529}"/>
              </a:ext>
            </a:extLst>
          </p:cNvPr>
          <p:cNvPicPr>
            <a:picLocks noChangeAspect="1"/>
          </p:cNvPicPr>
          <p:nvPr/>
        </p:nvPicPr>
        <p:blipFill>
          <a:blip r:embed="rId5"/>
          <a:stretch>
            <a:fillRect/>
          </a:stretch>
        </p:blipFill>
        <p:spPr>
          <a:xfrm>
            <a:off x="10456831" y="22287"/>
            <a:ext cx="1688904" cy="1593923"/>
          </a:xfrm>
          <a:prstGeom prst="rect">
            <a:avLst/>
          </a:prstGeom>
        </p:spPr>
      </p:pic>
    </p:spTree>
    <p:extLst>
      <p:ext uri="{BB962C8B-B14F-4D97-AF65-F5344CB8AC3E}">
        <p14:creationId xmlns:p14="http://schemas.microsoft.com/office/powerpoint/2010/main" val="3830160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5248" y="566928"/>
            <a:ext cx="8686800" cy="457200"/>
          </a:xfrm>
          <a:prstGeom prst="rect">
            <a:avLst/>
          </a:prstGeom>
          <a:noFill/>
          <a:ln/>
        </p:spPr>
        <p:txBody>
          <a:bodyPr wrap="square" rtlCol="0" anchor="ctr"/>
          <a:lstStyle/>
          <a:p>
            <a:pPr marL="0" indent="0">
              <a:buNone/>
            </a:pPr>
            <a:r>
              <a:rPr lang="en-US" sz="2400" dirty="0">
                <a:solidFill>
                  <a:srgbClr val="0070C0"/>
                </a:solidFill>
                <a:latin typeface="Arial" pitchFamily="34" charset="0"/>
                <a:ea typeface="Arial" pitchFamily="34" charset="-122"/>
                <a:cs typeface="Arial" pitchFamily="34" charset="-120"/>
              </a:rPr>
              <a:t>Project Approach &amp; Methodology</a:t>
            </a:r>
            <a:endParaRPr lang="en-US" sz="2400" dirty="0"/>
          </a:p>
        </p:txBody>
      </p:sp>
      <p:sp>
        <p:nvSpPr>
          <p:cNvPr id="54" name="Text 51"/>
          <p:cNvSpPr/>
          <p:nvPr/>
        </p:nvSpPr>
        <p:spPr>
          <a:xfrm>
            <a:off x="502920" y="1193093"/>
            <a:ext cx="7315200" cy="201168"/>
          </a:xfrm>
          <a:prstGeom prst="rect">
            <a:avLst/>
          </a:prstGeom>
          <a:noFill/>
          <a:ln/>
        </p:spPr>
        <p:txBody>
          <a:bodyPr wrap="square" rtlCol="0" anchor="ctr"/>
          <a:lstStyle/>
          <a:p>
            <a:pPr marL="0" indent="0">
              <a:buNone/>
            </a:pPr>
            <a:r>
              <a:rPr lang="en-US" sz="1050" b="1" kern="0" spc="130" dirty="0">
                <a:solidFill>
                  <a:srgbClr val="3A3A3A"/>
                </a:solidFill>
                <a:latin typeface="Arial" pitchFamily="34" charset="0"/>
                <a:ea typeface="Arial" pitchFamily="34" charset="-122"/>
                <a:cs typeface="Arial" pitchFamily="34" charset="-120"/>
              </a:rPr>
              <a:t>EXECUTION TIMELINE</a:t>
            </a:r>
            <a:endParaRPr lang="en-US" sz="1050" dirty="0"/>
          </a:p>
        </p:txBody>
      </p:sp>
      <p:sp>
        <p:nvSpPr>
          <p:cNvPr id="55" name="Shape 52"/>
          <p:cNvSpPr/>
          <p:nvPr/>
        </p:nvSpPr>
        <p:spPr>
          <a:xfrm>
            <a:off x="463165" y="3005320"/>
            <a:ext cx="11232000" cy="16459"/>
          </a:xfrm>
          <a:prstGeom prst="rect">
            <a:avLst/>
          </a:prstGeom>
          <a:solidFill>
            <a:srgbClr val="D9D9D9"/>
          </a:solidFill>
          <a:ln/>
        </p:spPr>
      </p:sp>
      <p:sp>
        <p:nvSpPr>
          <p:cNvPr id="56" name="Shape 53"/>
          <p:cNvSpPr/>
          <p:nvPr/>
        </p:nvSpPr>
        <p:spPr>
          <a:xfrm>
            <a:off x="755852" y="2410046"/>
            <a:ext cx="10973" cy="603504"/>
          </a:xfrm>
          <a:prstGeom prst="rect">
            <a:avLst/>
          </a:prstGeom>
          <a:solidFill>
            <a:srgbClr val="0070C0"/>
          </a:solidFill>
          <a:ln/>
        </p:spPr>
      </p:sp>
      <p:sp>
        <p:nvSpPr>
          <p:cNvPr id="57" name="Shape 54"/>
          <p:cNvSpPr/>
          <p:nvPr/>
        </p:nvSpPr>
        <p:spPr>
          <a:xfrm>
            <a:off x="674470" y="2926682"/>
            <a:ext cx="173736" cy="173736"/>
          </a:xfrm>
          <a:prstGeom prst="ellipse">
            <a:avLst/>
          </a:prstGeom>
          <a:solidFill>
            <a:srgbClr val="FFFFFF"/>
          </a:solidFill>
          <a:ln w="25400">
            <a:solidFill>
              <a:srgbClr val="0070C0"/>
            </a:solidFill>
            <a:prstDash val="solid"/>
          </a:ln>
        </p:spPr>
      </p:sp>
      <p:sp>
        <p:nvSpPr>
          <p:cNvPr id="58" name="Text 55"/>
          <p:cNvSpPr/>
          <p:nvPr/>
        </p:nvSpPr>
        <p:spPr>
          <a:xfrm>
            <a:off x="-130202" y="1761737"/>
            <a:ext cx="1783080" cy="182880"/>
          </a:xfrm>
          <a:prstGeom prst="rect">
            <a:avLst/>
          </a:prstGeom>
          <a:noFill/>
          <a:ln/>
        </p:spPr>
        <p:txBody>
          <a:bodyPr wrap="square" rtlCol="0" anchor="ctr"/>
          <a:lstStyle/>
          <a:p>
            <a:pPr marL="0" indent="0" algn="ctr">
              <a:buNone/>
            </a:pPr>
            <a:r>
              <a:rPr lang="en-US" sz="800" b="1" kern="0" spc="120" dirty="0">
                <a:solidFill>
                  <a:srgbClr val="6B6B6B"/>
                </a:solidFill>
                <a:latin typeface="Arial" pitchFamily="34" charset="0"/>
                <a:ea typeface="Arial" pitchFamily="34" charset="-122"/>
                <a:cs typeface="Arial" pitchFamily="34" charset="-120"/>
              </a:rPr>
              <a:t>PHASE 1</a:t>
            </a:r>
            <a:endParaRPr lang="en-US" sz="800" dirty="0"/>
          </a:p>
        </p:txBody>
      </p:sp>
      <p:sp>
        <p:nvSpPr>
          <p:cNvPr id="59" name="Text 56"/>
          <p:cNvSpPr/>
          <p:nvPr/>
        </p:nvSpPr>
        <p:spPr>
          <a:xfrm>
            <a:off x="-130202" y="1952846"/>
            <a:ext cx="1783080" cy="438912"/>
          </a:xfrm>
          <a:prstGeom prst="rect">
            <a:avLst/>
          </a:prstGeom>
          <a:noFill/>
          <a:ln/>
        </p:spPr>
        <p:txBody>
          <a:bodyPr wrap="square" rtlCol="0" anchor="ctr"/>
          <a:lstStyle/>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System</a:t>
            </a:r>
            <a:endParaRPr lang="en-US" sz="1500" dirty="0"/>
          </a:p>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Familiarization</a:t>
            </a:r>
            <a:endParaRPr lang="en-US" sz="1500" dirty="0"/>
          </a:p>
        </p:txBody>
      </p:sp>
      <p:sp>
        <p:nvSpPr>
          <p:cNvPr id="61" name="Shape 58"/>
          <p:cNvSpPr/>
          <p:nvPr/>
        </p:nvSpPr>
        <p:spPr>
          <a:xfrm>
            <a:off x="2801364" y="2926682"/>
            <a:ext cx="173736" cy="173736"/>
          </a:xfrm>
          <a:prstGeom prst="ellipse">
            <a:avLst/>
          </a:prstGeom>
          <a:solidFill>
            <a:srgbClr val="FFFFFF"/>
          </a:solidFill>
          <a:ln w="25400">
            <a:solidFill>
              <a:srgbClr val="0070C0"/>
            </a:solidFill>
            <a:prstDash val="solid"/>
          </a:ln>
        </p:spPr>
      </p:sp>
      <p:sp>
        <p:nvSpPr>
          <p:cNvPr id="62" name="Text 59"/>
          <p:cNvSpPr/>
          <p:nvPr/>
        </p:nvSpPr>
        <p:spPr>
          <a:xfrm>
            <a:off x="1996692" y="3708494"/>
            <a:ext cx="1783080" cy="182880"/>
          </a:xfrm>
          <a:prstGeom prst="rect">
            <a:avLst/>
          </a:prstGeom>
          <a:noFill/>
          <a:ln/>
        </p:spPr>
        <p:txBody>
          <a:bodyPr wrap="square" rtlCol="0" anchor="ctr"/>
          <a:lstStyle/>
          <a:p>
            <a:pPr marL="0" indent="0" algn="ctr">
              <a:buNone/>
            </a:pPr>
            <a:r>
              <a:rPr lang="en-US" sz="800" b="1" kern="0" spc="120" dirty="0">
                <a:solidFill>
                  <a:srgbClr val="6B6B6B"/>
                </a:solidFill>
                <a:latin typeface="Arial" pitchFamily="34" charset="0"/>
                <a:ea typeface="Arial" pitchFamily="34" charset="-122"/>
                <a:cs typeface="Arial" pitchFamily="34" charset="-120"/>
              </a:rPr>
              <a:t>PHASE 2</a:t>
            </a:r>
            <a:endParaRPr lang="en-US" sz="800" dirty="0"/>
          </a:p>
        </p:txBody>
      </p:sp>
      <p:sp>
        <p:nvSpPr>
          <p:cNvPr id="63" name="Text 60"/>
          <p:cNvSpPr/>
          <p:nvPr/>
        </p:nvSpPr>
        <p:spPr>
          <a:xfrm>
            <a:off x="1996692" y="3891374"/>
            <a:ext cx="1783080" cy="438912"/>
          </a:xfrm>
          <a:prstGeom prst="rect">
            <a:avLst/>
          </a:prstGeom>
          <a:noFill/>
          <a:ln/>
        </p:spPr>
        <p:txBody>
          <a:bodyPr wrap="square" rtlCol="0" anchor="ctr"/>
          <a:lstStyle/>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Stakeholder</a:t>
            </a:r>
            <a:endParaRPr lang="en-US" sz="1500" dirty="0"/>
          </a:p>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Consultation</a:t>
            </a:r>
            <a:endParaRPr lang="en-US" sz="1500" dirty="0"/>
          </a:p>
        </p:txBody>
      </p:sp>
      <p:sp>
        <p:nvSpPr>
          <p:cNvPr id="64" name="Shape 61"/>
          <p:cNvSpPr/>
          <p:nvPr/>
        </p:nvSpPr>
        <p:spPr>
          <a:xfrm>
            <a:off x="5025542" y="2362335"/>
            <a:ext cx="10973" cy="603504"/>
          </a:xfrm>
          <a:prstGeom prst="rect">
            <a:avLst/>
          </a:prstGeom>
          <a:solidFill>
            <a:srgbClr val="0070C0"/>
          </a:solidFill>
          <a:ln/>
        </p:spPr>
      </p:sp>
      <p:sp>
        <p:nvSpPr>
          <p:cNvPr id="65" name="Shape 62"/>
          <p:cNvSpPr/>
          <p:nvPr/>
        </p:nvSpPr>
        <p:spPr>
          <a:xfrm>
            <a:off x="4928259" y="2926682"/>
            <a:ext cx="173736" cy="173736"/>
          </a:xfrm>
          <a:prstGeom prst="ellipse">
            <a:avLst/>
          </a:prstGeom>
          <a:solidFill>
            <a:srgbClr val="FFFFFF"/>
          </a:solidFill>
          <a:ln w="25400">
            <a:solidFill>
              <a:srgbClr val="0070C0"/>
            </a:solidFill>
            <a:prstDash val="solid"/>
          </a:ln>
        </p:spPr>
      </p:sp>
      <p:sp>
        <p:nvSpPr>
          <p:cNvPr id="66" name="Text 63"/>
          <p:cNvSpPr/>
          <p:nvPr/>
        </p:nvSpPr>
        <p:spPr>
          <a:xfrm>
            <a:off x="4123587" y="1740404"/>
            <a:ext cx="1783080" cy="182880"/>
          </a:xfrm>
          <a:prstGeom prst="rect">
            <a:avLst/>
          </a:prstGeom>
          <a:noFill/>
          <a:ln/>
        </p:spPr>
        <p:txBody>
          <a:bodyPr wrap="square" rtlCol="0" anchor="ctr"/>
          <a:lstStyle/>
          <a:p>
            <a:pPr marL="0" indent="0" algn="ctr">
              <a:buNone/>
            </a:pPr>
            <a:r>
              <a:rPr lang="en-US" sz="800" b="1" kern="0" spc="120" dirty="0">
                <a:solidFill>
                  <a:srgbClr val="6B6B6B"/>
                </a:solidFill>
                <a:latin typeface="Arial" pitchFamily="34" charset="0"/>
                <a:ea typeface="Arial" pitchFamily="34" charset="-122"/>
                <a:cs typeface="Arial" pitchFamily="34" charset="-120"/>
              </a:rPr>
              <a:t>PHASE 3</a:t>
            </a:r>
            <a:endParaRPr lang="en-US" sz="800" dirty="0"/>
          </a:p>
        </p:txBody>
      </p:sp>
      <p:sp>
        <p:nvSpPr>
          <p:cNvPr id="67" name="Text 64"/>
          <p:cNvSpPr/>
          <p:nvPr/>
        </p:nvSpPr>
        <p:spPr>
          <a:xfrm>
            <a:off x="4123587" y="1928993"/>
            <a:ext cx="1783080" cy="438912"/>
          </a:xfrm>
          <a:prstGeom prst="rect">
            <a:avLst/>
          </a:prstGeom>
          <a:noFill/>
          <a:ln/>
        </p:spPr>
        <p:txBody>
          <a:bodyPr wrap="square" rtlCol="0" anchor="ctr"/>
          <a:lstStyle/>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Data</a:t>
            </a:r>
            <a:endParaRPr lang="en-US" sz="1500" dirty="0"/>
          </a:p>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Acquisition</a:t>
            </a:r>
            <a:endParaRPr lang="en-US" sz="1500" dirty="0"/>
          </a:p>
        </p:txBody>
      </p:sp>
      <p:sp>
        <p:nvSpPr>
          <p:cNvPr id="69" name="Shape 66"/>
          <p:cNvSpPr/>
          <p:nvPr/>
        </p:nvSpPr>
        <p:spPr>
          <a:xfrm>
            <a:off x="7055153" y="2926682"/>
            <a:ext cx="173736" cy="173736"/>
          </a:xfrm>
          <a:prstGeom prst="ellipse">
            <a:avLst/>
          </a:prstGeom>
          <a:solidFill>
            <a:srgbClr val="FFFFFF"/>
          </a:solidFill>
          <a:ln w="25400">
            <a:solidFill>
              <a:srgbClr val="0070C0"/>
            </a:solidFill>
            <a:prstDash val="solid"/>
          </a:ln>
        </p:spPr>
      </p:sp>
      <p:sp>
        <p:nvSpPr>
          <p:cNvPr id="70" name="Text 67"/>
          <p:cNvSpPr/>
          <p:nvPr/>
        </p:nvSpPr>
        <p:spPr>
          <a:xfrm>
            <a:off x="6250481" y="3708494"/>
            <a:ext cx="1783080" cy="182880"/>
          </a:xfrm>
          <a:prstGeom prst="rect">
            <a:avLst/>
          </a:prstGeom>
          <a:noFill/>
          <a:ln/>
        </p:spPr>
        <p:txBody>
          <a:bodyPr wrap="square" rtlCol="0" anchor="ctr"/>
          <a:lstStyle/>
          <a:p>
            <a:pPr marL="0" indent="0" algn="ctr">
              <a:buNone/>
            </a:pPr>
            <a:r>
              <a:rPr lang="en-US" sz="800" b="1" kern="0" spc="120" dirty="0">
                <a:solidFill>
                  <a:srgbClr val="6B6B6B"/>
                </a:solidFill>
                <a:latin typeface="Arial" pitchFamily="34" charset="0"/>
                <a:ea typeface="Arial" pitchFamily="34" charset="-122"/>
                <a:cs typeface="Arial" pitchFamily="34" charset="-120"/>
              </a:rPr>
              <a:t>PHASE 4</a:t>
            </a:r>
            <a:endParaRPr lang="en-US" sz="800" dirty="0"/>
          </a:p>
        </p:txBody>
      </p:sp>
      <p:sp>
        <p:nvSpPr>
          <p:cNvPr id="71" name="Text 68"/>
          <p:cNvSpPr/>
          <p:nvPr/>
        </p:nvSpPr>
        <p:spPr>
          <a:xfrm>
            <a:off x="6250481" y="3891374"/>
            <a:ext cx="1783080" cy="438912"/>
          </a:xfrm>
          <a:prstGeom prst="rect">
            <a:avLst/>
          </a:prstGeom>
          <a:noFill/>
          <a:ln/>
        </p:spPr>
        <p:txBody>
          <a:bodyPr wrap="square" rtlCol="0" anchor="ctr"/>
          <a:lstStyle/>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Performance</a:t>
            </a:r>
            <a:endParaRPr lang="en-US" sz="1500" dirty="0"/>
          </a:p>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Analysis</a:t>
            </a:r>
            <a:endParaRPr lang="en-US" sz="1500" dirty="0"/>
          </a:p>
        </p:txBody>
      </p:sp>
      <p:sp>
        <p:nvSpPr>
          <p:cNvPr id="72" name="Shape 69"/>
          <p:cNvSpPr/>
          <p:nvPr/>
        </p:nvSpPr>
        <p:spPr>
          <a:xfrm>
            <a:off x="9263429" y="2410046"/>
            <a:ext cx="10973" cy="603504"/>
          </a:xfrm>
          <a:prstGeom prst="rect">
            <a:avLst/>
          </a:prstGeom>
          <a:solidFill>
            <a:srgbClr val="0070C0"/>
          </a:solidFill>
          <a:ln/>
        </p:spPr>
      </p:sp>
      <p:sp>
        <p:nvSpPr>
          <p:cNvPr id="73" name="Shape 70"/>
          <p:cNvSpPr/>
          <p:nvPr/>
        </p:nvSpPr>
        <p:spPr>
          <a:xfrm>
            <a:off x="9182048" y="2926682"/>
            <a:ext cx="173736" cy="173736"/>
          </a:xfrm>
          <a:prstGeom prst="ellipse">
            <a:avLst/>
          </a:prstGeom>
          <a:solidFill>
            <a:srgbClr val="FFFFFF"/>
          </a:solidFill>
          <a:ln w="25400">
            <a:solidFill>
              <a:srgbClr val="0070C0"/>
            </a:solidFill>
            <a:prstDash val="solid"/>
          </a:ln>
        </p:spPr>
      </p:sp>
      <p:sp>
        <p:nvSpPr>
          <p:cNvPr id="74" name="Text 71"/>
          <p:cNvSpPr/>
          <p:nvPr/>
        </p:nvSpPr>
        <p:spPr>
          <a:xfrm>
            <a:off x="8377376" y="1762170"/>
            <a:ext cx="1783080" cy="182880"/>
          </a:xfrm>
          <a:prstGeom prst="rect">
            <a:avLst/>
          </a:prstGeom>
          <a:noFill/>
          <a:ln/>
        </p:spPr>
        <p:txBody>
          <a:bodyPr wrap="square" rtlCol="0" anchor="ctr"/>
          <a:lstStyle/>
          <a:p>
            <a:pPr marL="0" indent="0" algn="ctr">
              <a:buNone/>
            </a:pPr>
            <a:r>
              <a:rPr lang="en-US" sz="800" b="1" kern="0" spc="120" dirty="0">
                <a:solidFill>
                  <a:srgbClr val="6B6B6B"/>
                </a:solidFill>
                <a:latin typeface="Arial" pitchFamily="34" charset="0"/>
                <a:ea typeface="Arial" pitchFamily="34" charset="-122"/>
                <a:cs typeface="Arial" pitchFamily="34" charset="-120"/>
              </a:rPr>
              <a:t>PHASE 5</a:t>
            </a:r>
            <a:endParaRPr lang="en-US" sz="800" dirty="0"/>
          </a:p>
        </p:txBody>
      </p:sp>
      <p:sp>
        <p:nvSpPr>
          <p:cNvPr id="75" name="Text 72"/>
          <p:cNvSpPr/>
          <p:nvPr/>
        </p:nvSpPr>
        <p:spPr>
          <a:xfrm>
            <a:off x="8377376" y="1952846"/>
            <a:ext cx="1783080" cy="438912"/>
          </a:xfrm>
          <a:prstGeom prst="rect">
            <a:avLst/>
          </a:prstGeom>
          <a:noFill/>
          <a:ln/>
        </p:spPr>
        <p:txBody>
          <a:bodyPr wrap="square" rtlCol="0" anchor="ctr"/>
          <a:lstStyle/>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Opportunity</a:t>
            </a:r>
            <a:endParaRPr lang="en-US" sz="1500" dirty="0"/>
          </a:p>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Identification</a:t>
            </a:r>
            <a:endParaRPr lang="en-US" sz="1500" dirty="0"/>
          </a:p>
        </p:txBody>
      </p:sp>
      <p:sp>
        <p:nvSpPr>
          <p:cNvPr id="76" name="Shape 73"/>
          <p:cNvSpPr/>
          <p:nvPr/>
        </p:nvSpPr>
        <p:spPr>
          <a:xfrm>
            <a:off x="11350569" y="3013550"/>
            <a:ext cx="10973" cy="603504"/>
          </a:xfrm>
          <a:prstGeom prst="rect">
            <a:avLst/>
          </a:prstGeom>
          <a:solidFill>
            <a:srgbClr val="0070C0"/>
          </a:solidFill>
          <a:ln/>
        </p:spPr>
      </p:sp>
      <p:sp>
        <p:nvSpPr>
          <p:cNvPr id="77" name="Shape 74"/>
          <p:cNvSpPr/>
          <p:nvPr/>
        </p:nvSpPr>
        <p:spPr>
          <a:xfrm>
            <a:off x="11269187" y="2926682"/>
            <a:ext cx="173736" cy="173736"/>
          </a:xfrm>
          <a:prstGeom prst="ellipse">
            <a:avLst/>
          </a:prstGeom>
          <a:solidFill>
            <a:srgbClr val="FFFFFF"/>
          </a:solidFill>
          <a:ln w="25400">
            <a:solidFill>
              <a:srgbClr val="0070C0"/>
            </a:solidFill>
            <a:prstDash val="solid"/>
          </a:ln>
        </p:spPr>
      </p:sp>
      <p:sp>
        <p:nvSpPr>
          <p:cNvPr id="78" name="Text 75"/>
          <p:cNvSpPr/>
          <p:nvPr/>
        </p:nvSpPr>
        <p:spPr>
          <a:xfrm>
            <a:off x="10464515" y="3708494"/>
            <a:ext cx="1783080" cy="182880"/>
          </a:xfrm>
          <a:prstGeom prst="rect">
            <a:avLst/>
          </a:prstGeom>
          <a:noFill/>
          <a:ln/>
        </p:spPr>
        <p:txBody>
          <a:bodyPr wrap="square" rtlCol="0" anchor="ctr"/>
          <a:lstStyle/>
          <a:p>
            <a:pPr marL="0" indent="0" algn="ctr">
              <a:buNone/>
            </a:pPr>
            <a:r>
              <a:rPr lang="en-US" sz="800" b="1" kern="0" spc="120" dirty="0">
                <a:solidFill>
                  <a:srgbClr val="6B6B6B"/>
                </a:solidFill>
                <a:latin typeface="Arial" pitchFamily="34" charset="0"/>
                <a:ea typeface="Arial" pitchFamily="34" charset="-122"/>
                <a:cs typeface="Arial" pitchFamily="34" charset="-120"/>
              </a:rPr>
              <a:t>PHASE 6</a:t>
            </a:r>
            <a:endParaRPr lang="en-US" sz="800" dirty="0"/>
          </a:p>
        </p:txBody>
      </p:sp>
      <p:sp>
        <p:nvSpPr>
          <p:cNvPr id="79" name="Text 76"/>
          <p:cNvSpPr/>
          <p:nvPr/>
        </p:nvSpPr>
        <p:spPr>
          <a:xfrm>
            <a:off x="10417402" y="3891374"/>
            <a:ext cx="1783080" cy="438912"/>
          </a:xfrm>
          <a:prstGeom prst="rect">
            <a:avLst/>
          </a:prstGeom>
          <a:noFill/>
          <a:ln/>
        </p:spPr>
        <p:txBody>
          <a:bodyPr wrap="square" rtlCol="0" anchor="ctr"/>
          <a:lstStyle/>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Recommendation</a:t>
            </a:r>
            <a:endParaRPr lang="en-US" sz="1500" dirty="0"/>
          </a:p>
          <a:p>
            <a:pPr marL="0" indent="0" algn="ctr">
              <a:lnSpc>
                <a:spcPct val="110000"/>
              </a:lnSpc>
              <a:buNone/>
            </a:pPr>
            <a:r>
              <a:rPr lang="en-US" sz="1500" b="1" dirty="0">
                <a:solidFill>
                  <a:srgbClr val="12233F"/>
                </a:solidFill>
                <a:latin typeface="Arial" pitchFamily="34" charset="0"/>
                <a:ea typeface="Arial" pitchFamily="34" charset="-122"/>
                <a:cs typeface="Arial" pitchFamily="34" charset="-120"/>
              </a:rPr>
              <a:t>Development</a:t>
            </a:r>
            <a:endParaRPr lang="en-US" sz="1500" dirty="0"/>
          </a:p>
        </p:txBody>
      </p:sp>
      <p:sp>
        <p:nvSpPr>
          <p:cNvPr id="80" name="Shape 77"/>
          <p:cNvSpPr/>
          <p:nvPr/>
        </p:nvSpPr>
        <p:spPr>
          <a:xfrm>
            <a:off x="502920" y="4509508"/>
            <a:ext cx="11091672" cy="7315"/>
          </a:xfrm>
          <a:prstGeom prst="rect">
            <a:avLst/>
          </a:prstGeom>
          <a:solidFill>
            <a:srgbClr val="D9D9D9"/>
          </a:solidFill>
          <a:ln/>
        </p:spPr>
      </p:sp>
      <p:sp>
        <p:nvSpPr>
          <p:cNvPr id="81" name="Text 78"/>
          <p:cNvSpPr/>
          <p:nvPr/>
        </p:nvSpPr>
        <p:spPr>
          <a:xfrm>
            <a:off x="473659" y="4663440"/>
            <a:ext cx="5294376" cy="201168"/>
          </a:xfrm>
          <a:prstGeom prst="rect">
            <a:avLst/>
          </a:prstGeom>
          <a:noFill/>
          <a:ln/>
        </p:spPr>
        <p:txBody>
          <a:bodyPr wrap="square" rtlCol="0" anchor="ctr"/>
          <a:lstStyle/>
          <a:p>
            <a:pPr marL="0" indent="0">
              <a:buNone/>
            </a:pPr>
            <a:r>
              <a:rPr lang="en-US" sz="1050" b="1" kern="0" spc="130" dirty="0">
                <a:solidFill>
                  <a:srgbClr val="3A3A3A"/>
                </a:solidFill>
                <a:latin typeface="Arial" pitchFamily="34" charset="0"/>
                <a:ea typeface="Arial" pitchFamily="34" charset="-122"/>
                <a:cs typeface="Arial" pitchFamily="34" charset="-120"/>
              </a:rPr>
              <a:t>STAKEHOLDER ENGAGEMENT</a:t>
            </a:r>
            <a:endParaRPr lang="en-US" sz="1050" dirty="0"/>
          </a:p>
        </p:txBody>
      </p:sp>
      <p:sp>
        <p:nvSpPr>
          <p:cNvPr id="82" name="Text 79"/>
          <p:cNvSpPr/>
          <p:nvPr/>
        </p:nvSpPr>
        <p:spPr>
          <a:xfrm>
            <a:off x="6321983" y="4663440"/>
            <a:ext cx="5294376" cy="201168"/>
          </a:xfrm>
          <a:prstGeom prst="rect">
            <a:avLst/>
          </a:prstGeom>
          <a:noFill/>
          <a:ln/>
        </p:spPr>
        <p:txBody>
          <a:bodyPr wrap="square" rtlCol="0" anchor="ctr"/>
          <a:lstStyle/>
          <a:p>
            <a:pPr marL="0" indent="0">
              <a:buNone/>
            </a:pPr>
            <a:r>
              <a:rPr lang="en-US" sz="1050" b="1" kern="0" spc="130" dirty="0">
                <a:solidFill>
                  <a:srgbClr val="3A3A3A"/>
                </a:solidFill>
                <a:latin typeface="Arial" pitchFamily="34" charset="0"/>
                <a:ea typeface="Arial" pitchFamily="34" charset="-122"/>
                <a:cs typeface="Arial" pitchFamily="34" charset="-120"/>
              </a:rPr>
              <a:t>PRIMARY DATA SOURCES (March – June ‘26)</a:t>
            </a:r>
            <a:endParaRPr lang="en-US" sz="1050" dirty="0"/>
          </a:p>
        </p:txBody>
      </p:sp>
      <p:sp>
        <p:nvSpPr>
          <p:cNvPr id="83" name="Shape 80"/>
          <p:cNvSpPr/>
          <p:nvPr/>
        </p:nvSpPr>
        <p:spPr>
          <a:xfrm>
            <a:off x="548640" y="4985466"/>
            <a:ext cx="2555748" cy="18288"/>
          </a:xfrm>
          <a:prstGeom prst="rect">
            <a:avLst/>
          </a:prstGeom>
          <a:solidFill>
            <a:srgbClr val="00A99D"/>
          </a:solidFill>
          <a:ln/>
        </p:spPr>
      </p:sp>
      <p:sp>
        <p:nvSpPr>
          <p:cNvPr id="84" name="Text 81"/>
          <p:cNvSpPr/>
          <p:nvPr/>
        </p:nvSpPr>
        <p:spPr>
          <a:xfrm>
            <a:off x="548640" y="5076906"/>
            <a:ext cx="255574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Mine Operations Team</a:t>
            </a:r>
            <a:endParaRPr lang="en-US" sz="1300" dirty="0"/>
          </a:p>
        </p:txBody>
      </p:sp>
      <p:sp>
        <p:nvSpPr>
          <p:cNvPr id="85" name="Shape 82"/>
          <p:cNvSpPr/>
          <p:nvPr/>
        </p:nvSpPr>
        <p:spPr>
          <a:xfrm>
            <a:off x="3287268" y="4985466"/>
            <a:ext cx="2555748" cy="18288"/>
          </a:xfrm>
          <a:prstGeom prst="rect">
            <a:avLst/>
          </a:prstGeom>
          <a:solidFill>
            <a:srgbClr val="00A99D"/>
          </a:solidFill>
          <a:ln/>
        </p:spPr>
      </p:sp>
      <p:sp>
        <p:nvSpPr>
          <p:cNvPr id="86" name="Text 83"/>
          <p:cNvSpPr/>
          <p:nvPr/>
        </p:nvSpPr>
        <p:spPr>
          <a:xfrm>
            <a:off x="3287268" y="5076906"/>
            <a:ext cx="255574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FMS Operations Team</a:t>
            </a:r>
            <a:endParaRPr lang="en-US" sz="1300" dirty="0"/>
          </a:p>
        </p:txBody>
      </p:sp>
      <p:sp>
        <p:nvSpPr>
          <p:cNvPr id="87" name="Shape 84"/>
          <p:cNvSpPr/>
          <p:nvPr/>
        </p:nvSpPr>
        <p:spPr>
          <a:xfrm>
            <a:off x="548640" y="5716986"/>
            <a:ext cx="2555748" cy="18288"/>
          </a:xfrm>
          <a:prstGeom prst="rect">
            <a:avLst/>
          </a:prstGeom>
          <a:solidFill>
            <a:srgbClr val="00A99D"/>
          </a:solidFill>
          <a:ln/>
        </p:spPr>
      </p:sp>
      <p:sp>
        <p:nvSpPr>
          <p:cNvPr id="88" name="Text 85"/>
          <p:cNvSpPr/>
          <p:nvPr/>
        </p:nvSpPr>
        <p:spPr>
          <a:xfrm>
            <a:off x="548640" y="5808426"/>
            <a:ext cx="255574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Survey Department</a:t>
            </a:r>
            <a:endParaRPr lang="en-US" sz="1300" dirty="0"/>
          </a:p>
        </p:txBody>
      </p:sp>
      <p:sp>
        <p:nvSpPr>
          <p:cNvPr id="89" name="Shape 86"/>
          <p:cNvSpPr/>
          <p:nvPr/>
        </p:nvSpPr>
        <p:spPr>
          <a:xfrm>
            <a:off x="3287268" y="5716986"/>
            <a:ext cx="2555748" cy="18288"/>
          </a:xfrm>
          <a:prstGeom prst="rect">
            <a:avLst/>
          </a:prstGeom>
          <a:solidFill>
            <a:srgbClr val="00A99D"/>
          </a:solidFill>
          <a:ln/>
        </p:spPr>
      </p:sp>
      <p:sp>
        <p:nvSpPr>
          <p:cNvPr id="90" name="Text 87"/>
          <p:cNvSpPr/>
          <p:nvPr/>
        </p:nvSpPr>
        <p:spPr>
          <a:xfrm>
            <a:off x="3287268" y="5808426"/>
            <a:ext cx="255574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Project Mentor</a:t>
            </a:r>
            <a:endParaRPr lang="en-US" sz="1300" dirty="0"/>
          </a:p>
        </p:txBody>
      </p:sp>
      <p:sp>
        <p:nvSpPr>
          <p:cNvPr id="91" name="Shape 88"/>
          <p:cNvSpPr/>
          <p:nvPr/>
        </p:nvSpPr>
        <p:spPr>
          <a:xfrm>
            <a:off x="6345936" y="4985466"/>
            <a:ext cx="2555748" cy="18288"/>
          </a:xfrm>
          <a:prstGeom prst="rect">
            <a:avLst/>
          </a:prstGeom>
          <a:solidFill>
            <a:srgbClr val="12233F"/>
          </a:solidFill>
          <a:ln/>
        </p:spPr>
      </p:sp>
      <p:sp>
        <p:nvSpPr>
          <p:cNvPr id="92" name="Text 89"/>
          <p:cNvSpPr/>
          <p:nvPr/>
        </p:nvSpPr>
        <p:spPr>
          <a:xfrm>
            <a:off x="6345936" y="5076906"/>
            <a:ext cx="255574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Fleet Operations Data</a:t>
            </a:r>
            <a:endParaRPr lang="en-US" sz="1300" dirty="0"/>
          </a:p>
        </p:txBody>
      </p:sp>
      <p:sp>
        <p:nvSpPr>
          <p:cNvPr id="93" name="Shape 90"/>
          <p:cNvSpPr/>
          <p:nvPr/>
        </p:nvSpPr>
        <p:spPr>
          <a:xfrm>
            <a:off x="9084564" y="4985466"/>
            <a:ext cx="2555748" cy="18288"/>
          </a:xfrm>
          <a:prstGeom prst="rect">
            <a:avLst/>
          </a:prstGeom>
          <a:solidFill>
            <a:srgbClr val="12233F"/>
          </a:solidFill>
          <a:ln/>
        </p:spPr>
      </p:sp>
      <p:sp>
        <p:nvSpPr>
          <p:cNvPr id="94" name="Text 91"/>
          <p:cNvSpPr/>
          <p:nvPr/>
        </p:nvSpPr>
        <p:spPr>
          <a:xfrm>
            <a:off x="9084564" y="5076906"/>
            <a:ext cx="255574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Fuel Consumption Data</a:t>
            </a:r>
            <a:endParaRPr lang="en-US" sz="1300" dirty="0"/>
          </a:p>
        </p:txBody>
      </p:sp>
      <p:sp>
        <p:nvSpPr>
          <p:cNvPr id="95" name="Shape 92"/>
          <p:cNvSpPr/>
          <p:nvPr/>
        </p:nvSpPr>
        <p:spPr>
          <a:xfrm>
            <a:off x="6345936" y="5716986"/>
            <a:ext cx="2555748" cy="18288"/>
          </a:xfrm>
          <a:prstGeom prst="rect">
            <a:avLst/>
          </a:prstGeom>
          <a:solidFill>
            <a:srgbClr val="12233F"/>
          </a:solidFill>
          <a:ln/>
        </p:spPr>
      </p:sp>
      <p:sp>
        <p:nvSpPr>
          <p:cNvPr id="96" name="Text 93"/>
          <p:cNvSpPr/>
          <p:nvPr/>
        </p:nvSpPr>
        <p:spPr>
          <a:xfrm>
            <a:off x="6345936" y="5808426"/>
            <a:ext cx="255574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Survey &amp; Production Records</a:t>
            </a:r>
            <a:endParaRPr lang="en-US" sz="1300" dirty="0"/>
          </a:p>
        </p:txBody>
      </p:sp>
      <p:sp>
        <p:nvSpPr>
          <p:cNvPr id="97" name="Shape 94"/>
          <p:cNvSpPr/>
          <p:nvPr/>
        </p:nvSpPr>
        <p:spPr>
          <a:xfrm>
            <a:off x="9084564" y="5716986"/>
            <a:ext cx="2555748" cy="18288"/>
          </a:xfrm>
          <a:prstGeom prst="rect">
            <a:avLst/>
          </a:prstGeom>
          <a:solidFill>
            <a:srgbClr val="12233F"/>
          </a:solidFill>
          <a:ln/>
        </p:spPr>
      </p:sp>
      <p:sp>
        <p:nvSpPr>
          <p:cNvPr id="98" name="Text 95"/>
          <p:cNvSpPr/>
          <p:nvPr/>
        </p:nvSpPr>
        <p:spPr>
          <a:xfrm>
            <a:off x="9084564" y="5808426"/>
            <a:ext cx="2555748" cy="457200"/>
          </a:xfrm>
          <a:prstGeom prst="rect">
            <a:avLst/>
          </a:prstGeom>
          <a:noFill/>
          <a:ln/>
        </p:spPr>
        <p:txBody>
          <a:bodyPr wrap="square" rtlCol="0" anchor="ctr"/>
          <a:lstStyle/>
          <a:p>
            <a:pPr marL="0" indent="0">
              <a:lnSpc>
                <a:spcPct val="115000"/>
              </a:lnSpc>
              <a:buNone/>
            </a:pPr>
            <a:r>
              <a:rPr lang="en-US" sz="1300" b="1" dirty="0">
                <a:solidFill>
                  <a:srgbClr val="12233F"/>
                </a:solidFill>
                <a:latin typeface="Arial" pitchFamily="34" charset="0"/>
                <a:ea typeface="Arial" pitchFamily="34" charset="-122"/>
                <a:cs typeface="Arial" pitchFamily="34" charset="-120"/>
              </a:rPr>
              <a:t>Equipment Performance Data</a:t>
            </a:r>
            <a:endParaRPr lang="en-US" sz="1300" dirty="0"/>
          </a:p>
        </p:txBody>
      </p:sp>
      <p:grpSp>
        <p:nvGrpSpPr>
          <p:cNvPr id="99" name="Group 5">
            <a:extLst>
              <a:ext uri="{FF2B5EF4-FFF2-40B4-BE49-F238E27FC236}">
                <a16:creationId xmlns:a16="http://schemas.microsoft.com/office/drawing/2014/main" id="{23384623-E447-062F-F342-1B7C268427BC}"/>
              </a:ext>
            </a:extLst>
          </p:cNvPr>
          <p:cNvGrpSpPr/>
          <p:nvPr/>
        </p:nvGrpSpPr>
        <p:grpSpPr>
          <a:xfrm>
            <a:off x="548640" y="996252"/>
            <a:ext cx="4860000" cy="45719"/>
            <a:chOff x="0" y="0"/>
            <a:chExt cx="14068412" cy="121920"/>
          </a:xfrm>
        </p:grpSpPr>
        <p:sp>
          <p:nvSpPr>
            <p:cNvPr id="100" name="Freeform 6" descr="D:\Corp Comm Department Work 2015\Brand Adani 2012\adani_gradient_master.jpg">
              <a:extLst>
                <a:ext uri="{FF2B5EF4-FFF2-40B4-BE49-F238E27FC236}">
                  <a16:creationId xmlns:a16="http://schemas.microsoft.com/office/drawing/2014/main" id="{EBD163B5-4DA4-B4C3-AAF3-4E28DBB8DE09}"/>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3"/>
              <a:stretch>
                <a:fillRect b="-5072"/>
              </a:stretch>
            </a:blipFill>
          </p:spPr>
          <p:txBody>
            <a:bodyPr/>
            <a:lstStyle/>
            <a:p>
              <a:endParaRPr lang="en-IN"/>
            </a:p>
          </p:txBody>
        </p:sp>
      </p:grpSp>
      <p:grpSp>
        <p:nvGrpSpPr>
          <p:cNvPr id="101" name="Group 3">
            <a:extLst>
              <a:ext uri="{FF2B5EF4-FFF2-40B4-BE49-F238E27FC236}">
                <a16:creationId xmlns:a16="http://schemas.microsoft.com/office/drawing/2014/main" id="{EAAEA5E0-AE3F-7848-BD07-00B07EBDC1E9}"/>
              </a:ext>
            </a:extLst>
          </p:cNvPr>
          <p:cNvGrpSpPr/>
          <p:nvPr/>
        </p:nvGrpSpPr>
        <p:grpSpPr>
          <a:xfrm>
            <a:off x="10056527" y="6189371"/>
            <a:ext cx="2136000" cy="669944"/>
            <a:chOff x="0" y="0"/>
            <a:chExt cx="4272001" cy="1339888"/>
          </a:xfrm>
        </p:grpSpPr>
        <p:sp>
          <p:nvSpPr>
            <p:cNvPr id="102" name="Freeform 4">
              <a:extLst>
                <a:ext uri="{FF2B5EF4-FFF2-40B4-BE49-F238E27FC236}">
                  <a16:creationId xmlns:a16="http://schemas.microsoft.com/office/drawing/2014/main" id="{625A77FF-630A-4D5B-9FE4-23565B3C2566}"/>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4"/>
              <a:stretch>
                <a:fillRect l="-470838" t="-924095" b="-2"/>
              </a:stretch>
            </a:blipFill>
          </p:spPr>
        </p:sp>
      </p:grpSp>
      <p:sp>
        <p:nvSpPr>
          <p:cNvPr id="104" name="Shape 57">
            <a:extLst>
              <a:ext uri="{FF2B5EF4-FFF2-40B4-BE49-F238E27FC236}">
                <a16:creationId xmlns:a16="http://schemas.microsoft.com/office/drawing/2014/main" id="{51F7A3AE-2D57-4FF8-C822-8FACF72953BE}"/>
              </a:ext>
            </a:extLst>
          </p:cNvPr>
          <p:cNvSpPr/>
          <p:nvPr/>
        </p:nvSpPr>
        <p:spPr>
          <a:xfrm>
            <a:off x="7141476" y="3113022"/>
            <a:ext cx="10973" cy="603504"/>
          </a:xfrm>
          <a:prstGeom prst="rect">
            <a:avLst/>
          </a:prstGeom>
          <a:solidFill>
            <a:srgbClr val="0070C0"/>
          </a:solidFill>
          <a:ln/>
        </p:spPr>
      </p:sp>
      <p:sp>
        <p:nvSpPr>
          <p:cNvPr id="106" name="Shape 57">
            <a:extLst>
              <a:ext uri="{FF2B5EF4-FFF2-40B4-BE49-F238E27FC236}">
                <a16:creationId xmlns:a16="http://schemas.microsoft.com/office/drawing/2014/main" id="{9A5D0F8B-4FA6-5463-6C15-3817A0B0C997}"/>
              </a:ext>
            </a:extLst>
          </p:cNvPr>
          <p:cNvSpPr/>
          <p:nvPr/>
        </p:nvSpPr>
        <p:spPr>
          <a:xfrm>
            <a:off x="2884734" y="3103544"/>
            <a:ext cx="10973" cy="603504"/>
          </a:xfrm>
          <a:prstGeom prst="rect">
            <a:avLst/>
          </a:prstGeom>
          <a:solidFill>
            <a:srgbClr val="0070C0"/>
          </a:solidFill>
          <a:ln/>
        </p:spPr>
      </p:sp>
      <p:sp>
        <p:nvSpPr>
          <p:cNvPr id="108" name="Shape 69">
            <a:extLst>
              <a:ext uri="{FF2B5EF4-FFF2-40B4-BE49-F238E27FC236}">
                <a16:creationId xmlns:a16="http://schemas.microsoft.com/office/drawing/2014/main" id="{B3036D4C-E2FD-7451-59D4-8C0E649BE4E9}"/>
              </a:ext>
            </a:extLst>
          </p:cNvPr>
          <p:cNvSpPr/>
          <p:nvPr/>
        </p:nvSpPr>
        <p:spPr>
          <a:xfrm>
            <a:off x="7141476" y="3121293"/>
            <a:ext cx="10973" cy="603504"/>
          </a:xfrm>
          <a:prstGeom prst="rect">
            <a:avLst/>
          </a:prstGeom>
          <a:solidFill>
            <a:srgbClr val="0070C0"/>
          </a:solidFill>
          <a:ln/>
        </p:spPr>
      </p:sp>
    </p:spTree>
    <p:extLst>
      <p:ext uri="{BB962C8B-B14F-4D97-AF65-F5344CB8AC3E}">
        <p14:creationId xmlns:p14="http://schemas.microsoft.com/office/powerpoint/2010/main" val="771213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2934" y="398010"/>
            <a:ext cx="8686800" cy="457200"/>
          </a:xfrm>
          <a:prstGeom prst="rect">
            <a:avLst/>
          </a:prstGeom>
          <a:noFill/>
          <a:ln/>
        </p:spPr>
        <p:txBody>
          <a:bodyPr wrap="square" rtlCol="0" anchor="ctr"/>
          <a:lstStyle/>
          <a:p>
            <a:pPr marL="0" indent="0">
              <a:buNone/>
            </a:pPr>
            <a:r>
              <a:rPr lang="en-US" sz="2400" dirty="0">
                <a:solidFill>
                  <a:srgbClr val="0070C0"/>
                </a:solidFill>
                <a:latin typeface="Arial" pitchFamily="34" charset="0"/>
                <a:ea typeface="Arial" pitchFamily="34" charset="-122"/>
                <a:cs typeface="Arial" pitchFamily="34" charset="-120"/>
              </a:rPr>
              <a:t>Fleet Performance Assessment</a:t>
            </a:r>
            <a:endParaRPr lang="en-US" sz="2400" dirty="0"/>
          </a:p>
        </p:txBody>
      </p:sp>
      <p:sp>
        <p:nvSpPr>
          <p:cNvPr id="54" name="Text 51"/>
          <p:cNvSpPr/>
          <p:nvPr/>
        </p:nvSpPr>
        <p:spPr>
          <a:xfrm>
            <a:off x="548640" y="937781"/>
            <a:ext cx="7315200" cy="182880"/>
          </a:xfrm>
          <a:prstGeom prst="rect">
            <a:avLst/>
          </a:prstGeom>
          <a:noFill/>
          <a:ln/>
        </p:spPr>
        <p:txBody>
          <a:bodyPr wrap="square" rtlCol="0" anchor="ctr"/>
          <a:lstStyle/>
          <a:p>
            <a:pPr marL="0" indent="0">
              <a:buNone/>
            </a:pPr>
            <a:r>
              <a:rPr lang="en-US" sz="950" b="1" kern="0" spc="120" dirty="0">
                <a:solidFill>
                  <a:srgbClr val="3A3A3A"/>
                </a:solidFill>
                <a:latin typeface="Arial" pitchFamily="34" charset="0"/>
                <a:ea typeface="Arial" pitchFamily="34" charset="-122"/>
                <a:cs typeface="Arial" pitchFamily="34" charset="-120"/>
              </a:rPr>
              <a:t>SUPPORTING PERFORMANCE TRENDS</a:t>
            </a:r>
            <a:endParaRPr lang="en-US" sz="950" dirty="0"/>
          </a:p>
        </p:txBody>
      </p:sp>
      <p:graphicFrame>
        <p:nvGraphicFramePr>
          <p:cNvPr id="55" name="Chart 0"/>
          <p:cNvGraphicFramePr/>
          <p:nvPr>
            <p:extLst>
              <p:ext uri="{D42A27DB-BD31-4B8C-83A1-F6EECF244321}">
                <p14:modId xmlns:p14="http://schemas.microsoft.com/office/powerpoint/2010/main" val="829744228"/>
              </p:ext>
            </p:extLst>
          </p:nvPr>
        </p:nvGraphicFramePr>
        <p:xfrm>
          <a:off x="548640" y="1343775"/>
          <a:ext cx="5362956" cy="1417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6" name="Chart 1"/>
          <p:cNvGraphicFramePr/>
          <p:nvPr>
            <p:extLst>
              <p:ext uri="{D42A27DB-BD31-4B8C-83A1-F6EECF244321}">
                <p14:modId xmlns:p14="http://schemas.microsoft.com/office/powerpoint/2010/main" val="3556684244"/>
              </p:ext>
            </p:extLst>
          </p:nvPr>
        </p:nvGraphicFramePr>
        <p:xfrm>
          <a:off x="6277356" y="1343775"/>
          <a:ext cx="5362956" cy="1417320"/>
        </p:xfrm>
        <a:graphic>
          <a:graphicData uri="http://schemas.openxmlformats.org/drawingml/2006/chart">
            <c:chart xmlns:c="http://schemas.openxmlformats.org/drawingml/2006/chart" xmlns:r="http://schemas.openxmlformats.org/officeDocument/2006/relationships" r:id="rId4"/>
          </a:graphicData>
        </a:graphic>
      </p:graphicFrame>
      <p:sp>
        <p:nvSpPr>
          <p:cNvPr id="57" name="Text 52"/>
          <p:cNvSpPr/>
          <p:nvPr/>
        </p:nvSpPr>
        <p:spPr>
          <a:xfrm>
            <a:off x="596346" y="1174409"/>
            <a:ext cx="5362956" cy="201168"/>
          </a:xfrm>
          <a:prstGeom prst="rect">
            <a:avLst/>
          </a:prstGeom>
          <a:noFill/>
          <a:ln/>
        </p:spPr>
        <p:txBody>
          <a:bodyPr wrap="square" rtlCol="0" anchor="ctr"/>
          <a:lstStyle/>
          <a:p>
            <a:pPr marL="0" indent="0">
              <a:buNone/>
            </a:pPr>
            <a:r>
              <a:rPr lang="en-US" sz="1050" b="1" dirty="0">
                <a:solidFill>
                  <a:srgbClr val="12233F"/>
                </a:solidFill>
                <a:latin typeface="Arial" pitchFamily="34" charset="0"/>
                <a:ea typeface="Arial" pitchFamily="34" charset="-122"/>
                <a:cs typeface="Arial" pitchFamily="34" charset="-120"/>
              </a:rPr>
              <a:t>Equipment Availability</a:t>
            </a:r>
            <a:endParaRPr lang="en-US" sz="1050" dirty="0"/>
          </a:p>
        </p:txBody>
      </p:sp>
      <p:sp>
        <p:nvSpPr>
          <p:cNvPr id="58" name="Text 53"/>
          <p:cNvSpPr/>
          <p:nvPr/>
        </p:nvSpPr>
        <p:spPr>
          <a:xfrm>
            <a:off x="6325062" y="1174409"/>
            <a:ext cx="5362956" cy="201168"/>
          </a:xfrm>
          <a:prstGeom prst="rect">
            <a:avLst/>
          </a:prstGeom>
          <a:noFill/>
          <a:ln/>
        </p:spPr>
        <p:txBody>
          <a:bodyPr wrap="square" rtlCol="0" anchor="ctr"/>
          <a:lstStyle/>
          <a:p>
            <a:pPr marL="0" indent="0">
              <a:buNone/>
            </a:pPr>
            <a:r>
              <a:rPr lang="en-US" sz="1050" b="1" dirty="0">
                <a:solidFill>
                  <a:srgbClr val="12233F"/>
                </a:solidFill>
                <a:latin typeface="Arial" pitchFamily="34" charset="0"/>
                <a:ea typeface="Arial" pitchFamily="34" charset="-122"/>
                <a:cs typeface="Arial" pitchFamily="34" charset="-120"/>
              </a:rPr>
              <a:t>Fleet Utilization</a:t>
            </a:r>
            <a:endParaRPr lang="en-US" sz="1050" dirty="0"/>
          </a:p>
        </p:txBody>
      </p:sp>
      <p:sp>
        <p:nvSpPr>
          <p:cNvPr id="59" name="Text 54"/>
          <p:cNvSpPr/>
          <p:nvPr/>
        </p:nvSpPr>
        <p:spPr>
          <a:xfrm>
            <a:off x="548640" y="2874002"/>
            <a:ext cx="5362956" cy="228600"/>
          </a:xfrm>
          <a:prstGeom prst="rect">
            <a:avLst/>
          </a:prstGeom>
          <a:noFill/>
          <a:ln/>
        </p:spPr>
        <p:txBody>
          <a:bodyPr wrap="square" rtlCol="0" anchor="ctr"/>
          <a:lstStyle/>
          <a:p>
            <a:pPr marL="0" indent="0" algn="ctr">
              <a:buNone/>
            </a:pPr>
            <a:r>
              <a:rPr lang="en-US" sz="950" dirty="0">
                <a:solidFill>
                  <a:srgbClr val="6B6B6B"/>
                </a:solidFill>
                <a:latin typeface="Arial" pitchFamily="34" charset="0"/>
                <a:ea typeface="Arial" pitchFamily="34" charset="-122"/>
                <a:cs typeface="Arial" pitchFamily="34" charset="-120"/>
              </a:rPr>
              <a:t>↓ 9.6 percentage point decline during the study period</a:t>
            </a:r>
            <a:endParaRPr lang="en-US" sz="950" dirty="0"/>
          </a:p>
        </p:txBody>
      </p:sp>
      <p:sp>
        <p:nvSpPr>
          <p:cNvPr id="60" name="Text 55"/>
          <p:cNvSpPr/>
          <p:nvPr/>
        </p:nvSpPr>
        <p:spPr>
          <a:xfrm>
            <a:off x="6277356" y="2874002"/>
            <a:ext cx="5362956" cy="228600"/>
          </a:xfrm>
          <a:prstGeom prst="rect">
            <a:avLst/>
          </a:prstGeom>
          <a:noFill/>
          <a:ln/>
        </p:spPr>
        <p:txBody>
          <a:bodyPr wrap="square" rtlCol="0" anchor="ctr"/>
          <a:lstStyle/>
          <a:p>
            <a:pPr marL="0" indent="0" algn="ctr">
              <a:buNone/>
            </a:pPr>
            <a:r>
              <a:rPr lang="en-US" sz="950" dirty="0">
                <a:solidFill>
                  <a:srgbClr val="6B6B6B"/>
                </a:solidFill>
                <a:latin typeface="Arial" pitchFamily="34" charset="0"/>
                <a:ea typeface="Arial" pitchFamily="34" charset="-122"/>
                <a:cs typeface="Arial" pitchFamily="34" charset="-120"/>
              </a:rPr>
              <a:t>Lowest utilization recorded in April with partial recovery in May</a:t>
            </a:r>
            <a:endParaRPr lang="en-US" sz="950" dirty="0"/>
          </a:p>
        </p:txBody>
      </p:sp>
      <p:sp>
        <p:nvSpPr>
          <p:cNvPr id="61" name="Shape 56"/>
          <p:cNvSpPr/>
          <p:nvPr/>
        </p:nvSpPr>
        <p:spPr>
          <a:xfrm>
            <a:off x="550164" y="3136270"/>
            <a:ext cx="11091672" cy="7315"/>
          </a:xfrm>
          <a:prstGeom prst="rect">
            <a:avLst/>
          </a:prstGeom>
          <a:solidFill>
            <a:srgbClr val="D9D9D9"/>
          </a:solidFill>
          <a:ln/>
        </p:spPr>
      </p:sp>
      <p:sp>
        <p:nvSpPr>
          <p:cNvPr id="62" name="Text 57"/>
          <p:cNvSpPr/>
          <p:nvPr/>
        </p:nvSpPr>
        <p:spPr>
          <a:xfrm>
            <a:off x="548640" y="3211934"/>
            <a:ext cx="7315200" cy="182880"/>
          </a:xfrm>
          <a:prstGeom prst="rect">
            <a:avLst/>
          </a:prstGeom>
          <a:noFill/>
          <a:ln/>
        </p:spPr>
        <p:txBody>
          <a:bodyPr wrap="square" rtlCol="0" anchor="ctr"/>
          <a:lstStyle/>
          <a:p>
            <a:pPr marL="0" indent="0">
              <a:buNone/>
            </a:pPr>
            <a:r>
              <a:rPr lang="en-US" sz="950" b="1" kern="0" spc="120" dirty="0">
                <a:solidFill>
                  <a:srgbClr val="3A3A3A"/>
                </a:solidFill>
                <a:latin typeface="Arial" pitchFamily="34" charset="0"/>
                <a:ea typeface="Arial" pitchFamily="34" charset="-122"/>
                <a:cs typeface="Arial" pitchFamily="34" charset="-120"/>
              </a:rPr>
              <a:t>BREAKDOWN PERFORMANCE</a:t>
            </a:r>
            <a:endParaRPr lang="en-US" sz="950" dirty="0"/>
          </a:p>
        </p:txBody>
      </p:sp>
      <p:sp>
        <p:nvSpPr>
          <p:cNvPr id="63" name="Text 58"/>
          <p:cNvSpPr/>
          <p:nvPr/>
        </p:nvSpPr>
        <p:spPr>
          <a:xfrm>
            <a:off x="596346" y="3405151"/>
            <a:ext cx="5486400" cy="292608"/>
          </a:xfrm>
          <a:prstGeom prst="rect">
            <a:avLst/>
          </a:prstGeom>
          <a:noFill/>
          <a:ln/>
        </p:spPr>
        <p:txBody>
          <a:bodyPr wrap="square" rtlCol="0" anchor="ctr"/>
          <a:lstStyle/>
          <a:p>
            <a:pPr marL="0" indent="0">
              <a:buNone/>
            </a:pPr>
            <a:r>
              <a:rPr lang="en-US" sz="1500" b="1" dirty="0">
                <a:solidFill>
                  <a:srgbClr val="12233F"/>
                </a:solidFill>
                <a:latin typeface="Arial" pitchFamily="34" charset="0"/>
                <a:ea typeface="Arial" pitchFamily="34" charset="-122"/>
                <a:cs typeface="Arial" pitchFamily="34" charset="-120"/>
              </a:rPr>
              <a:t>Fleet Breakdown Hours</a:t>
            </a:r>
            <a:endParaRPr lang="en-US" sz="1500" dirty="0"/>
          </a:p>
        </p:txBody>
      </p:sp>
      <p:graphicFrame>
        <p:nvGraphicFramePr>
          <p:cNvPr id="64" name="Chart 2"/>
          <p:cNvGraphicFramePr/>
          <p:nvPr>
            <p:extLst>
              <p:ext uri="{D42A27DB-BD31-4B8C-83A1-F6EECF244321}">
                <p14:modId xmlns:p14="http://schemas.microsoft.com/office/powerpoint/2010/main" val="1101913542"/>
              </p:ext>
            </p:extLst>
          </p:nvPr>
        </p:nvGraphicFramePr>
        <p:xfrm>
          <a:off x="3062498" y="3221408"/>
          <a:ext cx="6339078" cy="1979358"/>
        </p:xfrm>
        <a:graphic>
          <a:graphicData uri="http://schemas.openxmlformats.org/drawingml/2006/chart">
            <c:chart xmlns:c="http://schemas.openxmlformats.org/drawingml/2006/chart" xmlns:r="http://schemas.openxmlformats.org/officeDocument/2006/relationships" r:id="rId5"/>
          </a:graphicData>
        </a:graphic>
      </p:graphicFrame>
      <p:sp>
        <p:nvSpPr>
          <p:cNvPr id="65" name="Shape 59"/>
          <p:cNvSpPr/>
          <p:nvPr/>
        </p:nvSpPr>
        <p:spPr>
          <a:xfrm>
            <a:off x="536910" y="5148960"/>
            <a:ext cx="11091672" cy="7315"/>
          </a:xfrm>
          <a:prstGeom prst="rect">
            <a:avLst/>
          </a:prstGeom>
          <a:solidFill>
            <a:srgbClr val="D9D9D9"/>
          </a:solidFill>
          <a:ln/>
        </p:spPr>
      </p:sp>
      <p:sp>
        <p:nvSpPr>
          <p:cNvPr id="66" name="Text 60"/>
          <p:cNvSpPr/>
          <p:nvPr/>
        </p:nvSpPr>
        <p:spPr>
          <a:xfrm>
            <a:off x="536910" y="5233011"/>
            <a:ext cx="7315200" cy="182880"/>
          </a:xfrm>
          <a:prstGeom prst="rect">
            <a:avLst/>
          </a:prstGeom>
          <a:noFill/>
          <a:ln/>
        </p:spPr>
        <p:txBody>
          <a:bodyPr wrap="square" rtlCol="0" anchor="ctr"/>
          <a:lstStyle/>
          <a:p>
            <a:pPr marL="0" indent="0">
              <a:buNone/>
            </a:pPr>
            <a:r>
              <a:rPr lang="en-US" sz="950" b="1" kern="0" spc="120" dirty="0">
                <a:solidFill>
                  <a:srgbClr val="3A3A3A"/>
                </a:solidFill>
                <a:latin typeface="Arial" pitchFamily="34" charset="0"/>
                <a:ea typeface="Arial" pitchFamily="34" charset="-122"/>
                <a:cs typeface="Arial" pitchFamily="34" charset="-120"/>
              </a:rPr>
              <a:t>OPERATIONAL HIGHLIGHTS</a:t>
            </a:r>
            <a:endParaRPr lang="en-US" sz="950" dirty="0"/>
          </a:p>
        </p:txBody>
      </p:sp>
      <p:sp>
        <p:nvSpPr>
          <p:cNvPr id="67" name="Shape 61"/>
          <p:cNvSpPr/>
          <p:nvPr/>
        </p:nvSpPr>
        <p:spPr>
          <a:xfrm>
            <a:off x="548640" y="5472891"/>
            <a:ext cx="3246120" cy="22860"/>
          </a:xfrm>
          <a:prstGeom prst="rect">
            <a:avLst/>
          </a:prstGeom>
          <a:solidFill>
            <a:srgbClr val="00A99D"/>
          </a:solidFill>
          <a:ln/>
        </p:spPr>
      </p:sp>
      <p:sp>
        <p:nvSpPr>
          <p:cNvPr id="68" name="Text 62"/>
          <p:cNvSpPr/>
          <p:nvPr/>
        </p:nvSpPr>
        <p:spPr>
          <a:xfrm>
            <a:off x="548640" y="5600907"/>
            <a:ext cx="3246120" cy="182880"/>
          </a:xfrm>
          <a:prstGeom prst="rect">
            <a:avLst/>
          </a:prstGeom>
          <a:noFill/>
          <a:ln/>
        </p:spPr>
        <p:txBody>
          <a:bodyPr wrap="square" rtlCol="0" anchor="ctr"/>
          <a:lstStyle/>
          <a:p>
            <a:pPr marL="0" indent="0" algn="ctr">
              <a:buNone/>
            </a:pPr>
            <a:r>
              <a:rPr lang="en-US" sz="900" b="1" kern="0" spc="80" dirty="0">
                <a:solidFill>
                  <a:srgbClr val="6B6B6B"/>
                </a:solidFill>
                <a:latin typeface="Arial" pitchFamily="34" charset="0"/>
                <a:ea typeface="Arial" pitchFamily="34" charset="-122"/>
                <a:cs typeface="Arial" pitchFamily="34" charset="-120"/>
              </a:rPr>
              <a:t>NON-OPERATIONAL FLEET</a:t>
            </a:r>
            <a:endParaRPr lang="en-US" sz="900" dirty="0"/>
          </a:p>
        </p:txBody>
      </p:sp>
      <p:sp>
        <p:nvSpPr>
          <p:cNvPr id="69" name="Text 63"/>
          <p:cNvSpPr/>
          <p:nvPr/>
        </p:nvSpPr>
        <p:spPr>
          <a:xfrm>
            <a:off x="548640" y="5802075"/>
            <a:ext cx="3246120" cy="320040"/>
          </a:xfrm>
          <a:prstGeom prst="rect">
            <a:avLst/>
          </a:prstGeom>
          <a:noFill/>
          <a:ln/>
        </p:spPr>
        <p:txBody>
          <a:bodyPr wrap="square" rtlCol="0" anchor="ctr"/>
          <a:lstStyle/>
          <a:p>
            <a:pPr marL="0" indent="0" algn="ctr">
              <a:buNone/>
            </a:pPr>
            <a:r>
              <a:rPr lang="en-US" sz="1600" b="1" dirty="0">
                <a:solidFill>
                  <a:srgbClr val="12233F"/>
                </a:solidFill>
                <a:latin typeface="Arial" pitchFamily="34" charset="0"/>
                <a:ea typeface="Arial" pitchFamily="34" charset="-122"/>
                <a:cs typeface="Arial" pitchFamily="34" charset="-120"/>
              </a:rPr>
              <a:t>7 → 9 → 14</a:t>
            </a:r>
            <a:endParaRPr lang="en-US" sz="1600" dirty="0"/>
          </a:p>
        </p:txBody>
      </p:sp>
      <p:sp>
        <p:nvSpPr>
          <p:cNvPr id="70" name="Text 64"/>
          <p:cNvSpPr/>
          <p:nvPr/>
        </p:nvSpPr>
        <p:spPr>
          <a:xfrm>
            <a:off x="548640" y="6112971"/>
            <a:ext cx="3246120" cy="219456"/>
          </a:xfrm>
          <a:prstGeom prst="rect">
            <a:avLst/>
          </a:prstGeom>
          <a:noFill/>
          <a:ln/>
        </p:spPr>
        <p:txBody>
          <a:bodyPr wrap="square" rtlCol="0" anchor="ctr"/>
          <a:lstStyle/>
          <a:p>
            <a:pPr marL="0" indent="0" algn="ctr">
              <a:lnSpc>
                <a:spcPct val="115000"/>
              </a:lnSpc>
              <a:buNone/>
            </a:pPr>
            <a:r>
              <a:rPr lang="en-US" sz="900" dirty="0">
                <a:solidFill>
                  <a:srgbClr val="6B6B6B"/>
                </a:solidFill>
                <a:latin typeface="Arial" pitchFamily="34" charset="0"/>
                <a:ea typeface="Arial" pitchFamily="34" charset="-122"/>
                <a:cs typeface="Arial" pitchFamily="34" charset="-120"/>
              </a:rPr>
              <a:t>Machines remained non-operational</a:t>
            </a:r>
            <a:endParaRPr lang="en-US" sz="900" dirty="0"/>
          </a:p>
        </p:txBody>
      </p:sp>
      <p:sp>
        <p:nvSpPr>
          <p:cNvPr id="71" name="Shape 65"/>
          <p:cNvSpPr/>
          <p:nvPr/>
        </p:nvSpPr>
        <p:spPr>
          <a:xfrm>
            <a:off x="4069080" y="5472891"/>
            <a:ext cx="3840480" cy="22860"/>
          </a:xfrm>
          <a:prstGeom prst="rect">
            <a:avLst/>
          </a:prstGeom>
          <a:solidFill>
            <a:srgbClr val="12233F"/>
          </a:solidFill>
          <a:ln/>
        </p:spPr>
      </p:sp>
      <p:sp>
        <p:nvSpPr>
          <p:cNvPr id="72" name="Text 66"/>
          <p:cNvSpPr/>
          <p:nvPr/>
        </p:nvSpPr>
        <p:spPr>
          <a:xfrm>
            <a:off x="4069080" y="5600907"/>
            <a:ext cx="3840480" cy="182880"/>
          </a:xfrm>
          <a:prstGeom prst="rect">
            <a:avLst/>
          </a:prstGeom>
          <a:noFill/>
          <a:ln/>
        </p:spPr>
        <p:txBody>
          <a:bodyPr wrap="square" rtlCol="0" anchor="ctr"/>
          <a:lstStyle/>
          <a:p>
            <a:pPr marL="0" indent="0" algn="ctr">
              <a:buNone/>
            </a:pPr>
            <a:r>
              <a:rPr lang="en-US" sz="900" b="1" kern="0" spc="80" dirty="0">
                <a:solidFill>
                  <a:srgbClr val="6B6B6B"/>
                </a:solidFill>
                <a:latin typeface="Arial" pitchFamily="34" charset="0"/>
                <a:ea typeface="Arial" pitchFamily="34" charset="-122"/>
                <a:cs typeface="Arial" pitchFamily="34" charset="-120"/>
              </a:rPr>
              <a:t>BREAKDOWN HOURS</a:t>
            </a:r>
            <a:endParaRPr lang="en-US" sz="900" dirty="0"/>
          </a:p>
        </p:txBody>
      </p:sp>
      <p:sp>
        <p:nvSpPr>
          <p:cNvPr id="73" name="Text 67"/>
          <p:cNvSpPr/>
          <p:nvPr/>
        </p:nvSpPr>
        <p:spPr>
          <a:xfrm>
            <a:off x="4069080" y="5802075"/>
            <a:ext cx="3840480" cy="320040"/>
          </a:xfrm>
          <a:prstGeom prst="rect">
            <a:avLst/>
          </a:prstGeom>
          <a:noFill/>
          <a:ln/>
        </p:spPr>
        <p:txBody>
          <a:bodyPr wrap="square" rtlCol="0" anchor="ctr"/>
          <a:lstStyle/>
          <a:p>
            <a:pPr marL="0" indent="0" algn="ctr">
              <a:buNone/>
            </a:pPr>
            <a:r>
              <a:rPr lang="en-US" sz="1600" b="1" dirty="0">
                <a:solidFill>
                  <a:srgbClr val="12233F"/>
                </a:solidFill>
                <a:latin typeface="Arial" pitchFamily="34" charset="0"/>
                <a:ea typeface="Arial" pitchFamily="34" charset="-122"/>
                <a:cs typeface="Arial" pitchFamily="34" charset="-120"/>
              </a:rPr>
              <a:t>49.9k → 64.3k</a:t>
            </a:r>
            <a:endParaRPr lang="en-US" sz="1600" dirty="0"/>
          </a:p>
        </p:txBody>
      </p:sp>
      <p:sp>
        <p:nvSpPr>
          <p:cNvPr id="74" name="Text 68"/>
          <p:cNvSpPr/>
          <p:nvPr/>
        </p:nvSpPr>
        <p:spPr>
          <a:xfrm>
            <a:off x="4069080" y="6112971"/>
            <a:ext cx="3840480" cy="219456"/>
          </a:xfrm>
          <a:prstGeom prst="rect">
            <a:avLst/>
          </a:prstGeom>
          <a:noFill/>
          <a:ln/>
        </p:spPr>
        <p:txBody>
          <a:bodyPr wrap="square" rtlCol="0" anchor="ctr"/>
          <a:lstStyle/>
          <a:p>
            <a:pPr marL="0" indent="0" algn="ctr">
              <a:lnSpc>
                <a:spcPct val="115000"/>
              </a:lnSpc>
              <a:buNone/>
            </a:pPr>
            <a:r>
              <a:rPr lang="en-US" sz="900" dirty="0">
                <a:solidFill>
                  <a:srgbClr val="6B6B6B"/>
                </a:solidFill>
                <a:latin typeface="Arial" pitchFamily="34" charset="0"/>
                <a:ea typeface="Arial" pitchFamily="34" charset="-122"/>
                <a:cs typeface="Arial" pitchFamily="34" charset="-120"/>
              </a:rPr>
              <a:t>≈29% increase over the study period</a:t>
            </a:r>
            <a:endParaRPr lang="en-US" sz="900" dirty="0"/>
          </a:p>
        </p:txBody>
      </p:sp>
      <p:sp>
        <p:nvSpPr>
          <p:cNvPr id="75" name="Shape 69"/>
          <p:cNvSpPr/>
          <p:nvPr/>
        </p:nvSpPr>
        <p:spPr>
          <a:xfrm>
            <a:off x="8183880" y="5472891"/>
            <a:ext cx="3246120" cy="22860"/>
          </a:xfrm>
          <a:prstGeom prst="rect">
            <a:avLst/>
          </a:prstGeom>
          <a:solidFill>
            <a:srgbClr val="00A99D"/>
          </a:solidFill>
          <a:ln/>
        </p:spPr>
      </p:sp>
      <p:sp>
        <p:nvSpPr>
          <p:cNvPr id="76" name="Text 70"/>
          <p:cNvSpPr/>
          <p:nvPr/>
        </p:nvSpPr>
        <p:spPr>
          <a:xfrm>
            <a:off x="8183880" y="5600907"/>
            <a:ext cx="3246120" cy="182880"/>
          </a:xfrm>
          <a:prstGeom prst="rect">
            <a:avLst/>
          </a:prstGeom>
          <a:noFill/>
          <a:ln/>
        </p:spPr>
        <p:txBody>
          <a:bodyPr wrap="square" rtlCol="0" anchor="ctr"/>
          <a:lstStyle/>
          <a:p>
            <a:pPr marL="0" indent="0" algn="ctr">
              <a:buNone/>
            </a:pPr>
            <a:r>
              <a:rPr lang="en-US" sz="900" b="1" kern="0" spc="80" dirty="0">
                <a:solidFill>
                  <a:srgbClr val="6B6B6B"/>
                </a:solidFill>
                <a:latin typeface="Arial" pitchFamily="34" charset="0"/>
                <a:ea typeface="Arial" pitchFamily="34" charset="-122"/>
                <a:cs typeface="Arial" pitchFamily="34" charset="-120"/>
              </a:rPr>
              <a:t>FLEET PERFORMANCE</a:t>
            </a:r>
            <a:endParaRPr lang="en-US" sz="900" dirty="0"/>
          </a:p>
        </p:txBody>
      </p:sp>
      <p:sp>
        <p:nvSpPr>
          <p:cNvPr id="77" name="Text 71"/>
          <p:cNvSpPr/>
          <p:nvPr/>
        </p:nvSpPr>
        <p:spPr>
          <a:xfrm>
            <a:off x="8183880" y="5802075"/>
            <a:ext cx="3246120" cy="320040"/>
          </a:xfrm>
          <a:prstGeom prst="rect">
            <a:avLst/>
          </a:prstGeom>
          <a:noFill/>
          <a:ln/>
        </p:spPr>
        <p:txBody>
          <a:bodyPr wrap="square" rtlCol="0" anchor="ctr"/>
          <a:lstStyle/>
          <a:p>
            <a:pPr marL="0" indent="0" algn="ctr">
              <a:buNone/>
            </a:pPr>
            <a:r>
              <a:rPr lang="en-US" sz="1600" b="1" dirty="0">
                <a:solidFill>
                  <a:srgbClr val="12233F"/>
                </a:solidFill>
                <a:latin typeface="Arial" pitchFamily="34" charset="0"/>
                <a:ea typeface="Arial" pitchFamily="34" charset="-122"/>
                <a:cs typeface="Arial" pitchFamily="34" charset="-120"/>
              </a:rPr>
              <a:t>Availability ↓   Utilization ↓</a:t>
            </a:r>
            <a:endParaRPr lang="en-US" sz="1600" dirty="0"/>
          </a:p>
        </p:txBody>
      </p:sp>
      <p:sp>
        <p:nvSpPr>
          <p:cNvPr id="78" name="Text 72"/>
          <p:cNvSpPr/>
          <p:nvPr/>
        </p:nvSpPr>
        <p:spPr>
          <a:xfrm>
            <a:off x="8183880" y="6112971"/>
            <a:ext cx="3246120" cy="219456"/>
          </a:xfrm>
          <a:prstGeom prst="rect">
            <a:avLst/>
          </a:prstGeom>
          <a:noFill/>
          <a:ln/>
        </p:spPr>
        <p:txBody>
          <a:bodyPr wrap="square" rtlCol="0" anchor="ctr"/>
          <a:lstStyle/>
          <a:p>
            <a:pPr marL="0" indent="0" algn="ctr">
              <a:lnSpc>
                <a:spcPct val="115000"/>
              </a:lnSpc>
              <a:buNone/>
            </a:pPr>
            <a:r>
              <a:rPr lang="en-US" sz="900" dirty="0">
                <a:solidFill>
                  <a:srgbClr val="6B6B6B"/>
                </a:solidFill>
                <a:latin typeface="Arial" pitchFamily="34" charset="0"/>
                <a:ea typeface="Arial" pitchFamily="34" charset="-122"/>
                <a:cs typeface="Arial" pitchFamily="34" charset="-120"/>
              </a:rPr>
              <a:t>Overall fleet performance declined</a:t>
            </a:r>
            <a:endParaRPr lang="en-US" sz="900" dirty="0"/>
          </a:p>
        </p:txBody>
      </p:sp>
      <p:grpSp>
        <p:nvGrpSpPr>
          <p:cNvPr id="79" name="Group 5">
            <a:extLst>
              <a:ext uri="{FF2B5EF4-FFF2-40B4-BE49-F238E27FC236}">
                <a16:creationId xmlns:a16="http://schemas.microsoft.com/office/drawing/2014/main" id="{33150EC3-7C21-B4A0-7A33-0A39D515175C}"/>
              </a:ext>
            </a:extLst>
          </p:cNvPr>
          <p:cNvGrpSpPr/>
          <p:nvPr/>
        </p:nvGrpSpPr>
        <p:grpSpPr>
          <a:xfrm>
            <a:off x="536910" y="810641"/>
            <a:ext cx="5076000" cy="45719"/>
            <a:chOff x="0" y="0"/>
            <a:chExt cx="14068412" cy="121920"/>
          </a:xfrm>
        </p:grpSpPr>
        <p:sp>
          <p:nvSpPr>
            <p:cNvPr id="80" name="Freeform 6" descr="D:\Corp Comm Department Work 2015\Brand Adani 2012\adani_gradient_master.jpg">
              <a:extLst>
                <a:ext uri="{FF2B5EF4-FFF2-40B4-BE49-F238E27FC236}">
                  <a16:creationId xmlns:a16="http://schemas.microsoft.com/office/drawing/2014/main" id="{28E6B53D-CDA4-DB79-D282-E0C205F54D9B}"/>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6"/>
              <a:stretch>
                <a:fillRect b="-5072"/>
              </a:stretch>
            </a:blipFill>
          </p:spPr>
          <p:txBody>
            <a:bodyPr/>
            <a:lstStyle/>
            <a:p>
              <a:endParaRPr lang="en-IN"/>
            </a:p>
          </p:txBody>
        </p:sp>
      </p:grpSp>
      <p:grpSp>
        <p:nvGrpSpPr>
          <p:cNvPr id="81" name="Group 3">
            <a:extLst>
              <a:ext uri="{FF2B5EF4-FFF2-40B4-BE49-F238E27FC236}">
                <a16:creationId xmlns:a16="http://schemas.microsoft.com/office/drawing/2014/main" id="{F671C2E7-5F12-80CD-2828-226643861BAB}"/>
              </a:ext>
            </a:extLst>
          </p:cNvPr>
          <p:cNvGrpSpPr/>
          <p:nvPr/>
        </p:nvGrpSpPr>
        <p:grpSpPr>
          <a:xfrm>
            <a:off x="10056527" y="6189371"/>
            <a:ext cx="2136000" cy="669944"/>
            <a:chOff x="0" y="0"/>
            <a:chExt cx="4272001" cy="1339888"/>
          </a:xfrm>
        </p:grpSpPr>
        <p:sp>
          <p:nvSpPr>
            <p:cNvPr id="82" name="Freeform 4">
              <a:extLst>
                <a:ext uri="{FF2B5EF4-FFF2-40B4-BE49-F238E27FC236}">
                  <a16:creationId xmlns:a16="http://schemas.microsoft.com/office/drawing/2014/main" id="{FF76F7B6-787D-5C45-18F5-247711AE11B6}"/>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7"/>
              <a:stretch>
                <a:fillRect l="-470838" t="-924095" b="-2"/>
              </a:stretch>
            </a:blipFill>
          </p:spPr>
        </p:sp>
      </p:grpSp>
    </p:spTree>
    <p:extLst>
      <p:ext uri="{BB962C8B-B14F-4D97-AF65-F5344CB8AC3E}">
        <p14:creationId xmlns:p14="http://schemas.microsoft.com/office/powerpoint/2010/main" val="2657779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Shape 115">
            <a:extLst>
              <a:ext uri="{FF2B5EF4-FFF2-40B4-BE49-F238E27FC236}">
                <a16:creationId xmlns:a16="http://schemas.microsoft.com/office/drawing/2014/main" id="{7147EBA8-4F96-4D9F-5E60-3AF77E423586}"/>
              </a:ext>
            </a:extLst>
          </p:cNvPr>
          <p:cNvSpPr/>
          <p:nvPr/>
        </p:nvSpPr>
        <p:spPr>
          <a:xfrm>
            <a:off x="603660" y="5781159"/>
            <a:ext cx="6229848" cy="669925"/>
          </a:xfrm>
          <a:prstGeom prst="rect">
            <a:avLst/>
          </a:prstGeom>
          <a:solidFill>
            <a:srgbClr val="F9F9FA"/>
          </a:solidFill>
          <a:ln/>
        </p:spPr>
        <p:txBody>
          <a:bodyPr/>
          <a:lstStyle/>
          <a:p>
            <a:endParaRPr lang="en-IN" dirty="0"/>
          </a:p>
        </p:txBody>
      </p:sp>
      <p:sp>
        <p:nvSpPr>
          <p:cNvPr id="118" name="Shape 115"/>
          <p:cNvSpPr/>
          <p:nvPr/>
        </p:nvSpPr>
        <p:spPr>
          <a:xfrm>
            <a:off x="7364815" y="4244412"/>
            <a:ext cx="4279392" cy="766128"/>
          </a:xfrm>
          <a:prstGeom prst="rect">
            <a:avLst/>
          </a:prstGeom>
          <a:solidFill>
            <a:srgbClr val="F9F9FA"/>
          </a:solidFill>
          <a:ln/>
        </p:spPr>
        <p:txBody>
          <a:bodyPr/>
          <a:lstStyle/>
          <a:p>
            <a:endParaRPr lang="en-IN" dirty="0"/>
          </a:p>
        </p:txBody>
      </p:sp>
      <p:sp>
        <p:nvSpPr>
          <p:cNvPr id="132" name="Shape 22">
            <a:extLst>
              <a:ext uri="{FF2B5EF4-FFF2-40B4-BE49-F238E27FC236}">
                <a16:creationId xmlns:a16="http://schemas.microsoft.com/office/drawing/2014/main" id="{5487B46F-51B5-CC3F-D6F6-A30546DCD249}"/>
              </a:ext>
            </a:extLst>
          </p:cNvPr>
          <p:cNvSpPr/>
          <p:nvPr/>
        </p:nvSpPr>
        <p:spPr>
          <a:xfrm>
            <a:off x="3760470" y="1409609"/>
            <a:ext cx="2804464" cy="1131570"/>
          </a:xfrm>
          <a:prstGeom prst="rect">
            <a:avLst/>
          </a:prstGeom>
          <a:solidFill>
            <a:srgbClr val="E9F0F5"/>
          </a:solidFill>
          <a:ln w="25400">
            <a:solidFill>
              <a:srgbClr val="FFFFFF"/>
            </a:solidFill>
            <a:prstDash val="solid"/>
          </a:ln>
        </p:spPr>
      </p:sp>
      <p:sp>
        <p:nvSpPr>
          <p:cNvPr id="130" name="Shape 7">
            <a:extLst>
              <a:ext uri="{FF2B5EF4-FFF2-40B4-BE49-F238E27FC236}">
                <a16:creationId xmlns:a16="http://schemas.microsoft.com/office/drawing/2014/main" id="{6D68897A-69C1-6E79-746B-7987F4B5587A}"/>
              </a:ext>
            </a:extLst>
          </p:cNvPr>
          <p:cNvSpPr/>
          <p:nvPr/>
        </p:nvSpPr>
        <p:spPr>
          <a:xfrm>
            <a:off x="860908" y="2604744"/>
            <a:ext cx="2822752" cy="1137775"/>
          </a:xfrm>
          <a:prstGeom prst="rect">
            <a:avLst/>
          </a:prstGeom>
          <a:solidFill>
            <a:srgbClr val="FDEEDC"/>
          </a:solidFill>
          <a:ln w="25400">
            <a:solidFill>
              <a:srgbClr val="FFFFFF"/>
            </a:solidFill>
            <a:prstDash val="solid"/>
          </a:ln>
        </p:spPr>
      </p:sp>
      <p:sp>
        <p:nvSpPr>
          <p:cNvPr id="2" name="Text 0"/>
          <p:cNvSpPr/>
          <p:nvPr/>
        </p:nvSpPr>
        <p:spPr>
          <a:xfrm>
            <a:off x="548640" y="493408"/>
            <a:ext cx="8686800" cy="438912"/>
          </a:xfrm>
          <a:prstGeom prst="rect">
            <a:avLst/>
          </a:prstGeom>
          <a:noFill/>
          <a:ln/>
        </p:spPr>
        <p:txBody>
          <a:bodyPr wrap="square" rtlCol="0" anchor="ctr"/>
          <a:lstStyle/>
          <a:p>
            <a:pPr marL="0" indent="0">
              <a:buNone/>
            </a:pPr>
            <a:r>
              <a:rPr lang="en-US" sz="2300" dirty="0">
                <a:solidFill>
                  <a:srgbClr val="0070C0"/>
                </a:solidFill>
                <a:latin typeface="Arial" pitchFamily="34" charset="0"/>
                <a:ea typeface="Arial" pitchFamily="34" charset="-122"/>
                <a:cs typeface="Arial" pitchFamily="34" charset="-120"/>
              </a:rPr>
              <a:t>Fleet Reliability Assessment</a:t>
            </a:r>
            <a:endParaRPr lang="en-US" sz="2300" dirty="0"/>
          </a:p>
        </p:txBody>
      </p:sp>
      <p:sp>
        <p:nvSpPr>
          <p:cNvPr id="54" name="Text 51"/>
          <p:cNvSpPr/>
          <p:nvPr/>
        </p:nvSpPr>
        <p:spPr>
          <a:xfrm>
            <a:off x="648547" y="1126148"/>
            <a:ext cx="7315200" cy="182880"/>
          </a:xfrm>
          <a:prstGeom prst="rect">
            <a:avLst/>
          </a:prstGeom>
          <a:noFill/>
          <a:ln/>
        </p:spPr>
        <p:txBody>
          <a:bodyPr wrap="square" rtlCol="0" anchor="ctr"/>
          <a:lstStyle/>
          <a:p>
            <a:pPr marL="0" indent="0">
              <a:buNone/>
            </a:pPr>
            <a:r>
              <a:rPr lang="en-US" sz="1000" b="1" kern="0" spc="120" dirty="0">
                <a:solidFill>
                  <a:schemeClr val="accent1">
                    <a:lumMod val="75000"/>
                  </a:schemeClr>
                </a:solidFill>
                <a:latin typeface="Arial" pitchFamily="34" charset="0"/>
                <a:ea typeface="Arial" pitchFamily="34" charset="-122"/>
                <a:cs typeface="Arial" pitchFamily="34" charset="-120"/>
                <a:hlinkClick r:id="rId3" action="ppaction://hlinkfile">
                  <a:extLst>
                    <a:ext uri="{A12FA001-AC4F-418D-AE19-62706E023703}">
                      <ahyp:hlinkClr xmlns:ahyp="http://schemas.microsoft.com/office/drawing/2018/hyperlinkcolor" val="tx"/>
                    </a:ext>
                  </a:extLst>
                </a:hlinkClick>
              </a:rPr>
              <a:t>MTBF-MTTR RELIABILITY CLASSIFICATION</a:t>
            </a:r>
            <a:endParaRPr lang="en-US" sz="1000" b="1" dirty="0">
              <a:solidFill>
                <a:schemeClr val="accent1">
                  <a:lumMod val="75000"/>
                </a:schemeClr>
              </a:solidFill>
            </a:endParaRPr>
          </a:p>
        </p:txBody>
      </p:sp>
      <p:sp>
        <p:nvSpPr>
          <p:cNvPr id="55" name="Text 52"/>
          <p:cNvSpPr/>
          <p:nvPr/>
        </p:nvSpPr>
        <p:spPr>
          <a:xfrm>
            <a:off x="6277356" y="1093490"/>
            <a:ext cx="5394960" cy="201168"/>
          </a:xfrm>
          <a:prstGeom prst="rect">
            <a:avLst/>
          </a:prstGeom>
          <a:noFill/>
          <a:ln/>
        </p:spPr>
        <p:txBody>
          <a:bodyPr wrap="square" rtlCol="0" anchor="ctr"/>
          <a:lstStyle/>
          <a:p>
            <a:pPr marL="0" indent="0" algn="r">
              <a:buNone/>
            </a:pPr>
            <a:r>
              <a:rPr lang="en-US" sz="950" i="1" dirty="0">
                <a:solidFill>
                  <a:srgbClr val="6B6B6B"/>
                </a:solidFill>
                <a:latin typeface="Arial" pitchFamily="34" charset="0"/>
                <a:ea typeface="Arial" pitchFamily="34" charset="-122"/>
                <a:cs typeface="Arial" pitchFamily="34" charset="-120"/>
              </a:rPr>
              <a:t>Fleet Median:  MTBF = 110 hrs   |   MTTR = 48.2 hrs   (193 machines)</a:t>
            </a:r>
            <a:endParaRPr lang="en-US" sz="950" dirty="0"/>
          </a:p>
        </p:txBody>
      </p:sp>
      <p:sp>
        <p:nvSpPr>
          <p:cNvPr id="62" name="Text 59"/>
          <p:cNvSpPr/>
          <p:nvPr/>
        </p:nvSpPr>
        <p:spPr>
          <a:xfrm>
            <a:off x="3867912" y="1494191"/>
            <a:ext cx="2532888" cy="219456"/>
          </a:xfrm>
          <a:prstGeom prst="rect">
            <a:avLst/>
          </a:prstGeom>
          <a:noFill/>
          <a:ln/>
        </p:spPr>
        <p:txBody>
          <a:bodyPr wrap="square" rtlCol="0" anchor="ctr"/>
          <a:lstStyle/>
          <a:p>
            <a:pPr marL="0" indent="0">
              <a:buNone/>
            </a:pPr>
            <a:r>
              <a:rPr lang="en-US" sz="1150" b="1" dirty="0">
                <a:solidFill>
                  <a:srgbClr val="0B5FA5"/>
                </a:solidFill>
                <a:latin typeface="Arial" pitchFamily="34" charset="0"/>
                <a:ea typeface="Arial" pitchFamily="34" charset="-122"/>
                <a:cs typeface="Arial" pitchFamily="34" charset="-120"/>
              </a:rPr>
              <a:t>Q2</a:t>
            </a:r>
            <a:endParaRPr lang="en-US" sz="1150" dirty="0"/>
          </a:p>
        </p:txBody>
      </p:sp>
      <p:sp>
        <p:nvSpPr>
          <p:cNvPr id="63" name="Text 60"/>
          <p:cNvSpPr/>
          <p:nvPr/>
        </p:nvSpPr>
        <p:spPr>
          <a:xfrm>
            <a:off x="3901829" y="1729492"/>
            <a:ext cx="2532888" cy="201168"/>
          </a:xfrm>
          <a:prstGeom prst="rect">
            <a:avLst/>
          </a:prstGeom>
          <a:noFill/>
          <a:ln/>
        </p:spPr>
        <p:txBody>
          <a:bodyPr wrap="square" rtlCol="0" anchor="ctr"/>
          <a:lstStyle/>
          <a:p>
            <a:pPr marL="0" indent="0">
              <a:buNone/>
            </a:pPr>
            <a:r>
              <a:rPr lang="en-US" sz="900" dirty="0">
                <a:solidFill>
                  <a:srgbClr val="3A3A3A"/>
                </a:solidFill>
                <a:latin typeface="Arial" pitchFamily="34" charset="0"/>
                <a:ea typeface="Arial" pitchFamily="34" charset="-122"/>
                <a:cs typeface="Arial" pitchFamily="34" charset="-120"/>
              </a:rPr>
              <a:t>High MTBF + High MTTR</a:t>
            </a:r>
            <a:endParaRPr lang="en-US" sz="900" dirty="0"/>
          </a:p>
        </p:txBody>
      </p:sp>
      <p:sp>
        <p:nvSpPr>
          <p:cNvPr id="64" name="Text 61"/>
          <p:cNvSpPr/>
          <p:nvPr/>
        </p:nvSpPr>
        <p:spPr>
          <a:xfrm>
            <a:off x="3896258" y="2178195"/>
            <a:ext cx="2532888" cy="237744"/>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36 Machines (18%)</a:t>
            </a:r>
            <a:endParaRPr lang="en-US" sz="1300" dirty="0"/>
          </a:p>
        </p:txBody>
      </p:sp>
      <p:sp>
        <p:nvSpPr>
          <p:cNvPr id="65" name="Text 62"/>
          <p:cNvSpPr/>
          <p:nvPr/>
        </p:nvSpPr>
        <p:spPr>
          <a:xfrm>
            <a:off x="3901829" y="1901209"/>
            <a:ext cx="2532888" cy="237744"/>
          </a:xfrm>
          <a:prstGeom prst="rect">
            <a:avLst/>
          </a:prstGeom>
          <a:noFill/>
          <a:ln/>
        </p:spPr>
        <p:txBody>
          <a:bodyPr wrap="square" rtlCol="0" anchor="ctr"/>
          <a:lstStyle/>
          <a:p>
            <a:pPr marL="0" indent="0">
              <a:buNone/>
            </a:pPr>
            <a:r>
              <a:rPr lang="en-US" sz="950" b="1" dirty="0">
                <a:solidFill>
                  <a:srgbClr val="0B5FA5"/>
                </a:solidFill>
                <a:latin typeface="Arial" pitchFamily="34" charset="0"/>
                <a:ea typeface="Arial" pitchFamily="34" charset="-122"/>
                <a:cs typeface="Arial" pitchFamily="34" charset="-120"/>
              </a:rPr>
              <a:t>Reliable, Slow Repair</a:t>
            </a:r>
            <a:endParaRPr lang="en-US" sz="950" dirty="0"/>
          </a:p>
        </p:txBody>
      </p:sp>
      <p:sp>
        <p:nvSpPr>
          <p:cNvPr id="67" name="Text 64"/>
          <p:cNvSpPr/>
          <p:nvPr/>
        </p:nvSpPr>
        <p:spPr>
          <a:xfrm>
            <a:off x="1005840" y="2687483"/>
            <a:ext cx="2532888" cy="219456"/>
          </a:xfrm>
          <a:prstGeom prst="rect">
            <a:avLst/>
          </a:prstGeom>
          <a:noFill/>
          <a:ln/>
        </p:spPr>
        <p:txBody>
          <a:bodyPr wrap="square" rtlCol="0" anchor="ctr"/>
          <a:lstStyle/>
          <a:p>
            <a:pPr marL="0" indent="0">
              <a:buNone/>
            </a:pPr>
            <a:r>
              <a:rPr lang="en-US" sz="1150" b="1" dirty="0">
                <a:solidFill>
                  <a:srgbClr val="C1690C"/>
                </a:solidFill>
                <a:latin typeface="Arial" pitchFamily="34" charset="0"/>
                <a:ea typeface="Arial" pitchFamily="34" charset="-122"/>
                <a:cs typeface="Arial" pitchFamily="34" charset="-120"/>
              </a:rPr>
              <a:t>Q3</a:t>
            </a:r>
            <a:endParaRPr lang="en-US" sz="1150" dirty="0"/>
          </a:p>
        </p:txBody>
      </p:sp>
      <p:sp>
        <p:nvSpPr>
          <p:cNvPr id="68" name="Text 65"/>
          <p:cNvSpPr/>
          <p:nvPr/>
        </p:nvSpPr>
        <p:spPr>
          <a:xfrm>
            <a:off x="1005840" y="2925227"/>
            <a:ext cx="2532888" cy="201168"/>
          </a:xfrm>
          <a:prstGeom prst="rect">
            <a:avLst/>
          </a:prstGeom>
          <a:noFill/>
          <a:ln/>
        </p:spPr>
        <p:txBody>
          <a:bodyPr wrap="square" rtlCol="0" anchor="ctr"/>
          <a:lstStyle/>
          <a:p>
            <a:pPr marL="0" indent="0">
              <a:buNone/>
            </a:pPr>
            <a:r>
              <a:rPr lang="en-US" sz="900" dirty="0">
                <a:solidFill>
                  <a:srgbClr val="3A3A3A"/>
                </a:solidFill>
                <a:latin typeface="Arial" pitchFamily="34" charset="0"/>
                <a:ea typeface="Arial" pitchFamily="34" charset="-122"/>
                <a:cs typeface="Arial" pitchFamily="34" charset="-120"/>
              </a:rPr>
              <a:t>Low MTBF + Low MTTR</a:t>
            </a:r>
            <a:endParaRPr lang="en-US" sz="900" dirty="0"/>
          </a:p>
        </p:txBody>
      </p:sp>
      <p:sp>
        <p:nvSpPr>
          <p:cNvPr id="69" name="Text 66"/>
          <p:cNvSpPr/>
          <p:nvPr/>
        </p:nvSpPr>
        <p:spPr>
          <a:xfrm>
            <a:off x="993953" y="3404717"/>
            <a:ext cx="2532888" cy="237744"/>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34 Machines (18%)</a:t>
            </a:r>
            <a:endParaRPr lang="en-US" sz="1300" dirty="0"/>
          </a:p>
        </p:txBody>
      </p:sp>
      <p:sp>
        <p:nvSpPr>
          <p:cNvPr id="70" name="Text 67"/>
          <p:cNvSpPr/>
          <p:nvPr/>
        </p:nvSpPr>
        <p:spPr>
          <a:xfrm>
            <a:off x="998524" y="3094801"/>
            <a:ext cx="2532888" cy="237744"/>
          </a:xfrm>
          <a:prstGeom prst="rect">
            <a:avLst/>
          </a:prstGeom>
          <a:noFill/>
          <a:ln/>
        </p:spPr>
        <p:txBody>
          <a:bodyPr wrap="square" rtlCol="0" anchor="ctr"/>
          <a:lstStyle/>
          <a:p>
            <a:pPr marL="0" indent="0">
              <a:buNone/>
            </a:pPr>
            <a:r>
              <a:rPr lang="en-US" sz="950" b="1" dirty="0">
                <a:solidFill>
                  <a:srgbClr val="C1690C"/>
                </a:solidFill>
                <a:latin typeface="Arial" pitchFamily="34" charset="0"/>
                <a:ea typeface="Arial" pitchFamily="34" charset="-122"/>
                <a:cs typeface="Arial" pitchFamily="34" charset="-120"/>
              </a:rPr>
              <a:t>Frequent but Fast</a:t>
            </a:r>
            <a:endParaRPr lang="en-US" sz="950" dirty="0"/>
          </a:p>
        </p:txBody>
      </p:sp>
      <p:sp>
        <p:nvSpPr>
          <p:cNvPr id="76" name="Text 73"/>
          <p:cNvSpPr/>
          <p:nvPr/>
        </p:nvSpPr>
        <p:spPr>
          <a:xfrm>
            <a:off x="868680" y="3789335"/>
            <a:ext cx="5669280" cy="182880"/>
          </a:xfrm>
          <a:prstGeom prst="rect">
            <a:avLst/>
          </a:prstGeom>
          <a:noFill/>
          <a:ln/>
        </p:spPr>
        <p:txBody>
          <a:bodyPr wrap="square" rtlCol="0" anchor="ctr"/>
          <a:lstStyle/>
          <a:p>
            <a:pPr marL="0" indent="0" algn="ctr">
              <a:buNone/>
            </a:pPr>
            <a:r>
              <a:rPr lang="en-US" sz="850" dirty="0">
                <a:solidFill>
                  <a:srgbClr val="6B6B6B"/>
                </a:solidFill>
                <a:latin typeface="Arial" pitchFamily="34" charset="0"/>
                <a:ea typeface="Arial" pitchFamily="34" charset="-122"/>
                <a:cs typeface="Arial" pitchFamily="34" charset="-120"/>
              </a:rPr>
              <a:t>←  Low MTTR                                              High MTTR  →</a:t>
            </a:r>
            <a:endParaRPr lang="en-US" sz="850" dirty="0"/>
          </a:p>
        </p:txBody>
      </p:sp>
      <p:sp>
        <p:nvSpPr>
          <p:cNvPr id="77" name="Text 74"/>
          <p:cNvSpPr/>
          <p:nvPr/>
        </p:nvSpPr>
        <p:spPr>
          <a:xfrm>
            <a:off x="301752" y="1402751"/>
            <a:ext cx="502920" cy="1138428"/>
          </a:xfrm>
          <a:prstGeom prst="rect">
            <a:avLst/>
          </a:prstGeom>
          <a:noFill/>
          <a:ln/>
        </p:spPr>
        <p:txBody>
          <a:bodyPr wrap="square" rtlCol="0" anchor="ctr"/>
          <a:lstStyle/>
          <a:p>
            <a:pPr marL="0" indent="0" algn="ctr">
              <a:lnSpc>
                <a:spcPct val="110000"/>
              </a:lnSpc>
              <a:buNone/>
            </a:pPr>
            <a:r>
              <a:rPr lang="en-US" sz="800" dirty="0">
                <a:solidFill>
                  <a:srgbClr val="6B6B6B"/>
                </a:solidFill>
                <a:latin typeface="Arial" pitchFamily="34" charset="0"/>
                <a:ea typeface="Arial" pitchFamily="34" charset="-122"/>
                <a:cs typeface="Arial" pitchFamily="34" charset="-120"/>
              </a:rPr>
              <a:t>↑ High</a:t>
            </a:r>
            <a:endParaRPr lang="en-US" sz="800" dirty="0"/>
          </a:p>
          <a:p>
            <a:pPr marL="0" indent="0" algn="ctr">
              <a:lnSpc>
                <a:spcPct val="110000"/>
              </a:lnSpc>
              <a:buNone/>
            </a:pPr>
            <a:r>
              <a:rPr lang="en-US" sz="800" dirty="0">
                <a:solidFill>
                  <a:srgbClr val="6B6B6B"/>
                </a:solidFill>
                <a:latin typeface="Arial" pitchFamily="34" charset="0"/>
                <a:ea typeface="Arial" pitchFamily="34" charset="-122"/>
                <a:cs typeface="Arial" pitchFamily="34" charset="-120"/>
              </a:rPr>
              <a:t>MTBF</a:t>
            </a:r>
            <a:endParaRPr lang="en-US" sz="800" dirty="0"/>
          </a:p>
        </p:txBody>
      </p:sp>
      <p:sp>
        <p:nvSpPr>
          <p:cNvPr id="78" name="Text 75"/>
          <p:cNvSpPr/>
          <p:nvPr/>
        </p:nvSpPr>
        <p:spPr>
          <a:xfrm>
            <a:off x="301752" y="2596043"/>
            <a:ext cx="502920" cy="1138428"/>
          </a:xfrm>
          <a:prstGeom prst="rect">
            <a:avLst/>
          </a:prstGeom>
          <a:noFill/>
          <a:ln/>
        </p:spPr>
        <p:txBody>
          <a:bodyPr wrap="square" rtlCol="0" anchor="ctr"/>
          <a:lstStyle/>
          <a:p>
            <a:pPr marL="0" indent="0" algn="ctr">
              <a:lnSpc>
                <a:spcPct val="110000"/>
              </a:lnSpc>
              <a:buNone/>
            </a:pPr>
            <a:r>
              <a:rPr lang="en-US" sz="800" dirty="0">
                <a:solidFill>
                  <a:srgbClr val="6B6B6B"/>
                </a:solidFill>
                <a:latin typeface="Arial" pitchFamily="34" charset="0"/>
                <a:ea typeface="Arial" pitchFamily="34" charset="-122"/>
                <a:cs typeface="Arial" pitchFamily="34" charset="-120"/>
              </a:rPr>
              <a:t>↓ Low</a:t>
            </a:r>
            <a:endParaRPr lang="en-US" sz="800" dirty="0"/>
          </a:p>
          <a:p>
            <a:pPr marL="0" indent="0" algn="ctr">
              <a:lnSpc>
                <a:spcPct val="110000"/>
              </a:lnSpc>
              <a:buNone/>
            </a:pPr>
            <a:r>
              <a:rPr lang="en-US" sz="800" dirty="0">
                <a:solidFill>
                  <a:srgbClr val="6B6B6B"/>
                </a:solidFill>
                <a:latin typeface="Arial" pitchFamily="34" charset="0"/>
                <a:ea typeface="Arial" pitchFamily="34" charset="-122"/>
                <a:cs typeface="Arial" pitchFamily="34" charset="-120"/>
              </a:rPr>
              <a:t>MTBF</a:t>
            </a:r>
            <a:endParaRPr lang="en-US" sz="800" dirty="0"/>
          </a:p>
        </p:txBody>
      </p:sp>
      <p:sp>
        <p:nvSpPr>
          <p:cNvPr id="79" name="Shape 76"/>
          <p:cNvSpPr/>
          <p:nvPr/>
        </p:nvSpPr>
        <p:spPr>
          <a:xfrm>
            <a:off x="6858000" y="1402751"/>
            <a:ext cx="4782312" cy="514350"/>
          </a:xfrm>
          <a:prstGeom prst="rect">
            <a:avLst/>
          </a:prstGeom>
          <a:solidFill>
            <a:srgbClr val="F9F9FA"/>
          </a:solidFill>
          <a:ln/>
        </p:spPr>
      </p:sp>
      <p:sp>
        <p:nvSpPr>
          <p:cNvPr id="80" name="Text 77"/>
          <p:cNvSpPr/>
          <p:nvPr/>
        </p:nvSpPr>
        <p:spPr>
          <a:xfrm>
            <a:off x="6995160" y="1457615"/>
            <a:ext cx="4507992" cy="201168"/>
          </a:xfrm>
          <a:prstGeom prst="rect">
            <a:avLst/>
          </a:prstGeom>
          <a:noFill/>
          <a:ln/>
        </p:spPr>
        <p:txBody>
          <a:bodyPr wrap="square" rtlCol="0" anchor="ctr"/>
          <a:lstStyle/>
          <a:p>
            <a:pPr marL="0" indent="0">
              <a:buNone/>
            </a:pPr>
            <a:r>
              <a:rPr lang="en-US" sz="1000" b="1" dirty="0">
                <a:solidFill>
                  <a:srgbClr val="12233F"/>
                </a:solidFill>
                <a:latin typeface="Arial" pitchFamily="34" charset="0"/>
                <a:ea typeface="Arial" pitchFamily="34" charset="-122"/>
                <a:cs typeface="Arial" pitchFamily="34" charset="-120"/>
              </a:rPr>
              <a:t>Q1 — Protect &amp; Benchmark</a:t>
            </a:r>
            <a:endParaRPr lang="en-US" sz="1000" dirty="0"/>
          </a:p>
        </p:txBody>
      </p:sp>
      <p:sp>
        <p:nvSpPr>
          <p:cNvPr id="81" name="Text 78"/>
          <p:cNvSpPr/>
          <p:nvPr/>
        </p:nvSpPr>
        <p:spPr>
          <a:xfrm>
            <a:off x="6995160" y="1649639"/>
            <a:ext cx="4507992" cy="240030"/>
          </a:xfrm>
          <a:prstGeom prst="rect">
            <a:avLst/>
          </a:prstGeom>
          <a:noFill/>
          <a:ln/>
        </p:spPr>
        <p:txBody>
          <a:bodyPr wrap="square" rtlCol="0" anchor="ctr"/>
          <a:lstStyle/>
          <a:p>
            <a:pPr marL="0" indent="0">
              <a:lnSpc>
                <a:spcPct val="120000"/>
              </a:lnSpc>
              <a:buNone/>
            </a:pPr>
            <a:r>
              <a:rPr lang="en-US" sz="850" dirty="0">
                <a:solidFill>
                  <a:srgbClr val="3A3A3A"/>
                </a:solidFill>
                <a:latin typeface="Arial" pitchFamily="34" charset="0"/>
                <a:ea typeface="Arial" pitchFamily="34" charset="-122"/>
                <a:cs typeface="Arial" pitchFamily="34" charset="-120"/>
              </a:rPr>
              <a:t>Replicate maintenance best practices across similar assets.</a:t>
            </a:r>
            <a:endParaRPr lang="en-US" sz="850" dirty="0"/>
          </a:p>
        </p:txBody>
      </p:sp>
      <p:sp>
        <p:nvSpPr>
          <p:cNvPr id="82" name="Shape 79"/>
          <p:cNvSpPr/>
          <p:nvPr/>
        </p:nvSpPr>
        <p:spPr>
          <a:xfrm>
            <a:off x="6858000" y="2008541"/>
            <a:ext cx="4782312" cy="514350"/>
          </a:xfrm>
          <a:prstGeom prst="rect">
            <a:avLst/>
          </a:prstGeom>
          <a:solidFill>
            <a:srgbClr val="F9F9FA"/>
          </a:solidFill>
          <a:ln/>
        </p:spPr>
      </p:sp>
      <p:sp>
        <p:nvSpPr>
          <p:cNvPr id="83" name="Text 80"/>
          <p:cNvSpPr/>
          <p:nvPr/>
        </p:nvSpPr>
        <p:spPr>
          <a:xfrm>
            <a:off x="6995160" y="2063405"/>
            <a:ext cx="4507992" cy="201168"/>
          </a:xfrm>
          <a:prstGeom prst="rect">
            <a:avLst/>
          </a:prstGeom>
          <a:noFill/>
          <a:ln/>
        </p:spPr>
        <p:txBody>
          <a:bodyPr wrap="square" rtlCol="0" anchor="ctr"/>
          <a:lstStyle/>
          <a:p>
            <a:pPr marL="0" indent="0">
              <a:buNone/>
            </a:pPr>
            <a:r>
              <a:rPr lang="en-US" sz="1000" b="1" dirty="0">
                <a:solidFill>
                  <a:srgbClr val="12233F"/>
                </a:solidFill>
                <a:latin typeface="Arial" pitchFamily="34" charset="0"/>
                <a:ea typeface="Arial" pitchFamily="34" charset="-122"/>
                <a:cs typeface="Arial" pitchFamily="34" charset="-120"/>
              </a:rPr>
              <a:t>Q2 — Reduce Repair Time</a:t>
            </a:r>
            <a:endParaRPr lang="en-US" sz="1000" dirty="0"/>
          </a:p>
        </p:txBody>
      </p:sp>
      <p:sp>
        <p:nvSpPr>
          <p:cNvPr id="84" name="Text 81"/>
          <p:cNvSpPr/>
          <p:nvPr/>
        </p:nvSpPr>
        <p:spPr>
          <a:xfrm>
            <a:off x="6995160" y="2255429"/>
            <a:ext cx="4507992" cy="240030"/>
          </a:xfrm>
          <a:prstGeom prst="rect">
            <a:avLst/>
          </a:prstGeom>
          <a:noFill/>
          <a:ln/>
        </p:spPr>
        <p:txBody>
          <a:bodyPr wrap="square" rtlCol="0" anchor="ctr"/>
          <a:lstStyle/>
          <a:p>
            <a:pPr marL="0" indent="0">
              <a:lnSpc>
                <a:spcPct val="120000"/>
              </a:lnSpc>
              <a:buNone/>
            </a:pPr>
            <a:r>
              <a:rPr lang="en-US" sz="850" dirty="0">
                <a:solidFill>
                  <a:srgbClr val="3A3A3A"/>
                </a:solidFill>
                <a:latin typeface="Arial" pitchFamily="34" charset="0"/>
                <a:ea typeface="Arial" pitchFamily="34" charset="-122"/>
                <a:cs typeface="Arial" pitchFamily="34" charset="-120"/>
              </a:rPr>
              <a:t>Improve spare availability and workshop turnaround.</a:t>
            </a:r>
            <a:endParaRPr lang="en-US" sz="850" dirty="0"/>
          </a:p>
        </p:txBody>
      </p:sp>
      <p:sp>
        <p:nvSpPr>
          <p:cNvPr id="85" name="Shape 82"/>
          <p:cNvSpPr/>
          <p:nvPr/>
        </p:nvSpPr>
        <p:spPr>
          <a:xfrm>
            <a:off x="6858000" y="2614331"/>
            <a:ext cx="4782312" cy="514350"/>
          </a:xfrm>
          <a:prstGeom prst="rect">
            <a:avLst/>
          </a:prstGeom>
          <a:solidFill>
            <a:srgbClr val="F9F9FA"/>
          </a:solidFill>
          <a:ln/>
        </p:spPr>
      </p:sp>
      <p:sp>
        <p:nvSpPr>
          <p:cNvPr id="86" name="Text 83"/>
          <p:cNvSpPr/>
          <p:nvPr/>
        </p:nvSpPr>
        <p:spPr>
          <a:xfrm>
            <a:off x="6995160" y="2669195"/>
            <a:ext cx="4507992" cy="201168"/>
          </a:xfrm>
          <a:prstGeom prst="rect">
            <a:avLst/>
          </a:prstGeom>
          <a:noFill/>
          <a:ln/>
        </p:spPr>
        <p:txBody>
          <a:bodyPr wrap="square" rtlCol="0" anchor="ctr"/>
          <a:lstStyle/>
          <a:p>
            <a:pPr marL="0" indent="0">
              <a:buNone/>
            </a:pPr>
            <a:r>
              <a:rPr lang="en-US" sz="1000" b="1" dirty="0">
                <a:solidFill>
                  <a:srgbClr val="12233F"/>
                </a:solidFill>
                <a:latin typeface="Arial" pitchFamily="34" charset="0"/>
                <a:ea typeface="Arial" pitchFamily="34" charset="-122"/>
                <a:cs typeface="Arial" pitchFamily="34" charset="-120"/>
              </a:rPr>
              <a:t>Q3 — Root Cause Analysis</a:t>
            </a:r>
            <a:endParaRPr lang="en-US" sz="1000" dirty="0"/>
          </a:p>
        </p:txBody>
      </p:sp>
      <p:sp>
        <p:nvSpPr>
          <p:cNvPr id="87" name="Text 84"/>
          <p:cNvSpPr/>
          <p:nvPr/>
        </p:nvSpPr>
        <p:spPr>
          <a:xfrm>
            <a:off x="6995160" y="2861219"/>
            <a:ext cx="4507992" cy="240030"/>
          </a:xfrm>
          <a:prstGeom prst="rect">
            <a:avLst/>
          </a:prstGeom>
          <a:noFill/>
          <a:ln/>
        </p:spPr>
        <p:txBody>
          <a:bodyPr wrap="square" rtlCol="0" anchor="ctr"/>
          <a:lstStyle/>
          <a:p>
            <a:pPr marL="0" indent="0">
              <a:lnSpc>
                <a:spcPct val="120000"/>
              </a:lnSpc>
              <a:buNone/>
            </a:pPr>
            <a:r>
              <a:rPr lang="en-US" sz="850" dirty="0">
                <a:solidFill>
                  <a:srgbClr val="3A3A3A"/>
                </a:solidFill>
                <a:latin typeface="Arial" pitchFamily="34" charset="0"/>
                <a:ea typeface="Arial" pitchFamily="34" charset="-122"/>
                <a:cs typeface="Arial" pitchFamily="34" charset="-120"/>
              </a:rPr>
              <a:t>Eliminate recurring failures through preventive maintenance redesign.</a:t>
            </a:r>
            <a:endParaRPr lang="en-US" sz="850" dirty="0"/>
          </a:p>
        </p:txBody>
      </p:sp>
      <p:sp>
        <p:nvSpPr>
          <p:cNvPr id="88" name="Shape 85"/>
          <p:cNvSpPr/>
          <p:nvPr/>
        </p:nvSpPr>
        <p:spPr>
          <a:xfrm>
            <a:off x="6858000" y="3220121"/>
            <a:ext cx="4782312" cy="514350"/>
          </a:xfrm>
          <a:prstGeom prst="rect">
            <a:avLst/>
          </a:prstGeom>
          <a:solidFill>
            <a:srgbClr val="F9F9FA"/>
          </a:solidFill>
          <a:ln/>
        </p:spPr>
      </p:sp>
      <p:sp>
        <p:nvSpPr>
          <p:cNvPr id="89" name="Text 86"/>
          <p:cNvSpPr/>
          <p:nvPr/>
        </p:nvSpPr>
        <p:spPr>
          <a:xfrm>
            <a:off x="6995160" y="3274985"/>
            <a:ext cx="4507992" cy="201168"/>
          </a:xfrm>
          <a:prstGeom prst="rect">
            <a:avLst/>
          </a:prstGeom>
          <a:noFill/>
          <a:ln/>
        </p:spPr>
        <p:txBody>
          <a:bodyPr wrap="square" rtlCol="0" anchor="ctr"/>
          <a:lstStyle/>
          <a:p>
            <a:pPr marL="0" indent="0">
              <a:buNone/>
            </a:pPr>
            <a:r>
              <a:rPr lang="en-US" sz="1000" b="1" dirty="0">
                <a:solidFill>
                  <a:srgbClr val="12233F"/>
                </a:solidFill>
                <a:latin typeface="Arial" pitchFamily="34" charset="0"/>
                <a:ea typeface="Arial" pitchFamily="34" charset="-122"/>
                <a:cs typeface="Arial" pitchFamily="34" charset="-120"/>
              </a:rPr>
              <a:t>Q4 — Immediate Intervention</a:t>
            </a:r>
            <a:endParaRPr lang="en-US" sz="1000" dirty="0"/>
          </a:p>
        </p:txBody>
      </p:sp>
      <p:sp>
        <p:nvSpPr>
          <p:cNvPr id="90" name="Text 87"/>
          <p:cNvSpPr/>
          <p:nvPr/>
        </p:nvSpPr>
        <p:spPr>
          <a:xfrm>
            <a:off x="6995160" y="3467009"/>
            <a:ext cx="4507992" cy="240030"/>
          </a:xfrm>
          <a:prstGeom prst="rect">
            <a:avLst/>
          </a:prstGeom>
          <a:noFill/>
          <a:ln/>
        </p:spPr>
        <p:txBody>
          <a:bodyPr wrap="square" rtlCol="0" anchor="ctr"/>
          <a:lstStyle/>
          <a:p>
            <a:pPr marL="0" indent="0">
              <a:lnSpc>
                <a:spcPct val="120000"/>
              </a:lnSpc>
              <a:buNone/>
            </a:pPr>
            <a:r>
              <a:rPr lang="en-US" sz="850" dirty="0">
                <a:solidFill>
                  <a:srgbClr val="3A3A3A"/>
                </a:solidFill>
                <a:latin typeface="Arial" pitchFamily="34" charset="0"/>
                <a:ea typeface="Arial" pitchFamily="34" charset="-122"/>
                <a:cs typeface="Arial" pitchFamily="34" charset="-120"/>
              </a:rPr>
              <a:t>Prioritize repairs, fast-track spare procurement and evaluate fleet renewal.</a:t>
            </a:r>
            <a:endParaRPr lang="en-US" sz="850" dirty="0"/>
          </a:p>
        </p:txBody>
      </p:sp>
      <p:sp>
        <p:nvSpPr>
          <p:cNvPr id="91" name="Shape 88"/>
          <p:cNvSpPr/>
          <p:nvPr/>
        </p:nvSpPr>
        <p:spPr>
          <a:xfrm>
            <a:off x="580644" y="4066617"/>
            <a:ext cx="11091672" cy="7315"/>
          </a:xfrm>
          <a:prstGeom prst="rect">
            <a:avLst/>
          </a:prstGeom>
          <a:solidFill>
            <a:srgbClr val="D9D9D9"/>
          </a:solidFill>
          <a:ln/>
        </p:spPr>
      </p:sp>
      <p:sp>
        <p:nvSpPr>
          <p:cNvPr id="92" name="Text 89"/>
          <p:cNvSpPr/>
          <p:nvPr/>
        </p:nvSpPr>
        <p:spPr>
          <a:xfrm>
            <a:off x="557107" y="4193901"/>
            <a:ext cx="6492240" cy="182880"/>
          </a:xfrm>
          <a:prstGeom prst="rect">
            <a:avLst/>
          </a:prstGeom>
          <a:noFill/>
          <a:ln/>
        </p:spPr>
        <p:txBody>
          <a:bodyPr wrap="square" rtlCol="0" anchor="ctr"/>
          <a:lstStyle/>
          <a:p>
            <a:r>
              <a:rPr lang="en-US" sz="950" b="1" kern="0" spc="120" dirty="0">
                <a:solidFill>
                  <a:srgbClr val="3A3A3A"/>
                </a:solidFill>
                <a:latin typeface="Arial" pitchFamily="34" charset="0"/>
                <a:ea typeface="Arial" pitchFamily="34" charset="-122"/>
                <a:cs typeface="Arial" pitchFamily="34" charset="-120"/>
              </a:rPr>
              <a:t>IS BREAKDOWN CONCENTRATED?</a:t>
            </a:r>
            <a:r>
              <a:rPr lang="en-US" sz="1000" b="1" dirty="0">
                <a:solidFill>
                  <a:srgbClr val="1B2A41"/>
                </a:solidFill>
                <a:latin typeface="Cambria" pitchFamily="34" charset="0"/>
                <a:ea typeface="Cambria" pitchFamily="34" charset="-122"/>
                <a:cs typeface="Cambria" pitchFamily="34" charset="-120"/>
              </a:rPr>
              <a:t> </a:t>
            </a:r>
            <a:r>
              <a:rPr lang="en-US" sz="1100" b="1" dirty="0">
                <a:solidFill>
                  <a:srgbClr val="1B2A41"/>
                </a:solidFill>
                <a:latin typeface="Cambria" pitchFamily="34" charset="0"/>
                <a:ea typeface="Cambria" pitchFamily="34" charset="-122"/>
                <a:cs typeface="Cambria" pitchFamily="34" charset="-120"/>
              </a:rPr>
              <a:t>—</a:t>
            </a:r>
            <a:r>
              <a:rPr lang="en-US" sz="950" b="1" kern="0" spc="120" dirty="0">
                <a:solidFill>
                  <a:srgbClr val="3A3A3A"/>
                </a:solidFill>
                <a:latin typeface="Arial" pitchFamily="34" charset="0"/>
                <a:ea typeface="Arial" pitchFamily="34" charset="-122"/>
                <a:cs typeface="Arial" pitchFamily="34" charset="-120"/>
              </a:rPr>
              <a:t> PARETO ANALYSIS</a:t>
            </a:r>
            <a:endParaRPr lang="en-US" sz="950" dirty="0"/>
          </a:p>
        </p:txBody>
      </p:sp>
      <p:sp>
        <p:nvSpPr>
          <p:cNvPr id="93" name="Text 90"/>
          <p:cNvSpPr/>
          <p:nvPr/>
        </p:nvSpPr>
        <p:spPr>
          <a:xfrm>
            <a:off x="557107" y="4522557"/>
            <a:ext cx="2377440" cy="246888"/>
          </a:xfrm>
          <a:prstGeom prst="rect">
            <a:avLst/>
          </a:prstGeom>
          <a:noFill/>
          <a:ln/>
        </p:spPr>
        <p:txBody>
          <a:bodyPr wrap="square" rtlCol="0" anchor="ctr"/>
          <a:lstStyle/>
          <a:p>
            <a:pPr marL="0" indent="0">
              <a:buNone/>
            </a:pPr>
            <a:r>
              <a:rPr lang="en-US" sz="900" dirty="0">
                <a:solidFill>
                  <a:srgbClr val="3A3A3A"/>
                </a:solidFill>
                <a:latin typeface="Arial" pitchFamily="34" charset="0"/>
                <a:ea typeface="Arial" pitchFamily="34" charset="-122"/>
                <a:cs typeface="Arial" pitchFamily="34" charset="-120"/>
              </a:rPr>
              <a:t>Top 15 Machines</a:t>
            </a:r>
            <a:endParaRPr lang="en-US" sz="900" dirty="0"/>
          </a:p>
        </p:txBody>
      </p:sp>
      <p:sp>
        <p:nvSpPr>
          <p:cNvPr id="94" name="Shape 91"/>
          <p:cNvSpPr/>
          <p:nvPr/>
        </p:nvSpPr>
        <p:spPr>
          <a:xfrm>
            <a:off x="2934547" y="4571935"/>
            <a:ext cx="3108960" cy="148133"/>
          </a:xfrm>
          <a:prstGeom prst="rect">
            <a:avLst/>
          </a:prstGeom>
          <a:solidFill>
            <a:srgbClr val="EFEFEF"/>
          </a:solidFill>
          <a:ln/>
        </p:spPr>
      </p:sp>
      <p:sp>
        <p:nvSpPr>
          <p:cNvPr id="95" name="Shape 92"/>
          <p:cNvSpPr/>
          <p:nvPr/>
        </p:nvSpPr>
        <p:spPr>
          <a:xfrm>
            <a:off x="2934547" y="4571935"/>
            <a:ext cx="699516" cy="148133"/>
          </a:xfrm>
          <a:prstGeom prst="rect">
            <a:avLst/>
          </a:prstGeom>
          <a:solidFill>
            <a:srgbClr val="0070C0"/>
          </a:solidFill>
          <a:ln/>
        </p:spPr>
      </p:sp>
      <p:sp>
        <p:nvSpPr>
          <p:cNvPr id="96" name="Text 93"/>
          <p:cNvSpPr/>
          <p:nvPr/>
        </p:nvSpPr>
        <p:spPr>
          <a:xfrm>
            <a:off x="6134947" y="4522557"/>
            <a:ext cx="1005840" cy="246888"/>
          </a:xfrm>
          <a:prstGeom prst="rect">
            <a:avLst/>
          </a:prstGeom>
          <a:noFill/>
          <a:ln/>
        </p:spPr>
        <p:txBody>
          <a:bodyPr wrap="square" rtlCol="0" anchor="ctr"/>
          <a:lstStyle/>
          <a:p>
            <a:pPr marL="0" indent="0">
              <a:buNone/>
            </a:pPr>
            <a:r>
              <a:rPr lang="en-US" sz="900" b="1" dirty="0">
                <a:solidFill>
                  <a:srgbClr val="12233F"/>
                </a:solidFill>
                <a:latin typeface="Arial" pitchFamily="34" charset="0"/>
                <a:ea typeface="Arial" pitchFamily="34" charset="-122"/>
                <a:cs typeface="Arial" pitchFamily="34" charset="-120"/>
              </a:rPr>
              <a:t>18.0%</a:t>
            </a:r>
            <a:endParaRPr lang="en-US" sz="900" dirty="0"/>
          </a:p>
        </p:txBody>
      </p:sp>
      <p:sp>
        <p:nvSpPr>
          <p:cNvPr id="97" name="Text 94"/>
          <p:cNvSpPr/>
          <p:nvPr/>
        </p:nvSpPr>
        <p:spPr>
          <a:xfrm>
            <a:off x="557107" y="4824309"/>
            <a:ext cx="2377440" cy="246888"/>
          </a:xfrm>
          <a:prstGeom prst="rect">
            <a:avLst/>
          </a:prstGeom>
          <a:noFill/>
          <a:ln/>
        </p:spPr>
        <p:txBody>
          <a:bodyPr wrap="square" rtlCol="0" anchor="ctr"/>
          <a:lstStyle/>
          <a:p>
            <a:pPr marL="0" indent="0">
              <a:buNone/>
            </a:pPr>
            <a:r>
              <a:rPr lang="en-US" sz="900" dirty="0">
                <a:solidFill>
                  <a:srgbClr val="3A3A3A"/>
                </a:solidFill>
                <a:latin typeface="Arial" pitchFamily="34" charset="0"/>
                <a:ea typeface="Arial" pitchFamily="34" charset="-122"/>
                <a:cs typeface="Arial" pitchFamily="34" charset="-120"/>
              </a:rPr>
              <a:t>Top 40 Machines</a:t>
            </a:r>
            <a:endParaRPr lang="en-US" sz="900" dirty="0"/>
          </a:p>
        </p:txBody>
      </p:sp>
      <p:sp>
        <p:nvSpPr>
          <p:cNvPr id="98" name="Shape 95"/>
          <p:cNvSpPr/>
          <p:nvPr/>
        </p:nvSpPr>
        <p:spPr>
          <a:xfrm>
            <a:off x="2934547" y="4873687"/>
            <a:ext cx="3108960" cy="148133"/>
          </a:xfrm>
          <a:prstGeom prst="rect">
            <a:avLst/>
          </a:prstGeom>
          <a:solidFill>
            <a:srgbClr val="EFEFEF"/>
          </a:solidFill>
          <a:ln/>
        </p:spPr>
      </p:sp>
      <p:sp>
        <p:nvSpPr>
          <p:cNvPr id="99" name="Shape 96"/>
          <p:cNvSpPr/>
          <p:nvPr/>
        </p:nvSpPr>
        <p:spPr>
          <a:xfrm>
            <a:off x="2934547" y="4873687"/>
            <a:ext cx="1585570" cy="148133"/>
          </a:xfrm>
          <a:prstGeom prst="rect">
            <a:avLst/>
          </a:prstGeom>
          <a:solidFill>
            <a:srgbClr val="0070C0"/>
          </a:solidFill>
          <a:ln/>
        </p:spPr>
      </p:sp>
      <p:sp>
        <p:nvSpPr>
          <p:cNvPr id="100" name="Text 97"/>
          <p:cNvSpPr/>
          <p:nvPr/>
        </p:nvSpPr>
        <p:spPr>
          <a:xfrm>
            <a:off x="6134947" y="4824309"/>
            <a:ext cx="1005840" cy="246888"/>
          </a:xfrm>
          <a:prstGeom prst="rect">
            <a:avLst/>
          </a:prstGeom>
          <a:noFill/>
          <a:ln/>
        </p:spPr>
        <p:txBody>
          <a:bodyPr wrap="square" rtlCol="0" anchor="ctr"/>
          <a:lstStyle/>
          <a:p>
            <a:pPr marL="0" indent="0">
              <a:buNone/>
            </a:pPr>
            <a:r>
              <a:rPr lang="en-US" sz="900" b="1" dirty="0">
                <a:solidFill>
                  <a:srgbClr val="12233F"/>
                </a:solidFill>
                <a:latin typeface="Arial" pitchFamily="34" charset="0"/>
                <a:ea typeface="Arial" pitchFamily="34" charset="-122"/>
                <a:cs typeface="Arial" pitchFamily="34" charset="-120"/>
              </a:rPr>
              <a:t>40.8%</a:t>
            </a:r>
            <a:endParaRPr lang="en-US" sz="900" dirty="0"/>
          </a:p>
        </p:txBody>
      </p:sp>
      <p:sp>
        <p:nvSpPr>
          <p:cNvPr id="101" name="Text 98"/>
          <p:cNvSpPr/>
          <p:nvPr/>
        </p:nvSpPr>
        <p:spPr>
          <a:xfrm>
            <a:off x="557107" y="5126061"/>
            <a:ext cx="2377440" cy="246888"/>
          </a:xfrm>
          <a:prstGeom prst="rect">
            <a:avLst/>
          </a:prstGeom>
          <a:noFill/>
          <a:ln/>
        </p:spPr>
        <p:txBody>
          <a:bodyPr wrap="square" rtlCol="0" anchor="ctr"/>
          <a:lstStyle/>
          <a:p>
            <a:pPr marL="0" indent="0">
              <a:buNone/>
            </a:pPr>
            <a:r>
              <a:rPr lang="en-US" sz="900" dirty="0">
                <a:solidFill>
                  <a:srgbClr val="3A3A3A"/>
                </a:solidFill>
                <a:latin typeface="Arial" pitchFamily="34" charset="0"/>
                <a:ea typeface="Arial" pitchFamily="34" charset="-122"/>
                <a:cs typeface="Arial" pitchFamily="34" charset="-120"/>
              </a:rPr>
              <a:t>Machines contributing 80% BD</a:t>
            </a:r>
            <a:endParaRPr lang="en-US" sz="900" dirty="0"/>
          </a:p>
        </p:txBody>
      </p:sp>
      <p:sp>
        <p:nvSpPr>
          <p:cNvPr id="102" name="Shape 99"/>
          <p:cNvSpPr/>
          <p:nvPr/>
        </p:nvSpPr>
        <p:spPr>
          <a:xfrm>
            <a:off x="2936240" y="5177130"/>
            <a:ext cx="3108960" cy="148133"/>
          </a:xfrm>
          <a:prstGeom prst="rect">
            <a:avLst/>
          </a:prstGeom>
          <a:solidFill>
            <a:srgbClr val="EFEFEF"/>
          </a:solidFill>
          <a:ln/>
        </p:spPr>
      </p:sp>
      <p:sp>
        <p:nvSpPr>
          <p:cNvPr id="103" name="Shape 100"/>
          <p:cNvSpPr/>
          <p:nvPr/>
        </p:nvSpPr>
        <p:spPr>
          <a:xfrm>
            <a:off x="2934547" y="5175439"/>
            <a:ext cx="3108960" cy="148133"/>
          </a:xfrm>
          <a:prstGeom prst="rect">
            <a:avLst/>
          </a:prstGeom>
          <a:solidFill>
            <a:srgbClr val="1760A9"/>
          </a:solidFill>
          <a:ln/>
        </p:spPr>
      </p:sp>
      <p:sp>
        <p:nvSpPr>
          <p:cNvPr id="104" name="Text 101"/>
          <p:cNvSpPr/>
          <p:nvPr/>
        </p:nvSpPr>
        <p:spPr>
          <a:xfrm>
            <a:off x="6134947" y="5126061"/>
            <a:ext cx="1005840" cy="246888"/>
          </a:xfrm>
          <a:prstGeom prst="rect">
            <a:avLst/>
          </a:prstGeom>
          <a:noFill/>
          <a:ln/>
        </p:spPr>
        <p:txBody>
          <a:bodyPr wrap="square" rtlCol="0" anchor="ctr"/>
          <a:lstStyle/>
          <a:p>
            <a:pPr marL="0" indent="0">
              <a:buNone/>
            </a:pPr>
            <a:r>
              <a:rPr lang="en-US" sz="900" b="1" dirty="0">
                <a:solidFill>
                  <a:srgbClr val="12233F"/>
                </a:solidFill>
                <a:latin typeface="Arial" pitchFamily="34" charset="0"/>
                <a:ea typeface="Arial" pitchFamily="34" charset="-122"/>
                <a:cs typeface="Arial" pitchFamily="34" charset="-120"/>
              </a:rPr>
              <a:t>56.0%</a:t>
            </a:r>
            <a:endParaRPr lang="en-US" sz="900" dirty="0"/>
          </a:p>
        </p:txBody>
      </p:sp>
      <p:sp>
        <p:nvSpPr>
          <p:cNvPr id="105" name="Text 102"/>
          <p:cNvSpPr/>
          <p:nvPr/>
        </p:nvSpPr>
        <p:spPr>
          <a:xfrm>
            <a:off x="557107" y="5427813"/>
            <a:ext cx="2377440" cy="246888"/>
          </a:xfrm>
          <a:prstGeom prst="rect">
            <a:avLst/>
          </a:prstGeom>
          <a:noFill/>
          <a:ln/>
        </p:spPr>
        <p:txBody>
          <a:bodyPr wrap="square" rtlCol="0" anchor="ctr"/>
          <a:lstStyle/>
          <a:p>
            <a:pPr marL="0" indent="0">
              <a:buNone/>
            </a:pPr>
            <a:r>
              <a:rPr lang="en-US" sz="900" dirty="0">
                <a:solidFill>
                  <a:srgbClr val="3A3A3A"/>
                </a:solidFill>
                <a:latin typeface="Arial" pitchFamily="34" charset="0"/>
                <a:ea typeface="Arial" pitchFamily="34" charset="-122"/>
                <a:cs typeface="Arial" pitchFamily="34" charset="-120"/>
              </a:rPr>
              <a:t>Remaining Machines</a:t>
            </a:r>
            <a:endParaRPr lang="en-US" sz="900" dirty="0"/>
          </a:p>
        </p:txBody>
      </p:sp>
      <p:sp>
        <p:nvSpPr>
          <p:cNvPr id="106" name="Shape 103"/>
          <p:cNvSpPr/>
          <p:nvPr/>
        </p:nvSpPr>
        <p:spPr>
          <a:xfrm>
            <a:off x="2934547" y="5477191"/>
            <a:ext cx="3108960" cy="148133"/>
          </a:xfrm>
          <a:prstGeom prst="rect">
            <a:avLst/>
          </a:prstGeom>
          <a:solidFill>
            <a:srgbClr val="EFEFEF"/>
          </a:solidFill>
          <a:ln/>
        </p:spPr>
      </p:sp>
      <p:sp>
        <p:nvSpPr>
          <p:cNvPr id="107" name="Shape 104"/>
          <p:cNvSpPr/>
          <p:nvPr/>
        </p:nvSpPr>
        <p:spPr>
          <a:xfrm>
            <a:off x="2934547" y="5477191"/>
            <a:ext cx="777240" cy="148133"/>
          </a:xfrm>
          <a:prstGeom prst="rect">
            <a:avLst/>
          </a:prstGeom>
          <a:solidFill>
            <a:srgbClr val="0070C0"/>
          </a:solidFill>
          <a:ln/>
        </p:spPr>
      </p:sp>
      <p:sp>
        <p:nvSpPr>
          <p:cNvPr id="108" name="Text 105"/>
          <p:cNvSpPr/>
          <p:nvPr/>
        </p:nvSpPr>
        <p:spPr>
          <a:xfrm>
            <a:off x="6134947" y="5427813"/>
            <a:ext cx="1005840" cy="246888"/>
          </a:xfrm>
          <a:prstGeom prst="rect">
            <a:avLst/>
          </a:prstGeom>
          <a:noFill/>
          <a:ln/>
        </p:spPr>
        <p:txBody>
          <a:bodyPr wrap="square" rtlCol="0" anchor="ctr"/>
          <a:lstStyle/>
          <a:p>
            <a:pPr marL="0" indent="0">
              <a:buNone/>
            </a:pPr>
            <a:r>
              <a:rPr lang="en-US" sz="900" b="1" dirty="0">
                <a:solidFill>
                  <a:srgbClr val="12233F"/>
                </a:solidFill>
                <a:latin typeface="Arial" pitchFamily="34" charset="0"/>
                <a:ea typeface="Arial" pitchFamily="34" charset="-122"/>
                <a:cs typeface="Arial" pitchFamily="34" charset="-120"/>
              </a:rPr>
              <a:t>20.0%</a:t>
            </a:r>
            <a:endParaRPr lang="en-US" sz="900" dirty="0"/>
          </a:p>
        </p:txBody>
      </p:sp>
      <p:sp>
        <p:nvSpPr>
          <p:cNvPr id="111" name="Text 108"/>
          <p:cNvSpPr/>
          <p:nvPr/>
        </p:nvSpPr>
        <p:spPr>
          <a:xfrm>
            <a:off x="648547" y="5828320"/>
            <a:ext cx="6126480" cy="182880"/>
          </a:xfrm>
          <a:prstGeom prst="rect">
            <a:avLst/>
          </a:prstGeom>
          <a:noFill/>
          <a:ln/>
        </p:spPr>
        <p:txBody>
          <a:bodyPr wrap="square" rtlCol="0" anchor="ctr"/>
          <a:lstStyle/>
          <a:p>
            <a:pPr marL="0" indent="0">
              <a:buNone/>
            </a:pPr>
            <a:r>
              <a:rPr lang="en-US" sz="900" b="1" kern="0" spc="80" dirty="0">
                <a:solidFill>
                  <a:schemeClr val="tx1">
                    <a:lumMod val="95000"/>
                    <a:lumOff val="5000"/>
                  </a:schemeClr>
                </a:solidFill>
                <a:latin typeface="Arial" pitchFamily="34" charset="0"/>
                <a:ea typeface="Arial" pitchFamily="34" charset="-122"/>
                <a:cs typeface="Arial" pitchFamily="34" charset="-120"/>
              </a:rPr>
              <a:t>KEY RELIABILITY INSIGHT</a:t>
            </a:r>
            <a:endParaRPr lang="en-US" sz="900" b="1" dirty="0">
              <a:solidFill>
                <a:schemeClr val="tx1">
                  <a:lumMod val="95000"/>
                  <a:lumOff val="5000"/>
                </a:schemeClr>
              </a:solidFill>
            </a:endParaRPr>
          </a:p>
        </p:txBody>
      </p:sp>
      <p:sp>
        <p:nvSpPr>
          <p:cNvPr id="112" name="Text 109"/>
          <p:cNvSpPr/>
          <p:nvPr/>
        </p:nvSpPr>
        <p:spPr>
          <a:xfrm>
            <a:off x="739987" y="6010752"/>
            <a:ext cx="6126480" cy="367740"/>
          </a:xfrm>
          <a:prstGeom prst="rect">
            <a:avLst/>
          </a:prstGeom>
          <a:noFill/>
          <a:ln/>
        </p:spPr>
        <p:txBody>
          <a:bodyPr wrap="square" rtlCol="0" anchor="ctr"/>
          <a:lstStyle/>
          <a:p>
            <a:pPr marL="0" indent="0">
              <a:lnSpc>
                <a:spcPct val="115000"/>
              </a:lnSpc>
              <a:buNone/>
            </a:pPr>
            <a:r>
              <a:rPr lang="en-US" sz="900" b="1" dirty="0">
                <a:solidFill>
                  <a:schemeClr val="tx1">
                    <a:lumMod val="75000"/>
                    <a:lumOff val="25000"/>
                  </a:schemeClr>
                </a:solidFill>
                <a:latin typeface="Arial" pitchFamily="34" charset="0"/>
                <a:ea typeface="Arial" pitchFamily="34" charset="-122"/>
                <a:cs typeface="Arial" pitchFamily="34" charset="-120"/>
              </a:rPr>
              <a:t>56% of the fleet contributes to 80% of total breakdown hours, indicating a fleet-wide reliability issue rather than a classical 80/20 concentration</a:t>
            </a:r>
            <a:r>
              <a:rPr lang="en-US" sz="900" b="1" dirty="0">
                <a:solidFill>
                  <a:srgbClr val="5C4116"/>
                </a:solidFill>
                <a:latin typeface="Arial" pitchFamily="34" charset="0"/>
                <a:ea typeface="Arial" pitchFamily="34" charset="-122"/>
                <a:cs typeface="Arial" pitchFamily="34" charset="-120"/>
              </a:rPr>
              <a:t>.</a:t>
            </a:r>
            <a:endParaRPr lang="en-US" sz="900" b="1" dirty="0"/>
          </a:p>
        </p:txBody>
      </p:sp>
      <p:sp>
        <p:nvSpPr>
          <p:cNvPr id="113" name="Shape 110"/>
          <p:cNvSpPr/>
          <p:nvPr/>
        </p:nvSpPr>
        <p:spPr>
          <a:xfrm>
            <a:off x="7364815" y="5268344"/>
            <a:ext cx="4279392" cy="766128"/>
          </a:xfrm>
          <a:prstGeom prst="rect">
            <a:avLst/>
          </a:prstGeom>
          <a:solidFill>
            <a:srgbClr val="F9F9FA"/>
          </a:solidFill>
          <a:ln/>
        </p:spPr>
      </p:sp>
      <p:sp>
        <p:nvSpPr>
          <p:cNvPr id="114" name="Text 111"/>
          <p:cNvSpPr/>
          <p:nvPr/>
        </p:nvSpPr>
        <p:spPr>
          <a:xfrm>
            <a:off x="7445271" y="4312024"/>
            <a:ext cx="3986784" cy="164592"/>
          </a:xfrm>
          <a:prstGeom prst="rect">
            <a:avLst/>
          </a:prstGeom>
          <a:noFill/>
          <a:ln/>
        </p:spPr>
        <p:txBody>
          <a:bodyPr wrap="square" rtlCol="0" anchor="ctr"/>
          <a:lstStyle/>
          <a:p>
            <a:pPr marL="0" indent="0">
              <a:buNone/>
            </a:pPr>
            <a:r>
              <a:rPr lang="en-US" sz="800" b="1" kern="0" spc="60" dirty="0">
                <a:solidFill>
                  <a:srgbClr val="6B6B6B"/>
                </a:solidFill>
                <a:latin typeface="Arial" pitchFamily="34" charset="0"/>
                <a:ea typeface="Arial" pitchFamily="34" charset="-122"/>
                <a:cs typeface="Arial" pitchFamily="34" charset="-120"/>
              </a:rPr>
              <a:t>CRITICAL FLEET</a:t>
            </a:r>
            <a:endParaRPr lang="en-US" sz="800" dirty="0"/>
          </a:p>
        </p:txBody>
      </p:sp>
      <p:sp>
        <p:nvSpPr>
          <p:cNvPr id="115" name="Text 112"/>
          <p:cNvSpPr/>
          <p:nvPr/>
        </p:nvSpPr>
        <p:spPr>
          <a:xfrm>
            <a:off x="7440096" y="4503299"/>
            <a:ext cx="3986784" cy="256032"/>
          </a:xfrm>
          <a:prstGeom prst="rect">
            <a:avLst/>
          </a:prstGeom>
          <a:noFill/>
          <a:ln/>
        </p:spPr>
        <p:txBody>
          <a:bodyPr wrap="square" rtlCol="0" anchor="ctr"/>
          <a:lstStyle/>
          <a:p>
            <a:pPr marL="0" indent="0">
              <a:buNone/>
            </a:pPr>
            <a:r>
              <a:rPr lang="en-US" sz="1250" b="1" dirty="0">
                <a:solidFill>
                  <a:srgbClr val="12233F"/>
                </a:solidFill>
                <a:latin typeface="Arial" pitchFamily="34" charset="0"/>
                <a:ea typeface="Arial" pitchFamily="34" charset="-122"/>
                <a:cs typeface="Arial" pitchFamily="34" charset="-120"/>
              </a:rPr>
              <a:t>61 Machines</a:t>
            </a:r>
            <a:endParaRPr lang="en-US" sz="1250" dirty="0"/>
          </a:p>
        </p:txBody>
      </p:sp>
      <p:sp>
        <p:nvSpPr>
          <p:cNvPr id="117" name="Text 114"/>
          <p:cNvSpPr/>
          <p:nvPr/>
        </p:nvSpPr>
        <p:spPr>
          <a:xfrm>
            <a:off x="7423466" y="4770557"/>
            <a:ext cx="3986784" cy="151141"/>
          </a:xfrm>
          <a:prstGeom prst="rect">
            <a:avLst/>
          </a:prstGeom>
          <a:noFill/>
          <a:ln/>
        </p:spPr>
        <p:txBody>
          <a:bodyPr wrap="square" rtlCol="0" anchor="ctr"/>
          <a:lstStyle/>
          <a:p>
            <a:pPr marL="0" indent="0">
              <a:lnSpc>
                <a:spcPct val="110000"/>
              </a:lnSpc>
              <a:buNone/>
            </a:pPr>
            <a:r>
              <a:rPr lang="en-US" sz="750" i="1" dirty="0">
                <a:solidFill>
                  <a:srgbClr val="6B6B6B"/>
                </a:solidFill>
                <a:latin typeface="Arial" pitchFamily="34" charset="0"/>
                <a:ea typeface="Arial" pitchFamily="34" charset="-122"/>
                <a:cs typeface="Arial" pitchFamily="34" charset="-120"/>
              </a:rPr>
              <a:t>Highest maintenance priority for Q4</a:t>
            </a:r>
            <a:endParaRPr lang="en-US" sz="750" dirty="0"/>
          </a:p>
        </p:txBody>
      </p:sp>
      <p:sp>
        <p:nvSpPr>
          <p:cNvPr id="119" name="Text 116"/>
          <p:cNvSpPr/>
          <p:nvPr/>
        </p:nvSpPr>
        <p:spPr>
          <a:xfrm>
            <a:off x="7473659" y="5326112"/>
            <a:ext cx="3986784" cy="164592"/>
          </a:xfrm>
          <a:prstGeom prst="rect">
            <a:avLst/>
          </a:prstGeom>
          <a:noFill/>
          <a:ln/>
        </p:spPr>
        <p:txBody>
          <a:bodyPr wrap="square" rtlCol="0" anchor="ctr"/>
          <a:lstStyle/>
          <a:p>
            <a:pPr marL="0" indent="0">
              <a:buNone/>
            </a:pPr>
            <a:r>
              <a:rPr lang="en-US" sz="800" b="1" kern="0" spc="60" dirty="0">
                <a:solidFill>
                  <a:srgbClr val="6B6B6B"/>
                </a:solidFill>
                <a:latin typeface="Arial" pitchFamily="34" charset="0"/>
                <a:ea typeface="Arial" pitchFamily="34" charset="-122"/>
                <a:cs typeface="Arial" pitchFamily="34" charset="-120"/>
              </a:rPr>
              <a:t>PARETO FINDING</a:t>
            </a:r>
            <a:endParaRPr lang="en-US" sz="800" dirty="0"/>
          </a:p>
        </p:txBody>
      </p:sp>
      <p:sp>
        <p:nvSpPr>
          <p:cNvPr id="120" name="Text 117"/>
          <p:cNvSpPr/>
          <p:nvPr/>
        </p:nvSpPr>
        <p:spPr>
          <a:xfrm>
            <a:off x="7474568" y="5511235"/>
            <a:ext cx="3986784" cy="256032"/>
          </a:xfrm>
          <a:prstGeom prst="rect">
            <a:avLst/>
          </a:prstGeom>
          <a:noFill/>
          <a:ln/>
        </p:spPr>
        <p:txBody>
          <a:bodyPr wrap="square" rtlCol="0" anchor="ctr"/>
          <a:lstStyle/>
          <a:p>
            <a:pPr marL="0" indent="0">
              <a:buNone/>
            </a:pPr>
            <a:r>
              <a:rPr lang="en-US" sz="1250" b="1" dirty="0">
                <a:solidFill>
                  <a:srgbClr val="12233F"/>
                </a:solidFill>
                <a:latin typeface="Arial" pitchFamily="34" charset="0"/>
                <a:ea typeface="Arial" pitchFamily="34" charset="-122"/>
                <a:cs typeface="Arial" pitchFamily="34" charset="-120"/>
              </a:rPr>
              <a:t>56% Fleet → 80% BD Hrs</a:t>
            </a:r>
            <a:endParaRPr lang="en-US" sz="1250" dirty="0"/>
          </a:p>
        </p:txBody>
      </p:sp>
      <p:sp>
        <p:nvSpPr>
          <p:cNvPr id="121" name="Text 118"/>
          <p:cNvSpPr/>
          <p:nvPr/>
        </p:nvSpPr>
        <p:spPr>
          <a:xfrm>
            <a:off x="7499060" y="5765106"/>
            <a:ext cx="3986784" cy="182880"/>
          </a:xfrm>
          <a:prstGeom prst="rect">
            <a:avLst/>
          </a:prstGeom>
          <a:noFill/>
          <a:ln/>
        </p:spPr>
        <p:txBody>
          <a:bodyPr wrap="square" rtlCol="0" anchor="ctr"/>
          <a:lstStyle/>
          <a:p>
            <a:pPr marL="0" indent="0">
              <a:lnSpc>
                <a:spcPct val="110000"/>
              </a:lnSpc>
              <a:buNone/>
            </a:pPr>
            <a:r>
              <a:rPr lang="en-US" sz="750" i="1" dirty="0">
                <a:solidFill>
                  <a:srgbClr val="6B6B6B"/>
                </a:solidFill>
                <a:latin typeface="Arial" pitchFamily="34" charset="0"/>
                <a:ea typeface="Arial" pitchFamily="34" charset="-122"/>
                <a:cs typeface="Arial" pitchFamily="34" charset="-120"/>
              </a:rPr>
              <a:t>Broad-based reliability issue</a:t>
            </a:r>
            <a:endParaRPr lang="en-US" sz="750" dirty="0"/>
          </a:p>
        </p:txBody>
      </p:sp>
      <p:sp>
        <p:nvSpPr>
          <p:cNvPr id="124" name="Text 121"/>
          <p:cNvSpPr/>
          <p:nvPr/>
        </p:nvSpPr>
        <p:spPr>
          <a:xfrm>
            <a:off x="7507224" y="5808467"/>
            <a:ext cx="3986784" cy="256032"/>
          </a:xfrm>
          <a:prstGeom prst="rect">
            <a:avLst/>
          </a:prstGeom>
          <a:noFill/>
          <a:ln/>
        </p:spPr>
        <p:txBody>
          <a:bodyPr wrap="square" rtlCol="0" anchor="ctr"/>
          <a:lstStyle/>
          <a:p>
            <a:pPr marL="0" indent="0">
              <a:buNone/>
            </a:pPr>
            <a:endParaRPr lang="en-US" sz="1250" dirty="0"/>
          </a:p>
        </p:txBody>
      </p:sp>
      <p:grpSp>
        <p:nvGrpSpPr>
          <p:cNvPr id="137" name="Group 5">
            <a:extLst>
              <a:ext uri="{FF2B5EF4-FFF2-40B4-BE49-F238E27FC236}">
                <a16:creationId xmlns:a16="http://schemas.microsoft.com/office/drawing/2014/main" id="{66E23B0A-ADE2-085B-17F9-71299BCA4260}"/>
              </a:ext>
            </a:extLst>
          </p:cNvPr>
          <p:cNvGrpSpPr/>
          <p:nvPr/>
        </p:nvGrpSpPr>
        <p:grpSpPr>
          <a:xfrm>
            <a:off x="648547" y="874035"/>
            <a:ext cx="4536000" cy="45719"/>
            <a:chOff x="0" y="0"/>
            <a:chExt cx="14068412" cy="121920"/>
          </a:xfrm>
        </p:grpSpPr>
        <p:sp>
          <p:nvSpPr>
            <p:cNvPr id="138" name="Freeform 6" descr="D:\Corp Comm Department Work 2015\Brand Adani 2012\adani_gradient_master.jpg">
              <a:extLst>
                <a:ext uri="{FF2B5EF4-FFF2-40B4-BE49-F238E27FC236}">
                  <a16:creationId xmlns:a16="http://schemas.microsoft.com/office/drawing/2014/main" id="{D68D2849-5164-E3C8-48C9-F62D7484CF1A}"/>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4"/>
              <a:stretch>
                <a:fillRect b="-5072"/>
              </a:stretch>
            </a:blipFill>
          </p:spPr>
          <p:txBody>
            <a:bodyPr/>
            <a:lstStyle/>
            <a:p>
              <a:endParaRPr lang="en-IN"/>
            </a:p>
          </p:txBody>
        </p:sp>
      </p:grpSp>
      <p:grpSp>
        <p:nvGrpSpPr>
          <p:cNvPr id="141" name="Group 3">
            <a:extLst>
              <a:ext uri="{FF2B5EF4-FFF2-40B4-BE49-F238E27FC236}">
                <a16:creationId xmlns:a16="http://schemas.microsoft.com/office/drawing/2014/main" id="{C5FAB12F-AD52-B28A-CFEC-D94432B17E40}"/>
              </a:ext>
            </a:extLst>
          </p:cNvPr>
          <p:cNvGrpSpPr/>
          <p:nvPr/>
        </p:nvGrpSpPr>
        <p:grpSpPr>
          <a:xfrm>
            <a:off x="10056527" y="6189371"/>
            <a:ext cx="2136000" cy="669944"/>
            <a:chOff x="0" y="0"/>
            <a:chExt cx="4272001" cy="1339888"/>
          </a:xfrm>
        </p:grpSpPr>
        <p:sp>
          <p:nvSpPr>
            <p:cNvPr id="142" name="Freeform 4">
              <a:extLst>
                <a:ext uri="{FF2B5EF4-FFF2-40B4-BE49-F238E27FC236}">
                  <a16:creationId xmlns:a16="http://schemas.microsoft.com/office/drawing/2014/main" id="{503ADC63-FF31-A8B3-5F21-19FEF7E3C692}"/>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5"/>
              <a:stretch>
                <a:fillRect l="-470838" t="-924095" b="-2"/>
              </a:stretch>
            </a:blipFill>
          </p:spPr>
        </p:sp>
      </p:grpSp>
      <p:pic>
        <p:nvPicPr>
          <p:cNvPr id="4" name="Picture 3">
            <a:extLst>
              <a:ext uri="{FF2B5EF4-FFF2-40B4-BE49-F238E27FC236}">
                <a16:creationId xmlns:a16="http://schemas.microsoft.com/office/drawing/2014/main" id="{80D8E959-D1F5-922F-8942-CB92FF062D5F}"/>
              </a:ext>
            </a:extLst>
          </p:cNvPr>
          <p:cNvPicPr>
            <a:picLocks noChangeAspect="1"/>
          </p:cNvPicPr>
          <p:nvPr/>
        </p:nvPicPr>
        <p:blipFill>
          <a:blip r:embed="rId6"/>
          <a:stretch>
            <a:fillRect/>
          </a:stretch>
        </p:blipFill>
        <p:spPr>
          <a:xfrm>
            <a:off x="868680" y="1402959"/>
            <a:ext cx="2828925" cy="1162050"/>
          </a:xfrm>
          <a:prstGeom prst="rect">
            <a:avLst/>
          </a:prstGeom>
        </p:spPr>
      </p:pic>
      <p:pic>
        <p:nvPicPr>
          <p:cNvPr id="6" name="Picture 5">
            <a:extLst>
              <a:ext uri="{FF2B5EF4-FFF2-40B4-BE49-F238E27FC236}">
                <a16:creationId xmlns:a16="http://schemas.microsoft.com/office/drawing/2014/main" id="{E9CA6841-76E7-E509-58C0-7CB64DC4AAD1}"/>
              </a:ext>
            </a:extLst>
          </p:cNvPr>
          <p:cNvPicPr>
            <a:picLocks noChangeAspect="1"/>
          </p:cNvPicPr>
          <p:nvPr/>
        </p:nvPicPr>
        <p:blipFill>
          <a:blip r:embed="rId7"/>
          <a:stretch>
            <a:fillRect/>
          </a:stretch>
        </p:blipFill>
        <p:spPr>
          <a:xfrm>
            <a:off x="3758234" y="2580421"/>
            <a:ext cx="2819400" cy="1152525"/>
          </a:xfrm>
          <a:prstGeom prst="rect">
            <a:avLst/>
          </a:prstGeom>
        </p:spPr>
      </p:pic>
    </p:spTree>
    <p:extLst>
      <p:ext uri="{BB962C8B-B14F-4D97-AF65-F5344CB8AC3E}">
        <p14:creationId xmlns:p14="http://schemas.microsoft.com/office/powerpoint/2010/main" val="1350788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33908"/>
            <a:ext cx="11247120" cy="50292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Production Validation Studies</a:t>
            </a:r>
            <a:endParaRPr lang="en-US" sz="2800" dirty="0"/>
          </a:p>
        </p:txBody>
      </p:sp>
      <p:sp>
        <p:nvSpPr>
          <p:cNvPr id="9" name="Text 7"/>
          <p:cNvSpPr/>
          <p:nvPr/>
        </p:nvSpPr>
        <p:spPr>
          <a:xfrm>
            <a:off x="457200" y="928268"/>
            <a:ext cx="7772400" cy="292608"/>
          </a:xfrm>
          <a:prstGeom prst="rect">
            <a:avLst/>
          </a:prstGeom>
          <a:noFill/>
          <a:ln/>
        </p:spPr>
        <p:txBody>
          <a:bodyPr wrap="square" lIns="0" tIns="0" rIns="0" bIns="0" rtlCol="0" anchor="ctr"/>
          <a:lstStyle/>
          <a:p>
            <a:pPr marL="0" indent="0">
              <a:buNone/>
            </a:pPr>
            <a:r>
              <a:rPr lang="en-US" b="1" dirty="0">
                <a:solidFill>
                  <a:schemeClr val="accent1">
                    <a:lumMod val="75000"/>
                  </a:schemeClr>
                </a:solidFill>
                <a:latin typeface="Calibri" pitchFamily="34" charset="0"/>
                <a:ea typeface="Calibri" pitchFamily="34" charset="-122"/>
                <a:cs typeface="Calibri" pitchFamily="34" charset="-120"/>
                <a:hlinkClick r:id="rId3" action="ppaction://hlinkfile">
                  <a:extLst>
                    <a:ext uri="{A12FA001-AC4F-418D-AE19-62706E023703}">
                      <ahyp:hlinkClr xmlns:ahyp="http://schemas.microsoft.com/office/drawing/2018/hyperlinkcolor" val="tx"/>
                    </a:ext>
                  </a:extLst>
                </a:hlinkClick>
              </a:rPr>
              <a:t>Bulk Density Assessment</a:t>
            </a:r>
            <a:endParaRPr lang="en-US" b="1" dirty="0">
              <a:solidFill>
                <a:schemeClr val="accent1">
                  <a:lumMod val="75000"/>
                </a:schemeClr>
              </a:solidFill>
            </a:endParaRPr>
          </a:p>
        </p:txBody>
      </p:sp>
      <p:sp>
        <p:nvSpPr>
          <p:cNvPr id="10" name="Text 8"/>
          <p:cNvSpPr/>
          <p:nvPr/>
        </p:nvSpPr>
        <p:spPr>
          <a:xfrm>
            <a:off x="441298" y="1217742"/>
            <a:ext cx="7772400" cy="237744"/>
          </a:xfrm>
          <a:prstGeom prst="rect">
            <a:avLst/>
          </a:prstGeom>
          <a:noFill/>
          <a:ln/>
        </p:spPr>
        <p:txBody>
          <a:bodyPr wrap="square" lIns="0" tIns="0" rIns="0" bIns="0" rtlCol="0" anchor="ctr"/>
          <a:lstStyle/>
          <a:p>
            <a:pPr marL="0" indent="0">
              <a:buNone/>
            </a:pPr>
            <a:r>
              <a:rPr lang="en-US" sz="1100" i="1" dirty="0">
                <a:solidFill>
                  <a:srgbClr val="6E6E6E"/>
                </a:solidFill>
                <a:latin typeface="Calibri" pitchFamily="34" charset="0"/>
                <a:ea typeface="Calibri" pitchFamily="34" charset="-122"/>
                <a:cs typeface="Calibri" pitchFamily="34" charset="-120"/>
              </a:rPr>
              <a:t>Field measurement of representative mine materials</a:t>
            </a:r>
            <a:endParaRPr lang="en-US" sz="1100" dirty="0"/>
          </a:p>
        </p:txBody>
      </p:sp>
      <p:sp>
        <p:nvSpPr>
          <p:cNvPr id="13" name="Text 10"/>
          <p:cNvSpPr/>
          <p:nvPr/>
        </p:nvSpPr>
        <p:spPr>
          <a:xfrm>
            <a:off x="6356110" y="1721359"/>
            <a:ext cx="5382002" cy="274320"/>
          </a:xfrm>
          <a:prstGeom prst="rect">
            <a:avLst/>
          </a:prstGeom>
          <a:noFill/>
          <a:ln/>
        </p:spPr>
        <p:txBody>
          <a:bodyPr wrap="square" lIns="0" tIns="0" rIns="0" bIns="0" rtlCol="0" anchor="ctr"/>
          <a:lstStyle/>
          <a:p>
            <a:pPr marL="0" indent="0" algn="ctr">
              <a:buNone/>
            </a:pPr>
            <a:r>
              <a:rPr lang="en-US" sz="1300" b="1" dirty="0">
                <a:solidFill>
                  <a:srgbClr val="1F4E79"/>
                </a:solidFill>
                <a:latin typeface="Calibri" pitchFamily="34" charset="0"/>
                <a:ea typeface="Calibri" pitchFamily="34" charset="-122"/>
                <a:cs typeface="Calibri" pitchFamily="34" charset="-120"/>
              </a:rPr>
              <a:t>Engineering Insight</a:t>
            </a:r>
            <a:endParaRPr lang="en-US" sz="1300" dirty="0"/>
          </a:p>
        </p:txBody>
      </p:sp>
      <p:sp>
        <p:nvSpPr>
          <p:cNvPr id="14" name="Text 11"/>
          <p:cNvSpPr/>
          <p:nvPr/>
        </p:nvSpPr>
        <p:spPr>
          <a:xfrm>
            <a:off x="6403816" y="2034346"/>
            <a:ext cx="5382002" cy="1645920"/>
          </a:xfrm>
          <a:prstGeom prst="rect">
            <a:avLst/>
          </a:prstGeom>
          <a:noFill/>
          <a:ln/>
        </p:spPr>
        <p:txBody>
          <a:bodyPr wrap="square" lIns="0" tIns="0" rIns="0" bIns="0" rtlCol="0" anchor="t"/>
          <a:lstStyle/>
          <a:p>
            <a:pPr marL="0" indent="0" algn="l">
              <a:lnSpc>
                <a:spcPct val="118000"/>
              </a:lnSpc>
              <a:buNone/>
            </a:pPr>
            <a:r>
              <a:rPr lang="en-US" sz="1150" dirty="0">
                <a:solidFill>
                  <a:srgbClr val="333333"/>
                </a:solidFill>
                <a:latin typeface="Calibri" pitchFamily="34" charset="0"/>
                <a:ea typeface="Calibri" pitchFamily="34" charset="-122"/>
                <a:cs typeface="Calibri" pitchFamily="34" charset="-120"/>
              </a:rPr>
              <a:t>Measured bulk densities varied from </a:t>
            </a:r>
            <a:r>
              <a:rPr lang="en-US" sz="1150" b="1" dirty="0">
                <a:solidFill>
                  <a:srgbClr val="333333"/>
                </a:solidFill>
                <a:latin typeface="Calibri" pitchFamily="34" charset="0"/>
                <a:ea typeface="Calibri" pitchFamily="34" charset="-122"/>
                <a:cs typeface="Calibri" pitchFamily="34" charset="-120"/>
              </a:rPr>
              <a:t>1.10 to 2.60 g/cm³ </a:t>
            </a:r>
            <a:r>
              <a:rPr lang="en-US" sz="1150" dirty="0">
                <a:solidFill>
                  <a:srgbClr val="333333"/>
                </a:solidFill>
                <a:latin typeface="Calibri" pitchFamily="34" charset="0"/>
                <a:ea typeface="Calibri" pitchFamily="34" charset="-122"/>
                <a:cs typeface="Calibri" pitchFamily="34" charset="-120"/>
              </a:rPr>
              <a:t>across mine materials. This significant variation demonstrates that a </a:t>
            </a:r>
            <a:r>
              <a:rPr lang="en-US" sz="1150" b="1" dirty="0">
                <a:solidFill>
                  <a:srgbClr val="333333"/>
                </a:solidFill>
                <a:latin typeface="Calibri" pitchFamily="34" charset="0"/>
                <a:ea typeface="Calibri" pitchFamily="34" charset="-122"/>
                <a:cs typeface="Calibri" pitchFamily="34" charset="-120"/>
              </a:rPr>
              <a:t>single static Truck Factor </a:t>
            </a:r>
            <a:r>
              <a:rPr lang="en-US" sz="1150" dirty="0">
                <a:solidFill>
                  <a:srgbClr val="333333"/>
                </a:solidFill>
                <a:latin typeface="Calibri" pitchFamily="34" charset="0"/>
                <a:ea typeface="Calibri" pitchFamily="34" charset="-122"/>
                <a:cs typeface="Calibri" pitchFamily="34" charset="-120"/>
              </a:rPr>
              <a:t>cannot accurately represent all overburden materials, resulting in potential production estimation errors. The findings support the need for material-specific or </a:t>
            </a:r>
            <a:r>
              <a:rPr lang="en-US" sz="1150" b="1" dirty="0">
                <a:solidFill>
                  <a:srgbClr val="333333"/>
                </a:solidFill>
                <a:latin typeface="Calibri" pitchFamily="34" charset="0"/>
                <a:ea typeface="Calibri" pitchFamily="34" charset="-122"/>
                <a:cs typeface="Calibri" pitchFamily="34" charset="-120"/>
              </a:rPr>
              <a:t>Dynamic Truck Factors</a:t>
            </a:r>
            <a:r>
              <a:rPr lang="en-US" sz="1150" dirty="0">
                <a:solidFill>
                  <a:srgbClr val="333333"/>
                </a:solidFill>
                <a:latin typeface="Calibri" pitchFamily="34" charset="0"/>
                <a:ea typeface="Calibri" pitchFamily="34" charset="-122"/>
                <a:cs typeface="Calibri" pitchFamily="34" charset="-120"/>
              </a:rPr>
              <a:t>.</a:t>
            </a:r>
            <a:endParaRPr lang="en-US" sz="1150" dirty="0"/>
          </a:p>
        </p:txBody>
      </p:sp>
      <p:sp>
        <p:nvSpPr>
          <p:cNvPr id="15" name="Shape 12"/>
          <p:cNvSpPr/>
          <p:nvPr/>
        </p:nvSpPr>
        <p:spPr>
          <a:xfrm>
            <a:off x="300164" y="3994739"/>
            <a:ext cx="11247120" cy="0"/>
          </a:xfrm>
          <a:prstGeom prst="line">
            <a:avLst/>
          </a:prstGeom>
          <a:noFill/>
          <a:ln w="9525">
            <a:solidFill>
              <a:srgbClr val="D9D9D9"/>
            </a:solidFill>
            <a:prstDash val="solid"/>
          </a:ln>
        </p:spPr>
        <p:txBody>
          <a:bodyPr/>
          <a:lstStyle/>
          <a:p>
            <a:endParaRPr lang="en-IN" dirty="0"/>
          </a:p>
        </p:txBody>
      </p:sp>
      <p:sp>
        <p:nvSpPr>
          <p:cNvPr id="16" name="Text 13"/>
          <p:cNvSpPr/>
          <p:nvPr/>
        </p:nvSpPr>
        <p:spPr>
          <a:xfrm>
            <a:off x="441298" y="4061969"/>
            <a:ext cx="5463540" cy="274320"/>
          </a:xfrm>
          <a:prstGeom prst="rect">
            <a:avLst/>
          </a:prstGeom>
          <a:noFill/>
          <a:ln/>
        </p:spPr>
        <p:txBody>
          <a:bodyPr wrap="square" lIns="0" tIns="0" rIns="0" bIns="0"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Dumper Cycle Time Validation</a:t>
            </a:r>
            <a:endParaRPr lang="en-US" sz="1500" dirty="0"/>
          </a:p>
        </p:txBody>
      </p:sp>
      <p:sp>
        <p:nvSpPr>
          <p:cNvPr id="17" name="Text 14"/>
          <p:cNvSpPr/>
          <p:nvPr/>
        </p:nvSpPr>
        <p:spPr>
          <a:xfrm>
            <a:off x="457200" y="4341812"/>
            <a:ext cx="5463540" cy="256032"/>
          </a:xfrm>
          <a:prstGeom prst="rect">
            <a:avLst/>
          </a:prstGeom>
          <a:noFill/>
          <a:ln/>
        </p:spPr>
        <p:txBody>
          <a:bodyPr wrap="square" lIns="0" tIns="0" rIns="0" bIns="0" rtlCol="0" anchor="ctr"/>
          <a:lstStyle/>
          <a:p>
            <a:pPr marL="0" indent="0">
              <a:buNone/>
            </a:pPr>
            <a:r>
              <a:rPr lang="en-US" sz="1050" i="1" dirty="0">
                <a:solidFill>
                  <a:srgbClr val="6E6E6E"/>
                </a:solidFill>
                <a:latin typeface="Calibri" pitchFamily="34" charset="0"/>
                <a:ea typeface="Calibri" pitchFamily="34" charset="-122"/>
                <a:cs typeface="Calibri" pitchFamily="34" charset="-120"/>
              </a:rPr>
              <a:t>Field validation of FMS cycle time recording — Komatsu HD785 Dumper</a:t>
            </a:r>
            <a:endParaRPr lang="en-US" sz="1050" dirty="0"/>
          </a:p>
        </p:txBody>
      </p:sp>
      <p:sp>
        <p:nvSpPr>
          <p:cNvPr id="18" name="Shape 15"/>
          <p:cNvSpPr/>
          <p:nvPr/>
        </p:nvSpPr>
        <p:spPr>
          <a:xfrm>
            <a:off x="345886" y="4726649"/>
            <a:ext cx="5463540" cy="1417320"/>
          </a:xfrm>
          <a:prstGeom prst="roundRect">
            <a:avLst>
              <a:gd name="adj" fmla="val 3871"/>
            </a:avLst>
          </a:prstGeom>
          <a:solidFill>
            <a:srgbClr val="F5F6F7"/>
          </a:solidFill>
          <a:ln/>
          <a:effectLst>
            <a:outerShdw blurRad="50800" dist="19050" dir="2700000" algn="bl" rotWithShape="0">
              <a:srgbClr val="000000">
                <a:alpha val="8000"/>
              </a:srgbClr>
            </a:outerShdw>
          </a:effectLst>
        </p:spPr>
      </p:sp>
      <p:sp>
        <p:nvSpPr>
          <p:cNvPr id="19" name="Text 16"/>
          <p:cNvSpPr/>
          <p:nvPr/>
        </p:nvSpPr>
        <p:spPr>
          <a:xfrm>
            <a:off x="437326" y="4909529"/>
            <a:ext cx="1729740" cy="256032"/>
          </a:xfrm>
          <a:prstGeom prst="rect">
            <a:avLst/>
          </a:prstGeom>
          <a:noFill/>
          <a:ln/>
        </p:spPr>
        <p:txBody>
          <a:bodyPr wrap="square" lIns="0" tIns="0" rIns="0" bIns="0" rtlCol="0" anchor="ctr"/>
          <a:lstStyle/>
          <a:p>
            <a:pPr marL="0" indent="0" algn="ctr">
              <a:buNone/>
            </a:pPr>
            <a:r>
              <a:rPr lang="en-US" sz="1050" dirty="0">
                <a:solidFill>
                  <a:srgbClr val="6E6E6E"/>
                </a:solidFill>
                <a:latin typeface="Calibri" pitchFamily="34" charset="0"/>
                <a:ea typeface="Calibri" pitchFamily="34" charset="-122"/>
                <a:cs typeface="Calibri" pitchFamily="34" charset="-120"/>
              </a:rPr>
              <a:t>Field Observation</a:t>
            </a:r>
            <a:endParaRPr lang="en-US" sz="1050" dirty="0"/>
          </a:p>
        </p:txBody>
      </p:sp>
      <p:sp>
        <p:nvSpPr>
          <p:cNvPr id="20" name="Text 17"/>
          <p:cNvSpPr/>
          <p:nvPr/>
        </p:nvSpPr>
        <p:spPr>
          <a:xfrm>
            <a:off x="437326" y="5183849"/>
            <a:ext cx="1729740" cy="365760"/>
          </a:xfrm>
          <a:prstGeom prst="rect">
            <a:avLst/>
          </a:prstGeom>
          <a:noFill/>
          <a:ln/>
        </p:spPr>
        <p:txBody>
          <a:bodyPr wrap="square" lIns="0" tIns="0" rIns="0" bIns="0" rtlCol="0" anchor="ctr"/>
          <a:lstStyle/>
          <a:p>
            <a:pPr marL="0" indent="0" algn="ctr">
              <a:buNone/>
            </a:pPr>
            <a:r>
              <a:rPr lang="en-US" sz="1500" b="1" dirty="0">
                <a:solidFill>
                  <a:srgbClr val="333333"/>
                </a:solidFill>
                <a:latin typeface="Calibri" pitchFamily="34" charset="0"/>
                <a:ea typeface="Calibri" pitchFamily="34" charset="-122"/>
                <a:cs typeface="Calibri" pitchFamily="34" charset="-120"/>
              </a:rPr>
              <a:t>19 min 08 sec</a:t>
            </a:r>
            <a:endParaRPr lang="en-US" sz="1500" dirty="0"/>
          </a:p>
        </p:txBody>
      </p:sp>
      <p:sp>
        <p:nvSpPr>
          <p:cNvPr id="22" name="Text 18"/>
          <p:cNvSpPr/>
          <p:nvPr/>
        </p:nvSpPr>
        <p:spPr>
          <a:xfrm>
            <a:off x="2144206" y="5173520"/>
            <a:ext cx="1821180" cy="237744"/>
          </a:xfrm>
          <a:prstGeom prst="rect">
            <a:avLst/>
          </a:prstGeom>
          <a:noFill/>
          <a:ln/>
        </p:spPr>
        <p:txBody>
          <a:bodyPr wrap="square" lIns="0" tIns="0" rIns="0" bIns="0" rtlCol="0" anchor="ctr"/>
          <a:lstStyle/>
          <a:p>
            <a:pPr marL="0" indent="0" algn="ctr">
              <a:buNone/>
            </a:pPr>
            <a:r>
              <a:rPr lang="en-US" sz="1200" b="1" dirty="0">
                <a:solidFill>
                  <a:srgbClr val="3CA24B"/>
                </a:solidFill>
                <a:latin typeface="Calibri" pitchFamily="34" charset="0"/>
                <a:ea typeface="Calibri" pitchFamily="34" charset="-122"/>
                <a:cs typeface="Calibri" pitchFamily="34" charset="-120"/>
              </a:rPr>
              <a:t>FMS Validated</a:t>
            </a:r>
            <a:endParaRPr lang="en-US" sz="1200" dirty="0"/>
          </a:p>
        </p:txBody>
      </p:sp>
      <p:sp>
        <p:nvSpPr>
          <p:cNvPr id="23" name="Text 19"/>
          <p:cNvSpPr/>
          <p:nvPr/>
        </p:nvSpPr>
        <p:spPr>
          <a:xfrm>
            <a:off x="3988246" y="4909529"/>
            <a:ext cx="1729740" cy="256032"/>
          </a:xfrm>
          <a:prstGeom prst="rect">
            <a:avLst/>
          </a:prstGeom>
          <a:noFill/>
          <a:ln/>
        </p:spPr>
        <p:txBody>
          <a:bodyPr wrap="square" lIns="0" tIns="0" rIns="0" bIns="0" rtlCol="0" anchor="ctr"/>
          <a:lstStyle/>
          <a:p>
            <a:pPr marL="0" indent="0" algn="ctr">
              <a:buNone/>
            </a:pPr>
            <a:r>
              <a:rPr lang="en-US" sz="1050" dirty="0">
                <a:solidFill>
                  <a:srgbClr val="6E6E6E"/>
                </a:solidFill>
                <a:latin typeface="Calibri" pitchFamily="34" charset="0"/>
                <a:ea typeface="Calibri" pitchFamily="34" charset="-122"/>
                <a:cs typeface="Calibri" pitchFamily="34" charset="-120"/>
              </a:rPr>
              <a:t>FMS Record</a:t>
            </a:r>
            <a:endParaRPr lang="en-US" sz="1050" dirty="0"/>
          </a:p>
        </p:txBody>
      </p:sp>
      <p:sp>
        <p:nvSpPr>
          <p:cNvPr id="24" name="Text 20"/>
          <p:cNvSpPr/>
          <p:nvPr/>
        </p:nvSpPr>
        <p:spPr>
          <a:xfrm>
            <a:off x="3988246" y="5183849"/>
            <a:ext cx="1729740" cy="365760"/>
          </a:xfrm>
          <a:prstGeom prst="rect">
            <a:avLst/>
          </a:prstGeom>
          <a:noFill/>
          <a:ln/>
        </p:spPr>
        <p:txBody>
          <a:bodyPr wrap="square" lIns="0" tIns="0" rIns="0" bIns="0" rtlCol="0" anchor="ctr"/>
          <a:lstStyle/>
          <a:p>
            <a:pPr marL="0" indent="0" algn="ctr">
              <a:buNone/>
            </a:pPr>
            <a:r>
              <a:rPr lang="en-US" sz="1500" b="1" dirty="0">
                <a:solidFill>
                  <a:srgbClr val="333333"/>
                </a:solidFill>
                <a:latin typeface="Calibri" pitchFamily="34" charset="0"/>
                <a:ea typeface="Calibri" pitchFamily="34" charset="-122"/>
                <a:cs typeface="Calibri" pitchFamily="34" charset="-120"/>
              </a:rPr>
              <a:t>19 min 05 sec</a:t>
            </a:r>
            <a:endParaRPr lang="en-US" sz="1500" dirty="0"/>
          </a:p>
        </p:txBody>
      </p:sp>
      <p:sp>
        <p:nvSpPr>
          <p:cNvPr id="25" name="Shape 21"/>
          <p:cNvSpPr/>
          <p:nvPr/>
        </p:nvSpPr>
        <p:spPr>
          <a:xfrm>
            <a:off x="2167066" y="4955249"/>
            <a:ext cx="0" cy="685800"/>
          </a:xfrm>
          <a:prstGeom prst="line">
            <a:avLst/>
          </a:prstGeom>
          <a:noFill/>
          <a:ln w="6350">
            <a:solidFill>
              <a:srgbClr val="D9D9D9"/>
            </a:solidFill>
            <a:prstDash val="solid"/>
          </a:ln>
        </p:spPr>
        <p:txBody>
          <a:bodyPr/>
          <a:lstStyle/>
          <a:p>
            <a:endParaRPr lang="en-IN" dirty="0"/>
          </a:p>
        </p:txBody>
      </p:sp>
      <p:sp>
        <p:nvSpPr>
          <p:cNvPr id="26" name="Shape 22"/>
          <p:cNvSpPr/>
          <p:nvPr/>
        </p:nvSpPr>
        <p:spPr>
          <a:xfrm>
            <a:off x="3988246" y="4955249"/>
            <a:ext cx="0" cy="685800"/>
          </a:xfrm>
          <a:prstGeom prst="line">
            <a:avLst/>
          </a:prstGeom>
          <a:noFill/>
          <a:ln w="6350">
            <a:solidFill>
              <a:srgbClr val="D9D9D9"/>
            </a:solidFill>
            <a:prstDash val="solid"/>
          </a:ln>
        </p:spPr>
      </p:sp>
      <p:sp>
        <p:nvSpPr>
          <p:cNvPr id="27" name="Text 23"/>
          <p:cNvSpPr/>
          <p:nvPr/>
        </p:nvSpPr>
        <p:spPr>
          <a:xfrm>
            <a:off x="483046" y="5732489"/>
            <a:ext cx="5189220" cy="502920"/>
          </a:xfrm>
          <a:prstGeom prst="rect">
            <a:avLst/>
          </a:prstGeom>
          <a:noFill/>
          <a:ln/>
        </p:spPr>
        <p:txBody>
          <a:bodyPr wrap="square" lIns="0" tIns="0" rIns="0" bIns="0" rtlCol="0" anchor="t"/>
          <a:lstStyle/>
          <a:p>
            <a:pPr marL="0" indent="0" algn="l">
              <a:lnSpc>
                <a:spcPct val="105000"/>
              </a:lnSpc>
              <a:buNone/>
            </a:pPr>
            <a:r>
              <a:rPr lang="en-US" sz="950" b="1" dirty="0">
                <a:solidFill>
                  <a:srgbClr val="1F4E79"/>
                </a:solidFill>
                <a:latin typeface="Calibri" pitchFamily="34" charset="0"/>
                <a:ea typeface="Calibri" pitchFamily="34" charset="-122"/>
                <a:cs typeface="Calibri" pitchFamily="34" charset="-120"/>
              </a:rPr>
              <a:t>Validation Finding  </a:t>
            </a:r>
            <a:r>
              <a:rPr lang="en-US" sz="950" dirty="0">
                <a:solidFill>
                  <a:srgbClr val="333333"/>
                </a:solidFill>
                <a:latin typeface="Calibri" pitchFamily="34" charset="0"/>
                <a:ea typeface="Calibri" pitchFamily="34" charset="-122"/>
                <a:cs typeface="Calibri" pitchFamily="34" charset="-120"/>
              </a:rPr>
              <a:t>Manual stopwatch observations differed by only 3 seconds from the FMS record, confirming the accuracy and reliability of FMS cycle time tracking.</a:t>
            </a:r>
            <a:endParaRPr lang="en-US" sz="950" dirty="0"/>
          </a:p>
        </p:txBody>
      </p:sp>
      <p:sp>
        <p:nvSpPr>
          <p:cNvPr id="28" name="Text 24"/>
          <p:cNvSpPr/>
          <p:nvPr/>
        </p:nvSpPr>
        <p:spPr>
          <a:xfrm>
            <a:off x="6188139" y="4046230"/>
            <a:ext cx="5463540" cy="274320"/>
          </a:xfrm>
          <a:prstGeom prst="rect">
            <a:avLst/>
          </a:prstGeom>
          <a:noFill/>
          <a:ln/>
        </p:spPr>
        <p:txBody>
          <a:bodyPr wrap="square" lIns="0" tIns="0" rIns="0" bIns="0"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Survey Reconciliation</a:t>
            </a:r>
            <a:endParaRPr lang="en-US" sz="1500" dirty="0"/>
          </a:p>
        </p:txBody>
      </p:sp>
      <p:sp>
        <p:nvSpPr>
          <p:cNvPr id="29" name="Text 25"/>
          <p:cNvSpPr/>
          <p:nvPr/>
        </p:nvSpPr>
        <p:spPr>
          <a:xfrm>
            <a:off x="6200763" y="4330877"/>
            <a:ext cx="5463540" cy="256032"/>
          </a:xfrm>
          <a:prstGeom prst="rect">
            <a:avLst/>
          </a:prstGeom>
          <a:noFill/>
          <a:ln/>
        </p:spPr>
        <p:txBody>
          <a:bodyPr wrap="square" lIns="0" tIns="0" rIns="0" bIns="0" rtlCol="0" anchor="ctr"/>
          <a:lstStyle/>
          <a:p>
            <a:pPr marL="0" indent="0">
              <a:buNone/>
            </a:pPr>
            <a:r>
              <a:rPr lang="en-US" sz="1050" i="1" dirty="0">
                <a:solidFill>
                  <a:srgbClr val="6E6E6E"/>
                </a:solidFill>
                <a:latin typeface="Calibri" pitchFamily="34" charset="0"/>
                <a:ea typeface="Calibri" pitchFamily="34" charset="-122"/>
                <a:cs typeface="Calibri" pitchFamily="34" charset="-120"/>
              </a:rPr>
              <a:t>Comparison of FMS-estimated and survey-measured overburden quantity (May 2026)</a:t>
            </a:r>
            <a:endParaRPr lang="en-US" sz="1050" dirty="0"/>
          </a:p>
        </p:txBody>
      </p:sp>
      <p:sp>
        <p:nvSpPr>
          <p:cNvPr id="30" name="Shape 26"/>
          <p:cNvSpPr/>
          <p:nvPr/>
        </p:nvSpPr>
        <p:spPr>
          <a:xfrm>
            <a:off x="6177172" y="4726648"/>
            <a:ext cx="5463540" cy="1417321"/>
          </a:xfrm>
          <a:prstGeom prst="roundRect">
            <a:avLst>
              <a:gd name="adj" fmla="val 3871"/>
            </a:avLst>
          </a:prstGeom>
          <a:solidFill>
            <a:srgbClr val="F5F6F7"/>
          </a:solidFill>
          <a:ln/>
          <a:effectLst>
            <a:outerShdw blurRad="50800" dist="19050" dir="2700000" algn="bl" rotWithShape="0">
              <a:srgbClr val="000000">
                <a:alpha val="8000"/>
              </a:srgbClr>
            </a:outerShdw>
          </a:effectLst>
        </p:spPr>
      </p:sp>
      <p:sp>
        <p:nvSpPr>
          <p:cNvPr id="31" name="Text 27"/>
          <p:cNvSpPr/>
          <p:nvPr/>
        </p:nvSpPr>
        <p:spPr>
          <a:xfrm>
            <a:off x="6268612" y="4789472"/>
            <a:ext cx="1775460" cy="256032"/>
          </a:xfrm>
          <a:prstGeom prst="rect">
            <a:avLst/>
          </a:prstGeom>
          <a:noFill/>
          <a:ln/>
        </p:spPr>
        <p:txBody>
          <a:bodyPr wrap="square" lIns="0" tIns="0" rIns="0" bIns="0" rtlCol="0" anchor="ctr"/>
          <a:lstStyle/>
          <a:p>
            <a:pPr marL="0" indent="0" algn="ctr">
              <a:buNone/>
            </a:pPr>
            <a:r>
              <a:rPr lang="en-US" sz="950" dirty="0">
                <a:solidFill>
                  <a:srgbClr val="6E6E6E"/>
                </a:solidFill>
                <a:latin typeface="Calibri" pitchFamily="34" charset="0"/>
                <a:ea typeface="Calibri" pitchFamily="34" charset="-122"/>
                <a:cs typeface="Calibri" pitchFamily="34" charset="-120"/>
              </a:rPr>
              <a:t>Survey Measurement</a:t>
            </a:r>
            <a:endParaRPr lang="en-US" sz="950" dirty="0"/>
          </a:p>
        </p:txBody>
      </p:sp>
      <p:sp>
        <p:nvSpPr>
          <p:cNvPr id="32" name="Text 28"/>
          <p:cNvSpPr/>
          <p:nvPr/>
        </p:nvSpPr>
        <p:spPr>
          <a:xfrm>
            <a:off x="6268612" y="5117860"/>
            <a:ext cx="1775460" cy="347472"/>
          </a:xfrm>
          <a:prstGeom prst="rect">
            <a:avLst/>
          </a:prstGeom>
          <a:noFill/>
          <a:ln/>
        </p:spPr>
        <p:txBody>
          <a:bodyPr wrap="square" lIns="0" tIns="0" rIns="0" bIns="0" rtlCol="0" anchor="ctr"/>
          <a:lstStyle/>
          <a:p>
            <a:pPr marL="0" indent="0" algn="ctr">
              <a:buNone/>
            </a:pPr>
            <a:r>
              <a:rPr lang="en-US" sz="1300" b="1" dirty="0">
                <a:solidFill>
                  <a:srgbClr val="333333"/>
                </a:solidFill>
                <a:latin typeface="Calibri" pitchFamily="34" charset="0"/>
                <a:ea typeface="Calibri" pitchFamily="34" charset="-122"/>
                <a:cs typeface="Calibri" pitchFamily="34" charset="-120"/>
              </a:rPr>
              <a:t>1,616,656 m³</a:t>
            </a:r>
            <a:endParaRPr lang="en-US" sz="1300" dirty="0"/>
          </a:p>
        </p:txBody>
      </p:sp>
      <p:sp>
        <p:nvSpPr>
          <p:cNvPr id="34" name="Text 30"/>
          <p:cNvSpPr/>
          <p:nvPr/>
        </p:nvSpPr>
        <p:spPr>
          <a:xfrm>
            <a:off x="9819532" y="4789872"/>
            <a:ext cx="1729740" cy="256032"/>
          </a:xfrm>
          <a:prstGeom prst="rect">
            <a:avLst/>
          </a:prstGeom>
          <a:noFill/>
          <a:ln/>
        </p:spPr>
        <p:txBody>
          <a:bodyPr wrap="square" lIns="0" tIns="0" rIns="0" bIns="0" rtlCol="0" anchor="ctr"/>
          <a:lstStyle/>
          <a:p>
            <a:pPr marL="0" indent="0" algn="ctr">
              <a:buNone/>
            </a:pPr>
            <a:r>
              <a:rPr lang="en-US" sz="950" dirty="0">
                <a:solidFill>
                  <a:srgbClr val="6E6E6E"/>
                </a:solidFill>
                <a:latin typeface="Calibri" pitchFamily="34" charset="0"/>
                <a:ea typeface="Calibri" pitchFamily="34" charset="-122"/>
                <a:cs typeface="Calibri" pitchFamily="34" charset="-120"/>
              </a:rPr>
              <a:t>FMS Estimate</a:t>
            </a:r>
            <a:endParaRPr lang="en-US" sz="950" dirty="0"/>
          </a:p>
        </p:txBody>
      </p:sp>
      <p:sp>
        <p:nvSpPr>
          <p:cNvPr id="35" name="Text 31"/>
          <p:cNvSpPr/>
          <p:nvPr/>
        </p:nvSpPr>
        <p:spPr>
          <a:xfrm>
            <a:off x="9819532" y="5117860"/>
            <a:ext cx="1729740" cy="347472"/>
          </a:xfrm>
          <a:prstGeom prst="rect">
            <a:avLst/>
          </a:prstGeom>
          <a:noFill/>
          <a:ln/>
        </p:spPr>
        <p:txBody>
          <a:bodyPr wrap="square" lIns="0" tIns="0" rIns="0" bIns="0" rtlCol="0" anchor="ctr"/>
          <a:lstStyle/>
          <a:p>
            <a:pPr marL="0" indent="0" algn="ctr">
              <a:buNone/>
            </a:pPr>
            <a:r>
              <a:rPr lang="en-US" sz="1300" b="1" dirty="0">
                <a:solidFill>
                  <a:srgbClr val="333333"/>
                </a:solidFill>
                <a:latin typeface="Calibri" pitchFamily="34" charset="0"/>
                <a:ea typeface="Calibri" pitchFamily="34" charset="-122"/>
                <a:cs typeface="Calibri" pitchFamily="34" charset="-120"/>
              </a:rPr>
              <a:t>1,528,807 m³</a:t>
            </a:r>
            <a:endParaRPr lang="en-US" sz="1300" dirty="0"/>
          </a:p>
        </p:txBody>
      </p:sp>
      <p:sp>
        <p:nvSpPr>
          <p:cNvPr id="37" name="Text 33"/>
          <p:cNvSpPr/>
          <p:nvPr/>
        </p:nvSpPr>
        <p:spPr>
          <a:xfrm>
            <a:off x="7560202" y="5106125"/>
            <a:ext cx="2743200" cy="384048"/>
          </a:xfrm>
          <a:prstGeom prst="rect">
            <a:avLst/>
          </a:prstGeom>
          <a:noFill/>
          <a:ln/>
        </p:spPr>
        <p:txBody>
          <a:bodyPr wrap="square" lIns="0" tIns="0" rIns="0" bIns="0" rtlCol="0" anchor="ctr"/>
          <a:lstStyle/>
          <a:p>
            <a:pPr marL="0" indent="0" algn="ctr">
              <a:buNone/>
            </a:pPr>
            <a:r>
              <a:rPr lang="en-US" sz="1050" b="1" dirty="0">
                <a:solidFill>
                  <a:srgbClr val="1F4E79"/>
                </a:solidFill>
                <a:latin typeface="Calibri" pitchFamily="34" charset="0"/>
                <a:ea typeface="Calibri" pitchFamily="34" charset="-122"/>
                <a:cs typeface="Calibri" pitchFamily="34" charset="-120"/>
              </a:rPr>
              <a:t>Production Deviation:  </a:t>
            </a:r>
            <a:r>
              <a:rPr lang="en-US" sz="1050" b="1" dirty="0">
                <a:solidFill>
                  <a:srgbClr val="C0392B"/>
                </a:solidFill>
                <a:latin typeface="Calibri" pitchFamily="34" charset="0"/>
                <a:ea typeface="Calibri" pitchFamily="34" charset="-122"/>
                <a:cs typeface="Calibri" pitchFamily="34" charset="-120"/>
              </a:rPr>
              <a:t>87,849 m³  (5.43%)</a:t>
            </a:r>
            <a:endParaRPr lang="en-US" sz="1050" dirty="0"/>
          </a:p>
        </p:txBody>
      </p:sp>
      <p:sp>
        <p:nvSpPr>
          <p:cNvPr id="38" name="Text 34"/>
          <p:cNvSpPr/>
          <p:nvPr/>
        </p:nvSpPr>
        <p:spPr>
          <a:xfrm>
            <a:off x="6292502" y="5592750"/>
            <a:ext cx="5189220" cy="411480"/>
          </a:xfrm>
          <a:prstGeom prst="rect">
            <a:avLst/>
          </a:prstGeom>
          <a:noFill/>
          <a:ln/>
        </p:spPr>
        <p:txBody>
          <a:bodyPr wrap="square" lIns="0" tIns="0" rIns="0" bIns="0" rtlCol="0" anchor="t"/>
          <a:lstStyle/>
          <a:p>
            <a:pPr marL="0" indent="0" algn="l">
              <a:lnSpc>
                <a:spcPct val="105000"/>
              </a:lnSpc>
              <a:buNone/>
            </a:pPr>
            <a:r>
              <a:rPr lang="en-US" sz="950" b="1" dirty="0">
                <a:solidFill>
                  <a:srgbClr val="1F4E79"/>
                </a:solidFill>
                <a:latin typeface="Calibri" pitchFamily="34" charset="0"/>
                <a:ea typeface="Calibri" pitchFamily="34" charset="-122"/>
                <a:cs typeface="Calibri" pitchFamily="34" charset="-120"/>
              </a:rPr>
              <a:t>Reconciliation Finding  </a:t>
            </a:r>
            <a:r>
              <a:rPr lang="en-US" sz="950" dirty="0">
                <a:solidFill>
                  <a:srgbClr val="333333"/>
                </a:solidFill>
                <a:latin typeface="Calibri" pitchFamily="34" charset="0"/>
                <a:ea typeface="Calibri" pitchFamily="34" charset="-122"/>
                <a:cs typeface="Calibri" pitchFamily="34" charset="-120"/>
              </a:rPr>
              <a:t>Independent survey measurements recorded 5.43% higher overburden quantity than the FMS estimate. The deviation is primarily attributed to the use of a single static Truck Factor despite varying material densities.</a:t>
            </a:r>
            <a:endParaRPr lang="en-US" sz="950" dirty="0"/>
          </a:p>
        </p:txBody>
      </p:sp>
      <p:pic>
        <p:nvPicPr>
          <p:cNvPr id="40" name="Density Bar Chart" descr="Density Bar Chart" title="Density Bar Chart">
            <a:extLst>
              <a:ext uri="{FF2B5EF4-FFF2-40B4-BE49-F238E27FC236}">
                <a16:creationId xmlns:a16="http://schemas.microsoft.com/office/drawing/2014/main" id="{6AD745D4-60A6-FEDD-692A-2D59EFFAE25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7446" y="1529038"/>
            <a:ext cx="5566134" cy="2400300"/>
          </a:xfrm>
          <a:prstGeom prst="rect">
            <a:avLst/>
          </a:prstGeom>
        </p:spPr>
      </p:pic>
      <p:grpSp>
        <p:nvGrpSpPr>
          <p:cNvPr id="41" name="Group 5">
            <a:extLst>
              <a:ext uri="{FF2B5EF4-FFF2-40B4-BE49-F238E27FC236}">
                <a16:creationId xmlns:a16="http://schemas.microsoft.com/office/drawing/2014/main" id="{7B12A115-9055-B6C1-E7F5-CC7E1DD34CBE}"/>
              </a:ext>
            </a:extLst>
          </p:cNvPr>
          <p:cNvGrpSpPr/>
          <p:nvPr/>
        </p:nvGrpSpPr>
        <p:grpSpPr>
          <a:xfrm>
            <a:off x="457200" y="799693"/>
            <a:ext cx="4536000" cy="45719"/>
            <a:chOff x="0" y="0"/>
            <a:chExt cx="14068412" cy="121920"/>
          </a:xfrm>
        </p:grpSpPr>
        <p:sp>
          <p:nvSpPr>
            <p:cNvPr id="42" name="Freeform 6" descr="D:\Corp Comm Department Work 2015\Brand Adani 2012\adani_gradient_master.jpg">
              <a:extLst>
                <a:ext uri="{FF2B5EF4-FFF2-40B4-BE49-F238E27FC236}">
                  <a16:creationId xmlns:a16="http://schemas.microsoft.com/office/drawing/2014/main" id="{E385C519-B8FE-4066-D047-B2FC2E13F158}"/>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5"/>
              <a:stretch>
                <a:fillRect b="-5072"/>
              </a:stretch>
            </a:blipFill>
          </p:spPr>
          <p:txBody>
            <a:bodyPr/>
            <a:lstStyle/>
            <a:p>
              <a:endParaRPr lang="en-IN"/>
            </a:p>
          </p:txBody>
        </p:sp>
      </p:grpSp>
      <p:grpSp>
        <p:nvGrpSpPr>
          <p:cNvPr id="43" name="Group 3">
            <a:extLst>
              <a:ext uri="{FF2B5EF4-FFF2-40B4-BE49-F238E27FC236}">
                <a16:creationId xmlns:a16="http://schemas.microsoft.com/office/drawing/2014/main" id="{9DB77635-F543-9733-CCC1-11083262CD20}"/>
              </a:ext>
            </a:extLst>
          </p:cNvPr>
          <p:cNvGrpSpPr/>
          <p:nvPr/>
        </p:nvGrpSpPr>
        <p:grpSpPr>
          <a:xfrm>
            <a:off x="10056527" y="6189371"/>
            <a:ext cx="2136000" cy="669944"/>
            <a:chOff x="0" y="0"/>
            <a:chExt cx="4272001" cy="1339888"/>
          </a:xfrm>
        </p:grpSpPr>
        <p:sp>
          <p:nvSpPr>
            <p:cNvPr id="44" name="Freeform 4">
              <a:extLst>
                <a:ext uri="{FF2B5EF4-FFF2-40B4-BE49-F238E27FC236}">
                  <a16:creationId xmlns:a16="http://schemas.microsoft.com/office/drawing/2014/main" id="{5B6CE14A-7A6B-C194-6075-5F29CE6DA1F2}"/>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6"/>
              <a:stretch>
                <a:fillRect l="-470838" t="-924095" b="-2"/>
              </a:stretch>
            </a:blipFill>
          </p:spPr>
        </p:sp>
      </p:grpSp>
    </p:spTree>
    <p:extLst>
      <p:ext uri="{BB962C8B-B14F-4D97-AF65-F5344CB8AC3E}">
        <p14:creationId xmlns:p14="http://schemas.microsoft.com/office/powerpoint/2010/main" val="763066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6591" y="371406"/>
            <a:ext cx="9601200" cy="438912"/>
          </a:xfrm>
          <a:prstGeom prst="rect">
            <a:avLst/>
          </a:prstGeom>
          <a:noFill/>
          <a:ln/>
        </p:spPr>
        <p:txBody>
          <a:bodyPr wrap="square" rtlCol="0" anchor="ctr"/>
          <a:lstStyle/>
          <a:p>
            <a:pPr marL="0" indent="0">
              <a:buNone/>
            </a:pPr>
            <a:r>
              <a:rPr lang="en-US" sz="2300" dirty="0">
                <a:solidFill>
                  <a:srgbClr val="0070C0"/>
                </a:solidFill>
                <a:latin typeface="Arial" pitchFamily="34" charset="0"/>
                <a:ea typeface="Arial" pitchFamily="34" charset="-122"/>
                <a:cs typeface="Arial" pitchFamily="34" charset="-120"/>
              </a:rPr>
              <a:t>Operational Improvement Initiatives</a:t>
            </a:r>
            <a:endParaRPr lang="en-US" sz="2300" dirty="0"/>
          </a:p>
        </p:txBody>
      </p:sp>
      <p:sp>
        <p:nvSpPr>
          <p:cNvPr id="55" name="Shape 52"/>
          <p:cNvSpPr/>
          <p:nvPr/>
        </p:nvSpPr>
        <p:spPr>
          <a:xfrm>
            <a:off x="554609" y="1058674"/>
            <a:ext cx="5408676" cy="2331720"/>
          </a:xfrm>
          <a:prstGeom prst="roundRect">
            <a:avLst>
              <a:gd name="adj" fmla="val 2353"/>
            </a:avLst>
          </a:prstGeom>
          <a:solidFill>
            <a:srgbClr val="FFFFFF"/>
          </a:solidFill>
          <a:ln w="12700">
            <a:solidFill>
              <a:srgbClr val="D9D9D9"/>
            </a:solidFill>
            <a:prstDash val="solid"/>
          </a:ln>
        </p:spPr>
      </p:sp>
      <p:sp>
        <p:nvSpPr>
          <p:cNvPr id="56" name="Text 53"/>
          <p:cNvSpPr/>
          <p:nvPr/>
        </p:nvSpPr>
        <p:spPr>
          <a:xfrm>
            <a:off x="772868" y="1118747"/>
            <a:ext cx="4896612" cy="292608"/>
          </a:xfrm>
          <a:prstGeom prst="rect">
            <a:avLst/>
          </a:prstGeom>
          <a:noFill/>
          <a:ln/>
        </p:spPr>
        <p:txBody>
          <a:bodyPr wrap="square" rtlCol="0" anchor="ctr"/>
          <a:lstStyle/>
          <a:p>
            <a:pPr marL="0" indent="0">
              <a:buNone/>
            </a:pPr>
            <a:r>
              <a:rPr lang="en-US" sz="1450" b="1" dirty="0">
                <a:solidFill>
                  <a:srgbClr val="12233F"/>
                </a:solidFill>
                <a:latin typeface="Arial" pitchFamily="34" charset="0"/>
                <a:ea typeface="Arial" pitchFamily="34" charset="-122"/>
                <a:cs typeface="Arial" pitchFamily="34" charset="-120"/>
              </a:rPr>
              <a:t>Q4 Machine Recovery Programme</a:t>
            </a:r>
            <a:endParaRPr lang="en-US" sz="1450" dirty="0"/>
          </a:p>
        </p:txBody>
      </p:sp>
      <p:sp>
        <p:nvSpPr>
          <p:cNvPr id="57" name="Text 54"/>
          <p:cNvSpPr/>
          <p:nvPr/>
        </p:nvSpPr>
        <p:spPr>
          <a:xfrm>
            <a:off x="780819" y="1393067"/>
            <a:ext cx="4896612" cy="201168"/>
          </a:xfrm>
          <a:prstGeom prst="rect">
            <a:avLst/>
          </a:prstGeom>
          <a:noFill/>
          <a:ln/>
        </p:spPr>
        <p:txBody>
          <a:bodyPr wrap="square" rtlCol="0" anchor="ctr"/>
          <a:lstStyle/>
          <a:p>
            <a:pPr marL="0" indent="0">
              <a:buNone/>
            </a:pPr>
            <a:r>
              <a:rPr lang="en-US" sz="950" dirty="0">
                <a:solidFill>
                  <a:srgbClr val="6B6B6B"/>
                </a:solidFill>
                <a:latin typeface="Arial" pitchFamily="34" charset="0"/>
                <a:ea typeface="Arial" pitchFamily="34" charset="-122"/>
                <a:cs typeface="Arial" pitchFamily="34" charset="-120"/>
              </a:rPr>
              <a:t>30-Day Mandatory Resolution</a:t>
            </a:r>
            <a:endParaRPr lang="en-US" sz="950" dirty="0"/>
          </a:p>
        </p:txBody>
      </p:sp>
      <p:sp>
        <p:nvSpPr>
          <p:cNvPr id="58" name="Shape 55"/>
          <p:cNvSpPr/>
          <p:nvPr/>
        </p:nvSpPr>
        <p:spPr>
          <a:xfrm>
            <a:off x="804672" y="1623907"/>
            <a:ext cx="4896612" cy="5486"/>
          </a:xfrm>
          <a:prstGeom prst="rect">
            <a:avLst/>
          </a:prstGeom>
          <a:solidFill>
            <a:srgbClr val="D9D9D9"/>
          </a:solidFill>
          <a:ln/>
        </p:spPr>
      </p:sp>
      <p:sp>
        <p:nvSpPr>
          <p:cNvPr id="59" name="Text 56"/>
          <p:cNvSpPr/>
          <p:nvPr/>
        </p:nvSpPr>
        <p:spPr>
          <a:xfrm>
            <a:off x="804672" y="1715347"/>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KEY FINDING</a:t>
            </a:r>
            <a:endParaRPr lang="en-US" sz="750" dirty="0"/>
          </a:p>
        </p:txBody>
      </p:sp>
      <p:sp>
        <p:nvSpPr>
          <p:cNvPr id="60" name="Text 57"/>
          <p:cNvSpPr/>
          <p:nvPr/>
        </p:nvSpPr>
        <p:spPr>
          <a:xfrm>
            <a:off x="804672" y="1803061"/>
            <a:ext cx="4896612" cy="329184"/>
          </a:xfrm>
          <a:prstGeom prst="rect">
            <a:avLst/>
          </a:prstGeom>
          <a:noFill/>
          <a:ln/>
        </p:spPr>
        <p:txBody>
          <a:bodyPr wrap="square" rtlCol="0" anchor="ctr"/>
          <a:lstStyle/>
          <a:p>
            <a:pPr marL="0" indent="0">
              <a:lnSpc>
                <a:spcPct val="120000"/>
              </a:lnSpc>
              <a:buNone/>
            </a:pPr>
            <a:r>
              <a:rPr lang="en-US" sz="950" dirty="0">
                <a:solidFill>
                  <a:srgbClr val="3A3A3A"/>
                </a:solidFill>
                <a:latin typeface="Arial" pitchFamily="34" charset="0"/>
                <a:ea typeface="Arial" pitchFamily="34" charset="-122"/>
                <a:cs typeface="Arial" pitchFamily="34" charset="-120"/>
              </a:rPr>
              <a:t>61 machines remained in the critical (Q4) reliability quadrant.</a:t>
            </a:r>
            <a:endParaRPr lang="en-US" sz="950" dirty="0"/>
          </a:p>
        </p:txBody>
      </p:sp>
      <p:sp>
        <p:nvSpPr>
          <p:cNvPr id="61" name="Shape 58"/>
          <p:cNvSpPr/>
          <p:nvPr/>
        </p:nvSpPr>
        <p:spPr>
          <a:xfrm>
            <a:off x="804672" y="2173866"/>
            <a:ext cx="4896612" cy="5486"/>
          </a:xfrm>
          <a:prstGeom prst="rect">
            <a:avLst/>
          </a:prstGeom>
          <a:solidFill>
            <a:srgbClr val="D9D9D9"/>
          </a:solidFill>
          <a:ln/>
        </p:spPr>
      </p:sp>
      <p:sp>
        <p:nvSpPr>
          <p:cNvPr id="62" name="Text 59"/>
          <p:cNvSpPr/>
          <p:nvPr/>
        </p:nvSpPr>
        <p:spPr>
          <a:xfrm>
            <a:off x="804672" y="2260703"/>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KEY ACTIONS</a:t>
            </a:r>
            <a:endParaRPr lang="en-US" sz="750" dirty="0"/>
          </a:p>
        </p:txBody>
      </p:sp>
      <p:sp>
        <p:nvSpPr>
          <p:cNvPr id="63" name="Text 60"/>
          <p:cNvSpPr/>
          <p:nvPr/>
        </p:nvSpPr>
        <p:spPr>
          <a:xfrm>
            <a:off x="804672" y="2399709"/>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Machine Classification</a:t>
            </a:r>
            <a:endParaRPr lang="en-US" sz="850" dirty="0"/>
          </a:p>
        </p:txBody>
      </p:sp>
      <p:sp>
        <p:nvSpPr>
          <p:cNvPr id="64" name="Shape 61"/>
          <p:cNvSpPr/>
          <p:nvPr/>
        </p:nvSpPr>
        <p:spPr>
          <a:xfrm>
            <a:off x="2281999" y="2436260"/>
            <a:ext cx="7315" cy="329184"/>
          </a:xfrm>
          <a:prstGeom prst="rect">
            <a:avLst/>
          </a:prstGeom>
          <a:solidFill>
            <a:srgbClr val="D9D9D9"/>
          </a:solidFill>
          <a:ln/>
        </p:spPr>
      </p:sp>
      <p:sp>
        <p:nvSpPr>
          <p:cNvPr id="65" name="Text 62"/>
          <p:cNvSpPr/>
          <p:nvPr/>
        </p:nvSpPr>
        <p:spPr>
          <a:xfrm>
            <a:off x="2436876" y="2399709"/>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Ownership Assignment</a:t>
            </a:r>
            <a:endParaRPr lang="en-US" sz="850" dirty="0"/>
          </a:p>
        </p:txBody>
      </p:sp>
      <p:sp>
        <p:nvSpPr>
          <p:cNvPr id="66" name="Shape 63"/>
          <p:cNvSpPr/>
          <p:nvPr/>
        </p:nvSpPr>
        <p:spPr>
          <a:xfrm>
            <a:off x="3914203" y="2436260"/>
            <a:ext cx="7315" cy="329184"/>
          </a:xfrm>
          <a:prstGeom prst="rect">
            <a:avLst/>
          </a:prstGeom>
          <a:solidFill>
            <a:srgbClr val="D9D9D9"/>
          </a:solidFill>
          <a:ln/>
        </p:spPr>
      </p:sp>
      <p:sp>
        <p:nvSpPr>
          <p:cNvPr id="67" name="Text 64"/>
          <p:cNvSpPr/>
          <p:nvPr/>
        </p:nvSpPr>
        <p:spPr>
          <a:xfrm>
            <a:off x="4069080" y="2399709"/>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Weekly Monitoring</a:t>
            </a:r>
            <a:endParaRPr lang="en-US" sz="850" dirty="0"/>
          </a:p>
        </p:txBody>
      </p:sp>
      <p:sp>
        <p:nvSpPr>
          <p:cNvPr id="68" name="Shape 65"/>
          <p:cNvSpPr/>
          <p:nvPr/>
        </p:nvSpPr>
        <p:spPr>
          <a:xfrm>
            <a:off x="804672" y="2895334"/>
            <a:ext cx="4896612" cy="5486"/>
          </a:xfrm>
          <a:prstGeom prst="rect">
            <a:avLst/>
          </a:prstGeom>
          <a:solidFill>
            <a:srgbClr val="D9D9D9"/>
          </a:solidFill>
          <a:ln/>
        </p:spPr>
      </p:sp>
      <p:sp>
        <p:nvSpPr>
          <p:cNvPr id="69" name="Text 66"/>
          <p:cNvSpPr/>
          <p:nvPr/>
        </p:nvSpPr>
        <p:spPr>
          <a:xfrm>
            <a:off x="786384" y="2932590"/>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SUCCESS TARGET</a:t>
            </a:r>
            <a:endParaRPr lang="en-US" sz="750" dirty="0"/>
          </a:p>
        </p:txBody>
      </p:sp>
      <p:sp>
        <p:nvSpPr>
          <p:cNvPr id="70" name="Text 67"/>
          <p:cNvSpPr/>
          <p:nvPr/>
        </p:nvSpPr>
        <p:spPr>
          <a:xfrm>
            <a:off x="796721" y="3048275"/>
            <a:ext cx="4896612" cy="329184"/>
          </a:xfrm>
          <a:prstGeom prst="rect">
            <a:avLst/>
          </a:prstGeom>
          <a:noFill/>
          <a:ln/>
        </p:spPr>
        <p:txBody>
          <a:bodyPr wrap="square" rtlCol="0" anchor="ctr"/>
          <a:lstStyle/>
          <a:p>
            <a:pPr marL="0" indent="0">
              <a:lnSpc>
                <a:spcPct val="110000"/>
              </a:lnSpc>
              <a:buNone/>
            </a:pPr>
            <a:r>
              <a:rPr lang="en-US" sz="1300" b="1" dirty="0">
                <a:solidFill>
                  <a:srgbClr val="12233F"/>
                </a:solidFill>
                <a:latin typeface="Arial" pitchFamily="34" charset="0"/>
                <a:ea typeface="Arial" pitchFamily="34" charset="-122"/>
                <a:cs typeface="Arial" pitchFamily="34" charset="-120"/>
              </a:rPr>
              <a:t>61 → &lt;45 Q4 Machines within 90 Days</a:t>
            </a:r>
            <a:endParaRPr lang="en-US" sz="1300" dirty="0"/>
          </a:p>
        </p:txBody>
      </p:sp>
      <p:sp>
        <p:nvSpPr>
          <p:cNvPr id="71" name="Shape 68"/>
          <p:cNvSpPr/>
          <p:nvPr/>
        </p:nvSpPr>
        <p:spPr>
          <a:xfrm>
            <a:off x="6225285" y="1058674"/>
            <a:ext cx="5408676" cy="2331720"/>
          </a:xfrm>
          <a:prstGeom prst="roundRect">
            <a:avLst>
              <a:gd name="adj" fmla="val 2353"/>
            </a:avLst>
          </a:prstGeom>
          <a:solidFill>
            <a:srgbClr val="FFFFFF"/>
          </a:solidFill>
          <a:ln w="12700">
            <a:solidFill>
              <a:srgbClr val="D9D9D9"/>
            </a:solidFill>
            <a:prstDash val="solid"/>
          </a:ln>
        </p:spPr>
      </p:sp>
      <p:sp>
        <p:nvSpPr>
          <p:cNvPr id="72" name="Text 69"/>
          <p:cNvSpPr/>
          <p:nvPr/>
        </p:nvSpPr>
        <p:spPr>
          <a:xfrm>
            <a:off x="6455864" y="1118747"/>
            <a:ext cx="4896612" cy="292608"/>
          </a:xfrm>
          <a:prstGeom prst="rect">
            <a:avLst/>
          </a:prstGeom>
          <a:noFill/>
          <a:ln/>
        </p:spPr>
        <p:txBody>
          <a:bodyPr wrap="square" rtlCol="0" anchor="ctr"/>
          <a:lstStyle/>
          <a:p>
            <a:pPr marL="0" indent="0">
              <a:buNone/>
            </a:pPr>
            <a:r>
              <a:rPr lang="en-US" sz="1450" b="1" dirty="0">
                <a:solidFill>
                  <a:srgbClr val="12233F"/>
                </a:solidFill>
                <a:latin typeface="Arial" pitchFamily="34" charset="0"/>
                <a:ea typeface="Arial" pitchFamily="34" charset="-122"/>
                <a:cs typeface="Arial" pitchFamily="34" charset="-120"/>
              </a:rPr>
              <a:t>Failure Code Framework</a:t>
            </a:r>
            <a:endParaRPr lang="en-US" sz="1450" dirty="0"/>
          </a:p>
        </p:txBody>
      </p:sp>
      <p:sp>
        <p:nvSpPr>
          <p:cNvPr id="73" name="Text 70"/>
          <p:cNvSpPr/>
          <p:nvPr/>
        </p:nvSpPr>
        <p:spPr>
          <a:xfrm>
            <a:off x="6455864" y="1393067"/>
            <a:ext cx="4896612" cy="201168"/>
          </a:xfrm>
          <a:prstGeom prst="rect">
            <a:avLst/>
          </a:prstGeom>
          <a:noFill/>
          <a:ln/>
        </p:spPr>
        <p:txBody>
          <a:bodyPr wrap="square" rtlCol="0" anchor="ctr"/>
          <a:lstStyle/>
          <a:p>
            <a:pPr marL="0" indent="0">
              <a:buNone/>
            </a:pPr>
            <a:r>
              <a:rPr lang="en-US" sz="950" dirty="0">
                <a:solidFill>
                  <a:srgbClr val="6B6B6B"/>
                </a:solidFill>
                <a:latin typeface="Arial" pitchFamily="34" charset="0"/>
                <a:ea typeface="Arial" pitchFamily="34" charset="-122"/>
                <a:cs typeface="Arial" pitchFamily="34" charset="-120"/>
              </a:rPr>
              <a:t>Maintenance Analytics Enhancement</a:t>
            </a:r>
            <a:endParaRPr lang="en-US" sz="950" dirty="0"/>
          </a:p>
        </p:txBody>
      </p:sp>
      <p:sp>
        <p:nvSpPr>
          <p:cNvPr id="74" name="Shape 71"/>
          <p:cNvSpPr/>
          <p:nvPr/>
        </p:nvSpPr>
        <p:spPr>
          <a:xfrm>
            <a:off x="6487668" y="1623907"/>
            <a:ext cx="4896612" cy="5486"/>
          </a:xfrm>
          <a:prstGeom prst="rect">
            <a:avLst/>
          </a:prstGeom>
          <a:solidFill>
            <a:srgbClr val="D9D9D9"/>
          </a:solidFill>
          <a:ln/>
        </p:spPr>
      </p:sp>
      <p:sp>
        <p:nvSpPr>
          <p:cNvPr id="75" name="Text 72"/>
          <p:cNvSpPr/>
          <p:nvPr/>
        </p:nvSpPr>
        <p:spPr>
          <a:xfrm>
            <a:off x="6487668" y="1715347"/>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KEY FINDING</a:t>
            </a:r>
            <a:endParaRPr lang="en-US" sz="750" dirty="0"/>
          </a:p>
        </p:txBody>
      </p:sp>
      <p:sp>
        <p:nvSpPr>
          <p:cNvPr id="76" name="Text 73"/>
          <p:cNvSpPr/>
          <p:nvPr/>
        </p:nvSpPr>
        <p:spPr>
          <a:xfrm>
            <a:off x="6487668" y="1803061"/>
            <a:ext cx="4896612" cy="329184"/>
          </a:xfrm>
          <a:prstGeom prst="rect">
            <a:avLst/>
          </a:prstGeom>
          <a:noFill/>
          <a:ln/>
        </p:spPr>
        <p:txBody>
          <a:bodyPr wrap="square" rtlCol="0" anchor="ctr"/>
          <a:lstStyle/>
          <a:p>
            <a:pPr marL="0" indent="0">
              <a:lnSpc>
                <a:spcPct val="120000"/>
              </a:lnSpc>
              <a:buNone/>
            </a:pPr>
            <a:r>
              <a:rPr lang="en-US" sz="950" dirty="0">
                <a:solidFill>
                  <a:srgbClr val="3A3A3A"/>
                </a:solidFill>
                <a:latin typeface="Arial" pitchFamily="34" charset="0"/>
                <a:ea typeface="Arial" pitchFamily="34" charset="-122"/>
                <a:cs typeface="Arial" pitchFamily="34" charset="-120"/>
              </a:rPr>
              <a:t>Breakdown hours are recorded without standardized failure-mode classification.</a:t>
            </a:r>
            <a:endParaRPr lang="en-US" sz="950" dirty="0"/>
          </a:p>
        </p:txBody>
      </p:sp>
      <p:sp>
        <p:nvSpPr>
          <p:cNvPr id="77" name="Shape 74"/>
          <p:cNvSpPr/>
          <p:nvPr/>
        </p:nvSpPr>
        <p:spPr>
          <a:xfrm>
            <a:off x="6487668" y="2173866"/>
            <a:ext cx="4896612" cy="5486"/>
          </a:xfrm>
          <a:prstGeom prst="rect">
            <a:avLst/>
          </a:prstGeom>
          <a:solidFill>
            <a:srgbClr val="D9D9D9"/>
          </a:solidFill>
          <a:ln/>
        </p:spPr>
      </p:sp>
      <p:sp>
        <p:nvSpPr>
          <p:cNvPr id="78" name="Text 75"/>
          <p:cNvSpPr/>
          <p:nvPr/>
        </p:nvSpPr>
        <p:spPr>
          <a:xfrm>
            <a:off x="6487668" y="2260703"/>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KEY ACTIONS</a:t>
            </a:r>
            <a:endParaRPr lang="en-US" sz="750" dirty="0"/>
          </a:p>
        </p:txBody>
      </p:sp>
      <p:sp>
        <p:nvSpPr>
          <p:cNvPr id="79" name="Text 76"/>
          <p:cNvSpPr/>
          <p:nvPr/>
        </p:nvSpPr>
        <p:spPr>
          <a:xfrm>
            <a:off x="6487668" y="2455368"/>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Standardized Failure Codes</a:t>
            </a:r>
            <a:endParaRPr lang="en-US" sz="850" dirty="0"/>
          </a:p>
        </p:txBody>
      </p:sp>
      <p:sp>
        <p:nvSpPr>
          <p:cNvPr id="80" name="Shape 77"/>
          <p:cNvSpPr/>
          <p:nvPr/>
        </p:nvSpPr>
        <p:spPr>
          <a:xfrm>
            <a:off x="7957056" y="2460074"/>
            <a:ext cx="7315" cy="329184"/>
          </a:xfrm>
          <a:prstGeom prst="rect">
            <a:avLst/>
          </a:prstGeom>
          <a:solidFill>
            <a:srgbClr val="D9D9D9"/>
          </a:solidFill>
          <a:ln/>
        </p:spPr>
      </p:sp>
      <p:sp>
        <p:nvSpPr>
          <p:cNvPr id="81" name="Text 78"/>
          <p:cNvSpPr/>
          <p:nvPr/>
        </p:nvSpPr>
        <p:spPr>
          <a:xfrm>
            <a:off x="8119872" y="2455368"/>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Monthly Analytics Dashboard</a:t>
            </a:r>
            <a:endParaRPr lang="en-US" sz="850" dirty="0"/>
          </a:p>
        </p:txBody>
      </p:sp>
      <p:sp>
        <p:nvSpPr>
          <p:cNvPr id="82" name="Shape 79"/>
          <p:cNvSpPr/>
          <p:nvPr/>
        </p:nvSpPr>
        <p:spPr>
          <a:xfrm>
            <a:off x="9589260" y="2460074"/>
            <a:ext cx="7315" cy="329184"/>
          </a:xfrm>
          <a:prstGeom prst="rect">
            <a:avLst/>
          </a:prstGeom>
          <a:solidFill>
            <a:srgbClr val="D9D9D9"/>
          </a:solidFill>
          <a:ln/>
        </p:spPr>
      </p:sp>
      <p:sp>
        <p:nvSpPr>
          <p:cNvPr id="83" name="Text 80"/>
          <p:cNvSpPr/>
          <p:nvPr/>
        </p:nvSpPr>
        <p:spPr>
          <a:xfrm>
            <a:off x="9752076" y="2455368"/>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Root Cause Analysis</a:t>
            </a:r>
            <a:endParaRPr lang="en-US" sz="850" dirty="0"/>
          </a:p>
        </p:txBody>
      </p:sp>
      <p:sp>
        <p:nvSpPr>
          <p:cNvPr id="84" name="Shape 81"/>
          <p:cNvSpPr/>
          <p:nvPr/>
        </p:nvSpPr>
        <p:spPr>
          <a:xfrm>
            <a:off x="6487668" y="2877015"/>
            <a:ext cx="4896612" cy="5486"/>
          </a:xfrm>
          <a:prstGeom prst="rect">
            <a:avLst/>
          </a:prstGeom>
          <a:solidFill>
            <a:srgbClr val="D9D9D9"/>
          </a:solidFill>
          <a:ln/>
        </p:spPr>
      </p:sp>
      <p:sp>
        <p:nvSpPr>
          <p:cNvPr id="85" name="Text 82"/>
          <p:cNvSpPr/>
          <p:nvPr/>
        </p:nvSpPr>
        <p:spPr>
          <a:xfrm>
            <a:off x="6487668" y="2929685"/>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SUCCESS TARGET</a:t>
            </a:r>
            <a:endParaRPr lang="en-US" sz="750" dirty="0"/>
          </a:p>
        </p:txBody>
      </p:sp>
      <p:sp>
        <p:nvSpPr>
          <p:cNvPr id="86" name="Text 83"/>
          <p:cNvSpPr/>
          <p:nvPr/>
        </p:nvSpPr>
        <p:spPr>
          <a:xfrm>
            <a:off x="6479717" y="3055724"/>
            <a:ext cx="4896612" cy="329184"/>
          </a:xfrm>
          <a:prstGeom prst="rect">
            <a:avLst/>
          </a:prstGeom>
          <a:noFill/>
          <a:ln/>
        </p:spPr>
        <p:txBody>
          <a:bodyPr wrap="square" rtlCol="0" anchor="ctr"/>
          <a:lstStyle/>
          <a:p>
            <a:pPr marL="0" indent="0">
              <a:lnSpc>
                <a:spcPct val="110000"/>
              </a:lnSpc>
              <a:buNone/>
            </a:pPr>
            <a:r>
              <a:rPr lang="en-US" sz="1300" b="1" dirty="0">
                <a:solidFill>
                  <a:srgbClr val="12233F"/>
                </a:solidFill>
                <a:latin typeface="Arial" pitchFamily="34" charset="0"/>
                <a:ea typeface="Arial" pitchFamily="34" charset="-122"/>
                <a:cs typeface="Arial" pitchFamily="34" charset="-120"/>
              </a:rPr>
              <a:t>Component-Level Diagnostics &amp; PM Optimization</a:t>
            </a:r>
            <a:endParaRPr lang="en-US" sz="1300" dirty="0"/>
          </a:p>
        </p:txBody>
      </p:sp>
      <p:sp>
        <p:nvSpPr>
          <p:cNvPr id="87" name="Shape 84"/>
          <p:cNvSpPr/>
          <p:nvPr/>
        </p:nvSpPr>
        <p:spPr>
          <a:xfrm>
            <a:off x="548640" y="3628975"/>
            <a:ext cx="5408676" cy="2331720"/>
          </a:xfrm>
          <a:prstGeom prst="roundRect">
            <a:avLst>
              <a:gd name="adj" fmla="val 2353"/>
            </a:avLst>
          </a:prstGeom>
          <a:solidFill>
            <a:srgbClr val="FFFFFF"/>
          </a:solidFill>
          <a:ln w="12700">
            <a:solidFill>
              <a:srgbClr val="D9D9D9"/>
            </a:solidFill>
            <a:prstDash val="solid"/>
          </a:ln>
        </p:spPr>
        <p:txBody>
          <a:bodyPr/>
          <a:lstStyle/>
          <a:p>
            <a:endParaRPr lang="en-IN" dirty="0"/>
          </a:p>
        </p:txBody>
      </p:sp>
      <p:sp>
        <p:nvSpPr>
          <p:cNvPr id="88" name="Text 85"/>
          <p:cNvSpPr/>
          <p:nvPr/>
        </p:nvSpPr>
        <p:spPr>
          <a:xfrm>
            <a:off x="772868" y="3674695"/>
            <a:ext cx="4896612" cy="292608"/>
          </a:xfrm>
          <a:prstGeom prst="rect">
            <a:avLst/>
          </a:prstGeom>
          <a:noFill/>
          <a:ln/>
        </p:spPr>
        <p:txBody>
          <a:bodyPr wrap="square" rtlCol="0" anchor="ctr"/>
          <a:lstStyle/>
          <a:p>
            <a:pPr marL="0" indent="0">
              <a:buNone/>
            </a:pPr>
            <a:r>
              <a:rPr lang="en-US" sz="1450" b="1" dirty="0">
                <a:solidFill>
                  <a:srgbClr val="12233F"/>
                </a:solidFill>
                <a:latin typeface="Arial" pitchFamily="34" charset="0"/>
                <a:ea typeface="Arial" pitchFamily="34" charset="-122"/>
                <a:cs typeface="Arial" pitchFamily="34" charset="-120"/>
              </a:rPr>
              <a:t>HMR-Based Preventive Maintenance</a:t>
            </a:r>
            <a:endParaRPr lang="en-US" sz="1450" dirty="0"/>
          </a:p>
        </p:txBody>
      </p:sp>
      <p:sp>
        <p:nvSpPr>
          <p:cNvPr id="89" name="Text 86"/>
          <p:cNvSpPr/>
          <p:nvPr/>
        </p:nvSpPr>
        <p:spPr>
          <a:xfrm>
            <a:off x="772868" y="3956966"/>
            <a:ext cx="4896612" cy="201168"/>
          </a:xfrm>
          <a:prstGeom prst="rect">
            <a:avLst/>
          </a:prstGeom>
          <a:noFill/>
          <a:ln/>
        </p:spPr>
        <p:txBody>
          <a:bodyPr wrap="square" rtlCol="0" anchor="ctr"/>
          <a:lstStyle/>
          <a:p>
            <a:pPr marL="0" indent="0">
              <a:buNone/>
            </a:pPr>
            <a:r>
              <a:rPr lang="en-US" sz="950" dirty="0">
                <a:solidFill>
                  <a:srgbClr val="6B6B6B"/>
                </a:solidFill>
                <a:latin typeface="Arial" pitchFamily="34" charset="0"/>
                <a:ea typeface="Arial" pitchFamily="34" charset="-122"/>
                <a:cs typeface="Arial" pitchFamily="34" charset="-120"/>
              </a:rPr>
              <a:t>Ring-Fenced Preventive Maintenance Crew</a:t>
            </a:r>
            <a:endParaRPr lang="en-US" sz="950" dirty="0"/>
          </a:p>
        </p:txBody>
      </p:sp>
      <p:sp>
        <p:nvSpPr>
          <p:cNvPr id="90" name="Shape 87"/>
          <p:cNvSpPr/>
          <p:nvPr/>
        </p:nvSpPr>
        <p:spPr>
          <a:xfrm>
            <a:off x="804672" y="4202131"/>
            <a:ext cx="4896612" cy="5486"/>
          </a:xfrm>
          <a:prstGeom prst="rect">
            <a:avLst/>
          </a:prstGeom>
          <a:solidFill>
            <a:srgbClr val="D9D9D9"/>
          </a:solidFill>
          <a:ln/>
        </p:spPr>
      </p:sp>
      <p:sp>
        <p:nvSpPr>
          <p:cNvPr id="91" name="Text 88"/>
          <p:cNvSpPr/>
          <p:nvPr/>
        </p:nvSpPr>
        <p:spPr>
          <a:xfrm>
            <a:off x="804672" y="4303099"/>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KEY FINDING</a:t>
            </a:r>
            <a:endParaRPr lang="en-US" sz="750" dirty="0"/>
          </a:p>
        </p:txBody>
      </p:sp>
      <p:sp>
        <p:nvSpPr>
          <p:cNvPr id="92" name="Text 89"/>
          <p:cNvSpPr/>
          <p:nvPr/>
        </p:nvSpPr>
        <p:spPr>
          <a:xfrm>
            <a:off x="804672" y="4390813"/>
            <a:ext cx="4896612" cy="329184"/>
          </a:xfrm>
          <a:prstGeom prst="rect">
            <a:avLst/>
          </a:prstGeom>
          <a:noFill/>
          <a:ln/>
        </p:spPr>
        <p:txBody>
          <a:bodyPr wrap="square" rtlCol="0" anchor="ctr"/>
          <a:lstStyle/>
          <a:p>
            <a:pPr marL="0" indent="0">
              <a:lnSpc>
                <a:spcPct val="120000"/>
              </a:lnSpc>
              <a:buNone/>
            </a:pPr>
            <a:r>
              <a:rPr lang="en-US" sz="950" dirty="0">
                <a:solidFill>
                  <a:srgbClr val="3A3A3A"/>
                </a:solidFill>
                <a:latin typeface="Arial" pitchFamily="34" charset="0"/>
                <a:ea typeface="Arial" pitchFamily="34" charset="-122"/>
                <a:cs typeface="Arial" pitchFamily="34" charset="-120"/>
              </a:rPr>
              <a:t>Preventive maintenance is not consistently scheduled using Hour Meter Reading.</a:t>
            </a:r>
            <a:endParaRPr lang="en-US" sz="950" dirty="0"/>
          </a:p>
        </p:txBody>
      </p:sp>
      <p:sp>
        <p:nvSpPr>
          <p:cNvPr id="93" name="Shape 90"/>
          <p:cNvSpPr/>
          <p:nvPr/>
        </p:nvSpPr>
        <p:spPr>
          <a:xfrm>
            <a:off x="804672" y="4761618"/>
            <a:ext cx="4896612" cy="5486"/>
          </a:xfrm>
          <a:prstGeom prst="rect">
            <a:avLst/>
          </a:prstGeom>
          <a:solidFill>
            <a:srgbClr val="D9D9D9"/>
          </a:solidFill>
          <a:ln/>
        </p:spPr>
      </p:sp>
      <p:sp>
        <p:nvSpPr>
          <p:cNvPr id="94" name="Text 91"/>
          <p:cNvSpPr/>
          <p:nvPr/>
        </p:nvSpPr>
        <p:spPr>
          <a:xfrm>
            <a:off x="804672" y="4848455"/>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KEY ACTIONS</a:t>
            </a:r>
            <a:endParaRPr lang="en-US" sz="750" dirty="0"/>
          </a:p>
        </p:txBody>
      </p:sp>
      <p:sp>
        <p:nvSpPr>
          <p:cNvPr id="95" name="Text 92"/>
          <p:cNvSpPr/>
          <p:nvPr/>
        </p:nvSpPr>
        <p:spPr>
          <a:xfrm>
            <a:off x="804672" y="5019263"/>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Auto HMR Alerts</a:t>
            </a:r>
            <a:endParaRPr lang="en-US" sz="850" dirty="0"/>
          </a:p>
        </p:txBody>
      </p:sp>
      <p:sp>
        <p:nvSpPr>
          <p:cNvPr id="96" name="Shape 93"/>
          <p:cNvSpPr/>
          <p:nvPr/>
        </p:nvSpPr>
        <p:spPr>
          <a:xfrm>
            <a:off x="2366110" y="5018374"/>
            <a:ext cx="7315" cy="329184"/>
          </a:xfrm>
          <a:prstGeom prst="rect">
            <a:avLst/>
          </a:prstGeom>
          <a:solidFill>
            <a:srgbClr val="D9D9D9"/>
          </a:solidFill>
          <a:ln/>
        </p:spPr>
      </p:sp>
      <p:sp>
        <p:nvSpPr>
          <p:cNvPr id="97" name="Text 94"/>
          <p:cNvSpPr/>
          <p:nvPr/>
        </p:nvSpPr>
        <p:spPr>
          <a:xfrm>
            <a:off x="2436876" y="5019263"/>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Dedicated PM Crew</a:t>
            </a:r>
            <a:endParaRPr lang="en-US" sz="850" dirty="0"/>
          </a:p>
        </p:txBody>
      </p:sp>
      <p:sp>
        <p:nvSpPr>
          <p:cNvPr id="98" name="Shape 95"/>
          <p:cNvSpPr/>
          <p:nvPr/>
        </p:nvSpPr>
        <p:spPr>
          <a:xfrm>
            <a:off x="3998314" y="5018374"/>
            <a:ext cx="7315" cy="329184"/>
          </a:xfrm>
          <a:prstGeom prst="rect">
            <a:avLst/>
          </a:prstGeom>
          <a:solidFill>
            <a:srgbClr val="D9D9D9"/>
          </a:solidFill>
          <a:ln/>
        </p:spPr>
      </p:sp>
      <p:sp>
        <p:nvSpPr>
          <p:cNvPr id="99" name="Text 96"/>
          <p:cNvSpPr/>
          <p:nvPr/>
        </p:nvSpPr>
        <p:spPr>
          <a:xfrm>
            <a:off x="4069080" y="5019263"/>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Compliance Monitoring</a:t>
            </a:r>
            <a:endParaRPr lang="en-US" sz="850" dirty="0"/>
          </a:p>
        </p:txBody>
      </p:sp>
      <p:sp>
        <p:nvSpPr>
          <p:cNvPr id="100" name="Shape 97"/>
          <p:cNvSpPr/>
          <p:nvPr/>
        </p:nvSpPr>
        <p:spPr>
          <a:xfrm>
            <a:off x="788770" y="5437303"/>
            <a:ext cx="4896612" cy="5486"/>
          </a:xfrm>
          <a:prstGeom prst="rect">
            <a:avLst/>
          </a:prstGeom>
          <a:solidFill>
            <a:srgbClr val="D9D9D9"/>
          </a:solidFill>
          <a:ln/>
        </p:spPr>
      </p:sp>
      <p:sp>
        <p:nvSpPr>
          <p:cNvPr id="101" name="Text 98"/>
          <p:cNvSpPr/>
          <p:nvPr/>
        </p:nvSpPr>
        <p:spPr>
          <a:xfrm>
            <a:off x="804672" y="5488830"/>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SUCCESS TARGET</a:t>
            </a:r>
            <a:endParaRPr lang="en-US" sz="750" dirty="0"/>
          </a:p>
        </p:txBody>
      </p:sp>
      <p:sp>
        <p:nvSpPr>
          <p:cNvPr id="102" name="Text 99"/>
          <p:cNvSpPr/>
          <p:nvPr/>
        </p:nvSpPr>
        <p:spPr>
          <a:xfrm>
            <a:off x="804672" y="5598119"/>
            <a:ext cx="4896612" cy="329184"/>
          </a:xfrm>
          <a:prstGeom prst="rect">
            <a:avLst/>
          </a:prstGeom>
          <a:noFill/>
          <a:ln/>
        </p:spPr>
        <p:txBody>
          <a:bodyPr wrap="square" rtlCol="0" anchor="ctr"/>
          <a:lstStyle/>
          <a:p>
            <a:pPr marL="0" indent="0">
              <a:lnSpc>
                <a:spcPct val="110000"/>
              </a:lnSpc>
              <a:buNone/>
            </a:pPr>
            <a:r>
              <a:rPr lang="en-US" sz="1300" b="1" dirty="0">
                <a:solidFill>
                  <a:srgbClr val="12233F"/>
                </a:solidFill>
                <a:latin typeface="Arial" pitchFamily="34" charset="0"/>
                <a:ea typeface="Arial" pitchFamily="34" charset="-122"/>
                <a:cs typeface="Arial" pitchFamily="34" charset="-120"/>
              </a:rPr>
              <a:t>Reduced Reactive Maintenance &amp; Higher PM Compliance</a:t>
            </a:r>
            <a:endParaRPr lang="en-US" sz="1300" dirty="0"/>
          </a:p>
        </p:txBody>
      </p:sp>
      <p:sp>
        <p:nvSpPr>
          <p:cNvPr id="103" name="Shape 100"/>
          <p:cNvSpPr/>
          <p:nvPr/>
        </p:nvSpPr>
        <p:spPr>
          <a:xfrm>
            <a:off x="6231636" y="3621024"/>
            <a:ext cx="5408676" cy="2331720"/>
          </a:xfrm>
          <a:prstGeom prst="roundRect">
            <a:avLst>
              <a:gd name="adj" fmla="val 2353"/>
            </a:avLst>
          </a:prstGeom>
          <a:solidFill>
            <a:srgbClr val="FFFFFF"/>
          </a:solidFill>
          <a:ln w="12700">
            <a:solidFill>
              <a:srgbClr val="D9D9D9"/>
            </a:solidFill>
            <a:prstDash val="solid"/>
          </a:ln>
        </p:spPr>
      </p:sp>
      <p:sp>
        <p:nvSpPr>
          <p:cNvPr id="104" name="Text 101"/>
          <p:cNvSpPr/>
          <p:nvPr/>
        </p:nvSpPr>
        <p:spPr>
          <a:xfrm>
            <a:off x="6455864" y="3674695"/>
            <a:ext cx="4896612" cy="292608"/>
          </a:xfrm>
          <a:prstGeom prst="rect">
            <a:avLst/>
          </a:prstGeom>
          <a:noFill/>
          <a:ln/>
        </p:spPr>
        <p:txBody>
          <a:bodyPr wrap="square" rtlCol="0" anchor="ctr"/>
          <a:lstStyle/>
          <a:p>
            <a:pPr marL="0" indent="0">
              <a:buNone/>
            </a:pPr>
            <a:r>
              <a:rPr lang="en-US" sz="1450" b="1" dirty="0">
                <a:solidFill>
                  <a:srgbClr val="12233F"/>
                </a:solidFill>
                <a:latin typeface="Arial" pitchFamily="34" charset="0"/>
                <a:ea typeface="Arial" pitchFamily="34" charset="-122"/>
                <a:cs typeface="Arial" pitchFamily="34" charset="-120"/>
              </a:rPr>
              <a:t>V-Series Fleet Renewal</a:t>
            </a:r>
            <a:endParaRPr lang="en-US" sz="1450" dirty="0"/>
          </a:p>
        </p:txBody>
      </p:sp>
      <p:sp>
        <p:nvSpPr>
          <p:cNvPr id="105" name="Text 102"/>
          <p:cNvSpPr/>
          <p:nvPr/>
        </p:nvSpPr>
        <p:spPr>
          <a:xfrm>
            <a:off x="6455864" y="3956966"/>
            <a:ext cx="4896612" cy="201168"/>
          </a:xfrm>
          <a:prstGeom prst="rect">
            <a:avLst/>
          </a:prstGeom>
          <a:noFill/>
          <a:ln/>
        </p:spPr>
        <p:txBody>
          <a:bodyPr wrap="square" rtlCol="0" anchor="ctr"/>
          <a:lstStyle/>
          <a:p>
            <a:pPr marL="0" indent="0">
              <a:buNone/>
            </a:pPr>
            <a:r>
              <a:rPr lang="en-US" sz="950" dirty="0">
                <a:solidFill>
                  <a:srgbClr val="6B6B6B"/>
                </a:solidFill>
                <a:latin typeface="Arial" pitchFamily="34" charset="0"/>
                <a:ea typeface="Arial" pitchFamily="34" charset="-122"/>
                <a:cs typeface="Arial" pitchFamily="34" charset="-120"/>
              </a:rPr>
              <a:t>Fleet Economic Decision</a:t>
            </a:r>
            <a:endParaRPr lang="en-US" sz="950" dirty="0"/>
          </a:p>
        </p:txBody>
      </p:sp>
      <p:sp>
        <p:nvSpPr>
          <p:cNvPr id="106" name="Shape 103"/>
          <p:cNvSpPr/>
          <p:nvPr/>
        </p:nvSpPr>
        <p:spPr>
          <a:xfrm>
            <a:off x="6487668" y="4202131"/>
            <a:ext cx="4896612" cy="5486"/>
          </a:xfrm>
          <a:prstGeom prst="rect">
            <a:avLst/>
          </a:prstGeom>
          <a:solidFill>
            <a:srgbClr val="D9D9D9"/>
          </a:solidFill>
          <a:ln/>
        </p:spPr>
      </p:sp>
      <p:sp>
        <p:nvSpPr>
          <p:cNvPr id="107" name="Text 104"/>
          <p:cNvSpPr/>
          <p:nvPr/>
        </p:nvSpPr>
        <p:spPr>
          <a:xfrm>
            <a:off x="6487668" y="4303099"/>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KEY FINDING</a:t>
            </a:r>
            <a:endParaRPr lang="en-US" sz="750" dirty="0"/>
          </a:p>
        </p:txBody>
      </p:sp>
      <p:sp>
        <p:nvSpPr>
          <p:cNvPr id="108" name="Text 105"/>
          <p:cNvSpPr/>
          <p:nvPr/>
        </p:nvSpPr>
        <p:spPr>
          <a:xfrm>
            <a:off x="6487668" y="4390813"/>
            <a:ext cx="4896612" cy="329184"/>
          </a:xfrm>
          <a:prstGeom prst="rect">
            <a:avLst/>
          </a:prstGeom>
          <a:noFill/>
          <a:ln/>
        </p:spPr>
        <p:txBody>
          <a:bodyPr wrap="square" rtlCol="0" anchor="ctr"/>
          <a:lstStyle/>
          <a:p>
            <a:pPr marL="0" indent="0">
              <a:lnSpc>
                <a:spcPct val="120000"/>
              </a:lnSpc>
              <a:buNone/>
            </a:pPr>
            <a:r>
              <a:rPr lang="en-US" sz="950" dirty="0">
                <a:solidFill>
                  <a:srgbClr val="3A3A3A"/>
                </a:solidFill>
                <a:latin typeface="Arial" pitchFamily="34" charset="0"/>
                <a:ea typeface="Arial" pitchFamily="34" charset="-122"/>
                <a:cs typeface="Arial" pitchFamily="34" charset="-120"/>
              </a:rPr>
              <a:t>Ageing V-series tippers exhibit persistent failures and prolonged downtime.</a:t>
            </a:r>
            <a:endParaRPr lang="en-US" sz="950" dirty="0"/>
          </a:p>
        </p:txBody>
      </p:sp>
      <p:sp>
        <p:nvSpPr>
          <p:cNvPr id="109" name="Shape 106"/>
          <p:cNvSpPr/>
          <p:nvPr/>
        </p:nvSpPr>
        <p:spPr>
          <a:xfrm>
            <a:off x="6487668" y="4761618"/>
            <a:ext cx="4896612" cy="5486"/>
          </a:xfrm>
          <a:prstGeom prst="rect">
            <a:avLst/>
          </a:prstGeom>
          <a:solidFill>
            <a:srgbClr val="D9D9D9"/>
          </a:solidFill>
          <a:ln/>
        </p:spPr>
      </p:sp>
      <p:sp>
        <p:nvSpPr>
          <p:cNvPr id="110" name="Text 107"/>
          <p:cNvSpPr/>
          <p:nvPr/>
        </p:nvSpPr>
        <p:spPr>
          <a:xfrm>
            <a:off x="6487668" y="4848455"/>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KEY ACTIONS</a:t>
            </a:r>
            <a:endParaRPr lang="en-US" sz="750" dirty="0"/>
          </a:p>
        </p:txBody>
      </p:sp>
      <p:sp>
        <p:nvSpPr>
          <p:cNvPr id="111" name="Text 108"/>
          <p:cNvSpPr/>
          <p:nvPr/>
        </p:nvSpPr>
        <p:spPr>
          <a:xfrm>
            <a:off x="6487668" y="5019263"/>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Life Cycle Cost Analysis</a:t>
            </a:r>
            <a:endParaRPr lang="en-US" sz="850" dirty="0"/>
          </a:p>
        </p:txBody>
      </p:sp>
      <p:sp>
        <p:nvSpPr>
          <p:cNvPr id="112" name="Shape 109"/>
          <p:cNvSpPr/>
          <p:nvPr/>
        </p:nvSpPr>
        <p:spPr>
          <a:xfrm>
            <a:off x="8049106" y="5018374"/>
            <a:ext cx="7315" cy="329184"/>
          </a:xfrm>
          <a:prstGeom prst="rect">
            <a:avLst/>
          </a:prstGeom>
          <a:solidFill>
            <a:srgbClr val="D9D9D9"/>
          </a:solidFill>
          <a:ln/>
        </p:spPr>
      </p:sp>
      <p:sp>
        <p:nvSpPr>
          <p:cNvPr id="113" name="Text 110"/>
          <p:cNvSpPr/>
          <p:nvPr/>
        </p:nvSpPr>
        <p:spPr>
          <a:xfrm>
            <a:off x="8119872" y="5019263"/>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Fleet Prioritization</a:t>
            </a:r>
            <a:endParaRPr lang="en-US" sz="850" dirty="0"/>
          </a:p>
        </p:txBody>
      </p:sp>
      <p:sp>
        <p:nvSpPr>
          <p:cNvPr id="114" name="Shape 111"/>
          <p:cNvSpPr/>
          <p:nvPr/>
        </p:nvSpPr>
        <p:spPr>
          <a:xfrm>
            <a:off x="9681310" y="5018374"/>
            <a:ext cx="7315" cy="329184"/>
          </a:xfrm>
          <a:prstGeom prst="rect">
            <a:avLst/>
          </a:prstGeom>
          <a:solidFill>
            <a:srgbClr val="D9D9D9"/>
          </a:solidFill>
          <a:ln/>
        </p:spPr>
      </p:sp>
      <p:sp>
        <p:nvSpPr>
          <p:cNvPr id="115" name="Text 112"/>
          <p:cNvSpPr/>
          <p:nvPr/>
        </p:nvSpPr>
        <p:spPr>
          <a:xfrm>
            <a:off x="9752076" y="5019263"/>
            <a:ext cx="1559052" cy="365760"/>
          </a:xfrm>
          <a:prstGeom prst="rect">
            <a:avLst/>
          </a:prstGeom>
          <a:noFill/>
          <a:ln/>
        </p:spPr>
        <p:txBody>
          <a:bodyPr wrap="square" rtlCol="0" anchor="ctr"/>
          <a:lstStyle/>
          <a:p>
            <a:pPr marL="0" indent="0" algn="l">
              <a:lnSpc>
                <a:spcPct val="115000"/>
              </a:lnSpc>
              <a:buNone/>
            </a:pPr>
            <a:r>
              <a:rPr lang="en-US" sz="850" b="1" dirty="0">
                <a:solidFill>
                  <a:srgbClr val="12233F"/>
                </a:solidFill>
                <a:latin typeface="Arial" pitchFamily="34" charset="0"/>
                <a:ea typeface="Arial" pitchFamily="34" charset="-122"/>
                <a:cs typeface="Arial" pitchFamily="34" charset="-120"/>
              </a:rPr>
              <a:t>Phased Replacement</a:t>
            </a:r>
            <a:endParaRPr lang="en-US" sz="850" dirty="0"/>
          </a:p>
        </p:txBody>
      </p:sp>
      <p:sp>
        <p:nvSpPr>
          <p:cNvPr id="116" name="Shape 113"/>
          <p:cNvSpPr/>
          <p:nvPr/>
        </p:nvSpPr>
        <p:spPr>
          <a:xfrm>
            <a:off x="6471766" y="5437303"/>
            <a:ext cx="4896612" cy="5486"/>
          </a:xfrm>
          <a:prstGeom prst="rect">
            <a:avLst/>
          </a:prstGeom>
          <a:solidFill>
            <a:srgbClr val="D9D9D9"/>
          </a:solidFill>
          <a:ln/>
        </p:spPr>
      </p:sp>
      <p:sp>
        <p:nvSpPr>
          <p:cNvPr id="117" name="Text 114"/>
          <p:cNvSpPr/>
          <p:nvPr/>
        </p:nvSpPr>
        <p:spPr>
          <a:xfrm>
            <a:off x="6487668" y="5488830"/>
            <a:ext cx="4896612"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SUCCESS TARGET</a:t>
            </a:r>
            <a:endParaRPr lang="en-US" sz="750" dirty="0"/>
          </a:p>
        </p:txBody>
      </p:sp>
      <p:sp>
        <p:nvSpPr>
          <p:cNvPr id="118" name="Text 115"/>
          <p:cNvSpPr/>
          <p:nvPr/>
        </p:nvSpPr>
        <p:spPr>
          <a:xfrm>
            <a:off x="6487668" y="5598119"/>
            <a:ext cx="4896612" cy="329184"/>
          </a:xfrm>
          <a:prstGeom prst="rect">
            <a:avLst/>
          </a:prstGeom>
          <a:noFill/>
          <a:ln/>
        </p:spPr>
        <p:txBody>
          <a:bodyPr wrap="square" rtlCol="0" anchor="ctr"/>
          <a:lstStyle/>
          <a:p>
            <a:pPr marL="0" indent="0">
              <a:lnSpc>
                <a:spcPct val="110000"/>
              </a:lnSpc>
              <a:buNone/>
            </a:pPr>
            <a:r>
              <a:rPr lang="en-US" sz="1300" b="1" dirty="0">
                <a:solidFill>
                  <a:srgbClr val="12233F"/>
                </a:solidFill>
                <a:latin typeface="Arial" pitchFamily="34" charset="0"/>
                <a:ea typeface="Arial" pitchFamily="34" charset="-122"/>
                <a:cs typeface="Arial" pitchFamily="34" charset="-120"/>
              </a:rPr>
              <a:t>Improved Fleet Reliability &amp; Lower Lifecycle Cost</a:t>
            </a:r>
            <a:endParaRPr lang="en-US" sz="1300" dirty="0"/>
          </a:p>
        </p:txBody>
      </p:sp>
      <p:grpSp>
        <p:nvGrpSpPr>
          <p:cNvPr id="119" name="Group 5">
            <a:extLst>
              <a:ext uri="{FF2B5EF4-FFF2-40B4-BE49-F238E27FC236}">
                <a16:creationId xmlns:a16="http://schemas.microsoft.com/office/drawing/2014/main" id="{15FB8B20-4D83-E6E1-7BA1-8C851B734FB7}"/>
              </a:ext>
            </a:extLst>
          </p:cNvPr>
          <p:cNvGrpSpPr/>
          <p:nvPr/>
        </p:nvGrpSpPr>
        <p:grpSpPr>
          <a:xfrm>
            <a:off x="655983" y="785470"/>
            <a:ext cx="6696000" cy="45719"/>
            <a:chOff x="0" y="0"/>
            <a:chExt cx="14068412" cy="121920"/>
          </a:xfrm>
        </p:grpSpPr>
        <p:sp>
          <p:nvSpPr>
            <p:cNvPr id="120" name="Freeform 6" descr="D:\Corp Comm Department Work 2015\Brand Adani 2012\adani_gradient_master.jpg">
              <a:extLst>
                <a:ext uri="{FF2B5EF4-FFF2-40B4-BE49-F238E27FC236}">
                  <a16:creationId xmlns:a16="http://schemas.microsoft.com/office/drawing/2014/main" id="{EE6DC8C6-3694-CDDB-C011-5C315BBA9050}"/>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3"/>
              <a:stretch>
                <a:fillRect b="-5072"/>
              </a:stretch>
            </a:blipFill>
          </p:spPr>
          <p:txBody>
            <a:bodyPr/>
            <a:lstStyle/>
            <a:p>
              <a:endParaRPr lang="en-IN"/>
            </a:p>
          </p:txBody>
        </p:sp>
      </p:grpSp>
      <p:grpSp>
        <p:nvGrpSpPr>
          <p:cNvPr id="121" name="Group 3">
            <a:extLst>
              <a:ext uri="{FF2B5EF4-FFF2-40B4-BE49-F238E27FC236}">
                <a16:creationId xmlns:a16="http://schemas.microsoft.com/office/drawing/2014/main" id="{CB705A00-093A-36B0-E370-12D118FDCEA3}"/>
              </a:ext>
            </a:extLst>
          </p:cNvPr>
          <p:cNvGrpSpPr/>
          <p:nvPr/>
        </p:nvGrpSpPr>
        <p:grpSpPr>
          <a:xfrm>
            <a:off x="10056527" y="6189371"/>
            <a:ext cx="2136000" cy="669944"/>
            <a:chOff x="0" y="0"/>
            <a:chExt cx="4272001" cy="1339888"/>
          </a:xfrm>
        </p:grpSpPr>
        <p:sp>
          <p:nvSpPr>
            <p:cNvPr id="122" name="Freeform 4">
              <a:extLst>
                <a:ext uri="{FF2B5EF4-FFF2-40B4-BE49-F238E27FC236}">
                  <a16:creationId xmlns:a16="http://schemas.microsoft.com/office/drawing/2014/main" id="{6B9CAB25-70D1-DEBF-8649-3B1E24AF93AF}"/>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4"/>
              <a:stretch>
                <a:fillRect l="-470838" t="-924095" b="-2"/>
              </a:stretch>
            </a:blipFill>
          </p:spPr>
        </p:sp>
      </p:grpSp>
    </p:spTree>
    <p:extLst>
      <p:ext uri="{BB962C8B-B14F-4D97-AF65-F5344CB8AC3E}">
        <p14:creationId xmlns:p14="http://schemas.microsoft.com/office/powerpoint/2010/main" val="3087821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5763" y="86747"/>
            <a:ext cx="9601200" cy="438912"/>
          </a:xfrm>
          <a:prstGeom prst="rect">
            <a:avLst/>
          </a:prstGeom>
          <a:noFill/>
          <a:ln/>
        </p:spPr>
        <p:txBody>
          <a:bodyPr wrap="square" rtlCol="0" anchor="ctr"/>
          <a:lstStyle/>
          <a:p>
            <a:pPr marL="0" indent="0">
              <a:buNone/>
            </a:pPr>
            <a:r>
              <a:rPr lang="en-US" sz="2300" dirty="0">
                <a:solidFill>
                  <a:srgbClr val="0070C0"/>
                </a:solidFill>
                <a:latin typeface="Arial" pitchFamily="34" charset="0"/>
                <a:ea typeface="Arial" pitchFamily="34" charset="-122"/>
                <a:cs typeface="Arial" pitchFamily="34" charset="-120"/>
              </a:rPr>
              <a:t>Engineering Solution Frameworks</a:t>
            </a:r>
            <a:endParaRPr lang="en-US" sz="2300" dirty="0"/>
          </a:p>
        </p:txBody>
      </p:sp>
      <p:sp>
        <p:nvSpPr>
          <p:cNvPr id="54" name="Text 51"/>
          <p:cNvSpPr/>
          <p:nvPr/>
        </p:nvSpPr>
        <p:spPr>
          <a:xfrm>
            <a:off x="361950" y="613048"/>
            <a:ext cx="11091672" cy="219456"/>
          </a:xfrm>
          <a:prstGeom prst="rect">
            <a:avLst/>
          </a:prstGeom>
          <a:noFill/>
          <a:ln/>
        </p:spPr>
        <p:txBody>
          <a:bodyPr wrap="square" rtlCol="0" anchor="ctr"/>
          <a:lstStyle/>
          <a:p>
            <a:pPr marL="0" indent="0">
              <a:buNone/>
            </a:pPr>
            <a:endParaRPr lang="en-US" sz="1050" dirty="0"/>
          </a:p>
        </p:txBody>
      </p:sp>
      <p:sp>
        <p:nvSpPr>
          <p:cNvPr id="55" name="Text 52"/>
          <p:cNvSpPr/>
          <p:nvPr/>
        </p:nvSpPr>
        <p:spPr>
          <a:xfrm>
            <a:off x="524789" y="630920"/>
            <a:ext cx="8229600" cy="182880"/>
          </a:xfrm>
          <a:prstGeom prst="rect">
            <a:avLst/>
          </a:prstGeom>
          <a:noFill/>
          <a:ln/>
        </p:spPr>
        <p:txBody>
          <a:bodyPr wrap="square" rtlCol="0" anchor="ctr"/>
          <a:lstStyle/>
          <a:p>
            <a:pPr marL="0" indent="0">
              <a:buNone/>
            </a:pPr>
            <a:r>
              <a:rPr lang="en-US" sz="1000" b="1" kern="0" spc="100" dirty="0">
                <a:solidFill>
                  <a:schemeClr val="tx1">
                    <a:lumMod val="75000"/>
                    <a:lumOff val="25000"/>
                  </a:schemeClr>
                </a:solidFill>
                <a:latin typeface="Arial" pitchFamily="34" charset="0"/>
                <a:ea typeface="Arial" pitchFamily="34" charset="-122"/>
                <a:cs typeface="Arial" pitchFamily="34" charset="-120"/>
                <a:hlinkClick r:id="rId3" action="ppaction://hlinkfile">
                  <a:extLst>
                    <a:ext uri="{A12FA001-AC4F-418D-AE19-62706E023703}">
                      <ahyp:hlinkClr xmlns:ahyp="http://schemas.microsoft.com/office/drawing/2018/hyperlinkcolor" val="tx"/>
                    </a:ext>
                  </a:extLst>
                </a:hlinkClick>
              </a:rPr>
              <a:t>DYNAMIC TRUCK FACTOR IMPLEMENTATION ROADMAP</a:t>
            </a:r>
            <a:endParaRPr lang="en-US" sz="1000" b="1" dirty="0">
              <a:solidFill>
                <a:schemeClr val="tx1">
                  <a:lumMod val="75000"/>
                  <a:lumOff val="25000"/>
                </a:schemeClr>
              </a:solidFill>
            </a:endParaRPr>
          </a:p>
        </p:txBody>
      </p:sp>
      <p:sp>
        <p:nvSpPr>
          <p:cNvPr id="56" name="Text 53"/>
          <p:cNvSpPr/>
          <p:nvPr/>
        </p:nvSpPr>
        <p:spPr>
          <a:xfrm>
            <a:off x="521957" y="813800"/>
            <a:ext cx="11091672" cy="182880"/>
          </a:xfrm>
          <a:prstGeom prst="rect">
            <a:avLst/>
          </a:prstGeom>
          <a:noFill/>
          <a:ln/>
        </p:spPr>
        <p:txBody>
          <a:bodyPr wrap="square" rtlCol="0" anchor="ctr"/>
          <a:lstStyle/>
          <a:p>
            <a:pPr marL="0" indent="0">
              <a:buNone/>
            </a:pPr>
            <a:r>
              <a:rPr lang="en-US" sz="900" i="1" dirty="0">
                <a:solidFill>
                  <a:srgbClr val="6B6B6B"/>
                </a:solidFill>
                <a:latin typeface="Arial" pitchFamily="34" charset="0"/>
                <a:ea typeface="Arial" pitchFamily="34" charset="-122"/>
                <a:cs typeface="Arial" pitchFamily="34" charset="-120"/>
              </a:rPr>
              <a:t>Progressive implementation strategy for replacing static OEM Truck Factors with survey-calibrated Dynamic Truck Factors.</a:t>
            </a:r>
            <a:endParaRPr lang="en-US" sz="900" dirty="0"/>
          </a:p>
        </p:txBody>
      </p:sp>
      <p:sp>
        <p:nvSpPr>
          <p:cNvPr id="59" name="Text 55"/>
          <p:cNvSpPr/>
          <p:nvPr/>
        </p:nvSpPr>
        <p:spPr>
          <a:xfrm>
            <a:off x="649224" y="4157826"/>
            <a:ext cx="11091672" cy="219456"/>
          </a:xfrm>
          <a:prstGeom prst="rect">
            <a:avLst/>
          </a:prstGeom>
          <a:noFill/>
          <a:ln/>
        </p:spPr>
        <p:txBody>
          <a:bodyPr wrap="square" rtlCol="0" anchor="ctr"/>
          <a:lstStyle/>
          <a:p>
            <a:pPr marL="0" indent="0">
              <a:lnSpc>
                <a:spcPct val="115000"/>
              </a:lnSpc>
              <a:buNone/>
            </a:pPr>
            <a:r>
              <a:rPr lang="en-US" sz="950" b="1" dirty="0">
                <a:solidFill>
                  <a:srgbClr val="12233F"/>
                </a:solidFill>
                <a:latin typeface="Arial" pitchFamily="34" charset="0"/>
                <a:ea typeface="Arial" pitchFamily="34" charset="-122"/>
                <a:cs typeface="Arial" pitchFamily="34" charset="-120"/>
              </a:rPr>
              <a:t>Engineering Outcome:  </a:t>
            </a:r>
            <a:r>
              <a:rPr lang="en-US" sz="950" dirty="0">
                <a:solidFill>
                  <a:srgbClr val="3A3A3A"/>
                </a:solidFill>
                <a:latin typeface="Arial" pitchFamily="34" charset="0"/>
                <a:ea typeface="Arial" pitchFamily="34" charset="-122"/>
                <a:cs typeface="Arial" pitchFamily="34" charset="-120"/>
              </a:rPr>
              <a:t>Enables progressive reduction in survey frequency while maintaining high FMS production accuracy through Dynamic Truck Factor calibration.</a:t>
            </a:r>
            <a:endParaRPr lang="en-US" sz="950" dirty="0"/>
          </a:p>
        </p:txBody>
      </p:sp>
      <p:sp>
        <p:nvSpPr>
          <p:cNvPr id="60" name="Shape 56"/>
          <p:cNvSpPr/>
          <p:nvPr/>
        </p:nvSpPr>
        <p:spPr>
          <a:xfrm>
            <a:off x="585216" y="4435617"/>
            <a:ext cx="11091672" cy="7315"/>
          </a:xfrm>
          <a:prstGeom prst="rect">
            <a:avLst/>
          </a:prstGeom>
          <a:solidFill>
            <a:srgbClr val="D9D9D9"/>
          </a:solidFill>
          <a:ln/>
        </p:spPr>
      </p:sp>
      <p:sp>
        <p:nvSpPr>
          <p:cNvPr id="61" name="Text 57"/>
          <p:cNvSpPr/>
          <p:nvPr/>
        </p:nvSpPr>
        <p:spPr>
          <a:xfrm>
            <a:off x="548640" y="4504677"/>
            <a:ext cx="8229600" cy="182880"/>
          </a:xfrm>
          <a:prstGeom prst="rect">
            <a:avLst/>
          </a:prstGeom>
          <a:noFill/>
          <a:ln/>
        </p:spPr>
        <p:txBody>
          <a:bodyPr wrap="square" rtlCol="0" anchor="ctr"/>
          <a:lstStyle/>
          <a:p>
            <a:pPr marL="0" indent="0">
              <a:buNone/>
            </a:pPr>
            <a:r>
              <a:rPr lang="en-US" sz="1000" b="1" kern="0" spc="100" dirty="0">
                <a:solidFill>
                  <a:srgbClr val="3A3A3A"/>
                </a:solidFill>
                <a:latin typeface="Arial" pitchFamily="34" charset="0"/>
                <a:ea typeface="Arial" pitchFamily="34" charset="-122"/>
                <a:cs typeface="Arial" pitchFamily="34" charset="-120"/>
              </a:rPr>
              <a:t>CAN BUS INTEGRATION FRAMEWORK</a:t>
            </a:r>
            <a:endParaRPr lang="en-US" sz="1000" dirty="0"/>
          </a:p>
        </p:txBody>
      </p:sp>
      <p:sp>
        <p:nvSpPr>
          <p:cNvPr id="62" name="Text 58"/>
          <p:cNvSpPr/>
          <p:nvPr/>
        </p:nvSpPr>
        <p:spPr>
          <a:xfrm>
            <a:off x="548640" y="4705845"/>
            <a:ext cx="11091672" cy="164592"/>
          </a:xfrm>
          <a:prstGeom prst="rect">
            <a:avLst/>
          </a:prstGeom>
          <a:noFill/>
          <a:ln/>
        </p:spPr>
        <p:txBody>
          <a:bodyPr wrap="square" rtlCol="0" anchor="ctr"/>
          <a:lstStyle/>
          <a:p>
            <a:pPr marL="0" indent="0">
              <a:buNone/>
            </a:pPr>
            <a:r>
              <a:rPr lang="en-US" sz="900" i="1" dirty="0">
                <a:solidFill>
                  <a:srgbClr val="6B6B6B"/>
                </a:solidFill>
                <a:latin typeface="Arial" pitchFamily="34" charset="0"/>
                <a:ea typeface="Arial" pitchFamily="34" charset="-122"/>
                <a:cs typeface="Arial" pitchFamily="34" charset="-120"/>
              </a:rPr>
              <a:t>Machine health monitoring architecture for predictive maintenance and advanced fleet analytics.</a:t>
            </a:r>
            <a:endParaRPr lang="en-US" sz="900" dirty="0"/>
          </a:p>
        </p:txBody>
      </p:sp>
      <p:sp>
        <p:nvSpPr>
          <p:cNvPr id="63" name="Shape 59"/>
          <p:cNvSpPr/>
          <p:nvPr/>
        </p:nvSpPr>
        <p:spPr>
          <a:xfrm>
            <a:off x="588395" y="4969400"/>
            <a:ext cx="1772412" cy="777240"/>
          </a:xfrm>
          <a:prstGeom prst="roundRect">
            <a:avLst>
              <a:gd name="adj" fmla="val 5882"/>
            </a:avLst>
          </a:prstGeom>
          <a:solidFill>
            <a:srgbClr val="F9F9FA"/>
          </a:solidFill>
          <a:ln w="12700">
            <a:solidFill>
              <a:srgbClr val="D9D9D9"/>
            </a:solidFill>
            <a:prstDash val="solid"/>
          </a:ln>
        </p:spPr>
      </p:sp>
      <p:sp>
        <p:nvSpPr>
          <p:cNvPr id="64" name="Text 60"/>
          <p:cNvSpPr/>
          <p:nvPr/>
        </p:nvSpPr>
        <p:spPr>
          <a:xfrm>
            <a:off x="643259" y="5042552"/>
            <a:ext cx="1662684" cy="292608"/>
          </a:xfrm>
          <a:prstGeom prst="rect">
            <a:avLst/>
          </a:prstGeom>
          <a:noFill/>
          <a:ln/>
        </p:spPr>
        <p:txBody>
          <a:bodyPr wrap="square" rtlCol="0" anchor="ctr"/>
          <a:lstStyle/>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Machine</a:t>
            </a:r>
            <a:endParaRPr lang="en-US" sz="900" dirty="0"/>
          </a:p>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Sensors</a:t>
            </a:r>
            <a:endParaRPr lang="en-US" sz="900" dirty="0"/>
          </a:p>
        </p:txBody>
      </p:sp>
      <p:sp>
        <p:nvSpPr>
          <p:cNvPr id="65" name="Text 61"/>
          <p:cNvSpPr/>
          <p:nvPr/>
        </p:nvSpPr>
        <p:spPr>
          <a:xfrm>
            <a:off x="643259" y="5335160"/>
            <a:ext cx="1662684" cy="374904"/>
          </a:xfrm>
          <a:prstGeom prst="rect">
            <a:avLst/>
          </a:prstGeom>
          <a:noFill/>
          <a:ln/>
        </p:spPr>
        <p:txBody>
          <a:bodyPr wrap="square" rtlCol="0" anchor="ctr"/>
          <a:lstStyle/>
          <a:p>
            <a:pPr marL="0" indent="0" algn="ctr">
              <a:lnSpc>
                <a:spcPct val="115000"/>
              </a:lnSpc>
              <a:buNone/>
            </a:pPr>
            <a:r>
              <a:rPr lang="en-US" sz="680" dirty="0">
                <a:solidFill>
                  <a:srgbClr val="6B6B6B"/>
                </a:solidFill>
                <a:latin typeface="Arial" pitchFamily="34" charset="0"/>
                <a:ea typeface="Arial" pitchFamily="34" charset="-122"/>
                <a:cs typeface="Arial" pitchFamily="34" charset="-120"/>
              </a:rPr>
              <a:t>Temperature, Pressure, RPM, Fuel Flow, Voltage</a:t>
            </a:r>
            <a:endParaRPr lang="en-US" sz="680" dirty="0"/>
          </a:p>
        </p:txBody>
      </p:sp>
      <p:sp>
        <p:nvSpPr>
          <p:cNvPr id="66" name="Text 62"/>
          <p:cNvSpPr/>
          <p:nvPr/>
        </p:nvSpPr>
        <p:spPr>
          <a:xfrm>
            <a:off x="2342519" y="4969400"/>
            <a:ext cx="128016" cy="777240"/>
          </a:xfrm>
          <a:prstGeom prst="rect">
            <a:avLst/>
          </a:prstGeom>
          <a:noFill/>
          <a:ln/>
        </p:spPr>
        <p:txBody>
          <a:bodyPr wrap="square" rtlCol="0" anchor="ctr"/>
          <a:lstStyle/>
          <a:p>
            <a:pPr marL="0" indent="0" algn="ctr">
              <a:buNone/>
            </a:pPr>
            <a:r>
              <a:rPr lang="en-US" sz="1100" dirty="0">
                <a:solidFill>
                  <a:srgbClr val="6B6B6B"/>
                </a:solidFill>
                <a:latin typeface="Arial" pitchFamily="34" charset="0"/>
                <a:ea typeface="Arial" pitchFamily="34" charset="-122"/>
                <a:cs typeface="Arial" pitchFamily="34" charset="-120"/>
              </a:rPr>
              <a:t>→</a:t>
            </a:r>
            <a:endParaRPr lang="en-US" sz="1100" dirty="0"/>
          </a:p>
        </p:txBody>
      </p:sp>
      <p:sp>
        <p:nvSpPr>
          <p:cNvPr id="67" name="Shape 63"/>
          <p:cNvSpPr/>
          <p:nvPr/>
        </p:nvSpPr>
        <p:spPr>
          <a:xfrm>
            <a:off x="2452247" y="4969400"/>
            <a:ext cx="1772412" cy="777240"/>
          </a:xfrm>
          <a:prstGeom prst="roundRect">
            <a:avLst>
              <a:gd name="adj" fmla="val 5882"/>
            </a:avLst>
          </a:prstGeom>
          <a:solidFill>
            <a:srgbClr val="F9F9FA"/>
          </a:solidFill>
          <a:ln w="12700">
            <a:solidFill>
              <a:srgbClr val="D9D9D9"/>
            </a:solidFill>
            <a:prstDash val="solid"/>
          </a:ln>
        </p:spPr>
      </p:sp>
      <p:sp>
        <p:nvSpPr>
          <p:cNvPr id="68" name="Text 64"/>
          <p:cNvSpPr/>
          <p:nvPr/>
        </p:nvSpPr>
        <p:spPr>
          <a:xfrm>
            <a:off x="2507111" y="5042552"/>
            <a:ext cx="1662684" cy="292608"/>
          </a:xfrm>
          <a:prstGeom prst="rect">
            <a:avLst/>
          </a:prstGeom>
          <a:noFill/>
          <a:ln/>
        </p:spPr>
        <p:txBody>
          <a:bodyPr wrap="square" rtlCol="0" anchor="ctr"/>
          <a:lstStyle/>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ECUs</a:t>
            </a:r>
            <a:endParaRPr lang="en-US" sz="900" dirty="0"/>
          </a:p>
        </p:txBody>
      </p:sp>
      <p:sp>
        <p:nvSpPr>
          <p:cNvPr id="69" name="Text 65"/>
          <p:cNvSpPr/>
          <p:nvPr/>
        </p:nvSpPr>
        <p:spPr>
          <a:xfrm>
            <a:off x="2507111" y="5335160"/>
            <a:ext cx="1662684" cy="374904"/>
          </a:xfrm>
          <a:prstGeom prst="rect">
            <a:avLst/>
          </a:prstGeom>
          <a:noFill/>
          <a:ln/>
        </p:spPr>
        <p:txBody>
          <a:bodyPr wrap="square" rtlCol="0" anchor="ctr"/>
          <a:lstStyle/>
          <a:p>
            <a:pPr marL="0" indent="0" algn="ctr">
              <a:lnSpc>
                <a:spcPct val="115000"/>
              </a:lnSpc>
              <a:buNone/>
            </a:pPr>
            <a:r>
              <a:rPr lang="en-US" sz="680" dirty="0">
                <a:solidFill>
                  <a:srgbClr val="6B6B6B"/>
                </a:solidFill>
                <a:latin typeface="Arial" pitchFamily="34" charset="0"/>
                <a:ea typeface="Arial" pitchFamily="34" charset="-122"/>
                <a:cs typeface="Arial" pitchFamily="34" charset="-120"/>
              </a:rPr>
              <a:t>Signal acquisition, diagnostics and fault detection</a:t>
            </a:r>
            <a:endParaRPr lang="en-US" sz="680" dirty="0"/>
          </a:p>
        </p:txBody>
      </p:sp>
      <p:sp>
        <p:nvSpPr>
          <p:cNvPr id="70" name="Text 66"/>
          <p:cNvSpPr/>
          <p:nvPr/>
        </p:nvSpPr>
        <p:spPr>
          <a:xfrm>
            <a:off x="4206371" y="4969400"/>
            <a:ext cx="128016" cy="777240"/>
          </a:xfrm>
          <a:prstGeom prst="rect">
            <a:avLst/>
          </a:prstGeom>
          <a:noFill/>
          <a:ln/>
        </p:spPr>
        <p:txBody>
          <a:bodyPr wrap="square" rtlCol="0" anchor="ctr"/>
          <a:lstStyle/>
          <a:p>
            <a:pPr marL="0" indent="0" algn="ctr">
              <a:buNone/>
            </a:pPr>
            <a:r>
              <a:rPr lang="en-US" sz="1100" dirty="0">
                <a:solidFill>
                  <a:srgbClr val="6B6B6B"/>
                </a:solidFill>
                <a:latin typeface="Arial" pitchFamily="34" charset="0"/>
                <a:ea typeface="Arial" pitchFamily="34" charset="-122"/>
                <a:cs typeface="Arial" pitchFamily="34" charset="-120"/>
              </a:rPr>
              <a:t>→</a:t>
            </a:r>
            <a:endParaRPr lang="en-US" sz="1100" dirty="0"/>
          </a:p>
        </p:txBody>
      </p:sp>
      <p:sp>
        <p:nvSpPr>
          <p:cNvPr id="71" name="Shape 67"/>
          <p:cNvSpPr/>
          <p:nvPr/>
        </p:nvSpPr>
        <p:spPr>
          <a:xfrm>
            <a:off x="4316099" y="4969400"/>
            <a:ext cx="1772412" cy="777240"/>
          </a:xfrm>
          <a:prstGeom prst="roundRect">
            <a:avLst>
              <a:gd name="adj" fmla="val 5882"/>
            </a:avLst>
          </a:prstGeom>
          <a:solidFill>
            <a:srgbClr val="F9F9FA"/>
          </a:solidFill>
          <a:ln w="12700">
            <a:solidFill>
              <a:srgbClr val="D9D9D9"/>
            </a:solidFill>
            <a:prstDash val="solid"/>
          </a:ln>
        </p:spPr>
      </p:sp>
      <p:sp>
        <p:nvSpPr>
          <p:cNvPr id="72" name="Text 68"/>
          <p:cNvSpPr/>
          <p:nvPr/>
        </p:nvSpPr>
        <p:spPr>
          <a:xfrm>
            <a:off x="4370963" y="5042552"/>
            <a:ext cx="1662684" cy="292608"/>
          </a:xfrm>
          <a:prstGeom prst="rect">
            <a:avLst/>
          </a:prstGeom>
          <a:noFill/>
          <a:ln/>
        </p:spPr>
        <p:txBody>
          <a:bodyPr wrap="square" rtlCol="0" anchor="ctr"/>
          <a:lstStyle/>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CAN Bus</a:t>
            </a:r>
            <a:endParaRPr lang="en-US" sz="900" dirty="0"/>
          </a:p>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Network</a:t>
            </a:r>
            <a:endParaRPr lang="en-US" sz="900" dirty="0"/>
          </a:p>
        </p:txBody>
      </p:sp>
      <p:sp>
        <p:nvSpPr>
          <p:cNvPr id="73" name="Text 69"/>
          <p:cNvSpPr/>
          <p:nvPr/>
        </p:nvSpPr>
        <p:spPr>
          <a:xfrm>
            <a:off x="4370963" y="5335160"/>
            <a:ext cx="1662684" cy="374904"/>
          </a:xfrm>
          <a:prstGeom prst="rect">
            <a:avLst/>
          </a:prstGeom>
          <a:noFill/>
          <a:ln/>
        </p:spPr>
        <p:txBody>
          <a:bodyPr wrap="square" rtlCol="0" anchor="ctr"/>
          <a:lstStyle/>
          <a:p>
            <a:pPr marL="0" indent="0" algn="ctr">
              <a:lnSpc>
                <a:spcPct val="115000"/>
              </a:lnSpc>
              <a:buNone/>
            </a:pPr>
            <a:r>
              <a:rPr lang="en-US" sz="680" dirty="0">
                <a:solidFill>
                  <a:srgbClr val="6B6B6B"/>
                </a:solidFill>
                <a:latin typeface="Arial" pitchFamily="34" charset="0"/>
                <a:ea typeface="Arial" pitchFamily="34" charset="-122"/>
                <a:cs typeface="Arial" pitchFamily="34" charset="-120"/>
              </a:rPr>
              <a:t>Communication backbone</a:t>
            </a:r>
            <a:endParaRPr lang="en-US" sz="680" dirty="0"/>
          </a:p>
        </p:txBody>
      </p:sp>
      <p:sp>
        <p:nvSpPr>
          <p:cNvPr id="74" name="Text 70"/>
          <p:cNvSpPr/>
          <p:nvPr/>
        </p:nvSpPr>
        <p:spPr>
          <a:xfrm>
            <a:off x="6070223" y="4969400"/>
            <a:ext cx="128016" cy="777240"/>
          </a:xfrm>
          <a:prstGeom prst="rect">
            <a:avLst/>
          </a:prstGeom>
          <a:noFill/>
          <a:ln/>
        </p:spPr>
        <p:txBody>
          <a:bodyPr wrap="square" rtlCol="0" anchor="ctr"/>
          <a:lstStyle/>
          <a:p>
            <a:pPr marL="0" indent="0" algn="ctr">
              <a:buNone/>
            </a:pPr>
            <a:r>
              <a:rPr lang="en-US" sz="1100" dirty="0">
                <a:solidFill>
                  <a:srgbClr val="6B6B6B"/>
                </a:solidFill>
                <a:latin typeface="Arial" pitchFamily="34" charset="0"/>
                <a:ea typeface="Arial" pitchFamily="34" charset="-122"/>
                <a:cs typeface="Arial" pitchFamily="34" charset="-120"/>
              </a:rPr>
              <a:t>→</a:t>
            </a:r>
            <a:endParaRPr lang="en-US" sz="1100" dirty="0"/>
          </a:p>
        </p:txBody>
      </p:sp>
      <p:sp>
        <p:nvSpPr>
          <p:cNvPr id="75" name="Shape 71"/>
          <p:cNvSpPr/>
          <p:nvPr/>
        </p:nvSpPr>
        <p:spPr>
          <a:xfrm>
            <a:off x="6179951" y="4969400"/>
            <a:ext cx="1772412" cy="777240"/>
          </a:xfrm>
          <a:prstGeom prst="roundRect">
            <a:avLst>
              <a:gd name="adj" fmla="val 5882"/>
            </a:avLst>
          </a:prstGeom>
          <a:solidFill>
            <a:srgbClr val="F9F9FA"/>
          </a:solidFill>
          <a:ln w="12700">
            <a:solidFill>
              <a:srgbClr val="D9D9D9"/>
            </a:solidFill>
            <a:prstDash val="solid"/>
          </a:ln>
        </p:spPr>
      </p:sp>
      <p:sp>
        <p:nvSpPr>
          <p:cNvPr id="76" name="Text 72"/>
          <p:cNvSpPr/>
          <p:nvPr/>
        </p:nvSpPr>
        <p:spPr>
          <a:xfrm>
            <a:off x="6234815" y="5042552"/>
            <a:ext cx="1662684" cy="292608"/>
          </a:xfrm>
          <a:prstGeom prst="rect">
            <a:avLst/>
          </a:prstGeom>
          <a:noFill/>
          <a:ln/>
        </p:spPr>
        <p:txBody>
          <a:bodyPr wrap="square" rtlCol="0" anchor="ctr"/>
          <a:lstStyle/>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Telematics</a:t>
            </a:r>
            <a:endParaRPr lang="en-US" sz="900" dirty="0"/>
          </a:p>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Gateway</a:t>
            </a:r>
            <a:endParaRPr lang="en-US" sz="900" dirty="0"/>
          </a:p>
        </p:txBody>
      </p:sp>
      <p:sp>
        <p:nvSpPr>
          <p:cNvPr id="77" name="Text 73"/>
          <p:cNvSpPr/>
          <p:nvPr/>
        </p:nvSpPr>
        <p:spPr>
          <a:xfrm>
            <a:off x="6234815" y="5335160"/>
            <a:ext cx="1662684" cy="374904"/>
          </a:xfrm>
          <a:prstGeom prst="rect">
            <a:avLst/>
          </a:prstGeom>
          <a:noFill/>
          <a:ln/>
        </p:spPr>
        <p:txBody>
          <a:bodyPr wrap="square" rtlCol="0" anchor="ctr"/>
          <a:lstStyle/>
          <a:p>
            <a:pPr marL="0" indent="0" algn="ctr">
              <a:lnSpc>
                <a:spcPct val="115000"/>
              </a:lnSpc>
              <a:buNone/>
            </a:pPr>
            <a:r>
              <a:rPr lang="en-US" sz="680" dirty="0">
                <a:solidFill>
                  <a:srgbClr val="6B6B6B"/>
                </a:solidFill>
                <a:latin typeface="Arial" pitchFamily="34" charset="0"/>
                <a:ea typeface="Arial" pitchFamily="34" charset="-122"/>
                <a:cs typeface="Arial" pitchFamily="34" charset="-120"/>
              </a:rPr>
              <a:t>CAN aggregation and data transmission</a:t>
            </a:r>
            <a:endParaRPr lang="en-US" sz="680" dirty="0"/>
          </a:p>
        </p:txBody>
      </p:sp>
      <p:sp>
        <p:nvSpPr>
          <p:cNvPr id="78" name="Text 74"/>
          <p:cNvSpPr/>
          <p:nvPr/>
        </p:nvSpPr>
        <p:spPr>
          <a:xfrm>
            <a:off x="7934075" y="4969400"/>
            <a:ext cx="128016" cy="777240"/>
          </a:xfrm>
          <a:prstGeom prst="rect">
            <a:avLst/>
          </a:prstGeom>
          <a:noFill/>
          <a:ln/>
        </p:spPr>
        <p:txBody>
          <a:bodyPr wrap="square" rtlCol="0" anchor="ctr"/>
          <a:lstStyle/>
          <a:p>
            <a:pPr marL="0" indent="0" algn="ctr">
              <a:buNone/>
            </a:pPr>
            <a:r>
              <a:rPr lang="en-US" sz="1100" dirty="0">
                <a:solidFill>
                  <a:srgbClr val="6B6B6B"/>
                </a:solidFill>
                <a:latin typeface="Arial" pitchFamily="34" charset="0"/>
                <a:ea typeface="Arial" pitchFamily="34" charset="-122"/>
                <a:cs typeface="Arial" pitchFamily="34" charset="-120"/>
              </a:rPr>
              <a:t>→</a:t>
            </a:r>
            <a:endParaRPr lang="en-US" sz="1100" dirty="0"/>
          </a:p>
        </p:txBody>
      </p:sp>
      <p:sp>
        <p:nvSpPr>
          <p:cNvPr id="79" name="Shape 75"/>
          <p:cNvSpPr/>
          <p:nvPr/>
        </p:nvSpPr>
        <p:spPr>
          <a:xfrm>
            <a:off x="8043803" y="4969400"/>
            <a:ext cx="1772412" cy="777240"/>
          </a:xfrm>
          <a:prstGeom prst="roundRect">
            <a:avLst>
              <a:gd name="adj" fmla="val 5882"/>
            </a:avLst>
          </a:prstGeom>
          <a:solidFill>
            <a:srgbClr val="F9F9FA"/>
          </a:solidFill>
          <a:ln w="12700">
            <a:solidFill>
              <a:srgbClr val="D9D9D9"/>
            </a:solidFill>
            <a:prstDash val="solid"/>
          </a:ln>
        </p:spPr>
      </p:sp>
      <p:sp>
        <p:nvSpPr>
          <p:cNvPr id="80" name="Text 76"/>
          <p:cNvSpPr/>
          <p:nvPr/>
        </p:nvSpPr>
        <p:spPr>
          <a:xfrm>
            <a:off x="8098667" y="5042552"/>
            <a:ext cx="1662684" cy="292608"/>
          </a:xfrm>
          <a:prstGeom prst="rect">
            <a:avLst/>
          </a:prstGeom>
          <a:noFill/>
          <a:ln/>
        </p:spPr>
        <p:txBody>
          <a:bodyPr wrap="square" rtlCol="0" anchor="ctr"/>
          <a:lstStyle/>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Cellular /</a:t>
            </a:r>
            <a:endParaRPr lang="en-US" sz="900" dirty="0"/>
          </a:p>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Satellite Link</a:t>
            </a:r>
            <a:endParaRPr lang="en-US" sz="900" dirty="0"/>
          </a:p>
        </p:txBody>
      </p:sp>
      <p:sp>
        <p:nvSpPr>
          <p:cNvPr id="81" name="Text 77"/>
          <p:cNvSpPr/>
          <p:nvPr/>
        </p:nvSpPr>
        <p:spPr>
          <a:xfrm>
            <a:off x="8098667" y="5335160"/>
            <a:ext cx="1662684" cy="374904"/>
          </a:xfrm>
          <a:prstGeom prst="rect">
            <a:avLst/>
          </a:prstGeom>
          <a:noFill/>
          <a:ln/>
        </p:spPr>
        <p:txBody>
          <a:bodyPr wrap="square" rtlCol="0" anchor="ctr"/>
          <a:lstStyle/>
          <a:p>
            <a:pPr marL="0" indent="0" algn="ctr">
              <a:lnSpc>
                <a:spcPct val="115000"/>
              </a:lnSpc>
              <a:buNone/>
            </a:pPr>
            <a:r>
              <a:rPr lang="en-US" sz="680" dirty="0">
                <a:solidFill>
                  <a:srgbClr val="6B6B6B"/>
                </a:solidFill>
                <a:latin typeface="Arial" pitchFamily="34" charset="0"/>
                <a:ea typeface="Arial" pitchFamily="34" charset="-122"/>
                <a:cs typeface="Arial" pitchFamily="34" charset="-120"/>
              </a:rPr>
              <a:t>Remote communication with offline buffering</a:t>
            </a:r>
            <a:endParaRPr lang="en-US" sz="680" dirty="0"/>
          </a:p>
        </p:txBody>
      </p:sp>
      <p:sp>
        <p:nvSpPr>
          <p:cNvPr id="82" name="Text 78"/>
          <p:cNvSpPr/>
          <p:nvPr/>
        </p:nvSpPr>
        <p:spPr>
          <a:xfrm>
            <a:off x="9797927" y="4969400"/>
            <a:ext cx="128016" cy="777240"/>
          </a:xfrm>
          <a:prstGeom prst="rect">
            <a:avLst/>
          </a:prstGeom>
          <a:noFill/>
          <a:ln/>
        </p:spPr>
        <p:txBody>
          <a:bodyPr wrap="square" rtlCol="0" anchor="ctr"/>
          <a:lstStyle/>
          <a:p>
            <a:pPr marL="0" indent="0" algn="ctr">
              <a:buNone/>
            </a:pPr>
            <a:r>
              <a:rPr lang="en-US" sz="1100" dirty="0">
                <a:solidFill>
                  <a:srgbClr val="6B6B6B"/>
                </a:solidFill>
                <a:latin typeface="Arial" pitchFamily="34" charset="0"/>
                <a:ea typeface="Arial" pitchFamily="34" charset="-122"/>
                <a:cs typeface="Arial" pitchFamily="34" charset="-120"/>
              </a:rPr>
              <a:t>→</a:t>
            </a:r>
            <a:endParaRPr lang="en-US" sz="1100" dirty="0"/>
          </a:p>
        </p:txBody>
      </p:sp>
      <p:sp>
        <p:nvSpPr>
          <p:cNvPr id="83" name="Shape 79"/>
          <p:cNvSpPr/>
          <p:nvPr/>
        </p:nvSpPr>
        <p:spPr>
          <a:xfrm>
            <a:off x="9907655" y="4969400"/>
            <a:ext cx="1772412" cy="777240"/>
          </a:xfrm>
          <a:prstGeom prst="roundRect">
            <a:avLst>
              <a:gd name="adj" fmla="val 5882"/>
            </a:avLst>
          </a:prstGeom>
          <a:solidFill>
            <a:srgbClr val="F9F9FA"/>
          </a:solidFill>
          <a:ln w="12700">
            <a:solidFill>
              <a:srgbClr val="D9D9D9"/>
            </a:solidFill>
            <a:prstDash val="solid"/>
          </a:ln>
        </p:spPr>
      </p:sp>
      <p:sp>
        <p:nvSpPr>
          <p:cNvPr id="84" name="Text 80"/>
          <p:cNvSpPr/>
          <p:nvPr/>
        </p:nvSpPr>
        <p:spPr>
          <a:xfrm>
            <a:off x="9962519" y="5042552"/>
            <a:ext cx="1662684" cy="292608"/>
          </a:xfrm>
          <a:prstGeom prst="rect">
            <a:avLst/>
          </a:prstGeom>
          <a:noFill/>
          <a:ln/>
        </p:spPr>
        <p:txBody>
          <a:bodyPr wrap="square" rtlCol="0" anchor="ctr"/>
          <a:lstStyle/>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FMS Analytics</a:t>
            </a:r>
            <a:endParaRPr lang="en-US" sz="900" dirty="0"/>
          </a:p>
          <a:p>
            <a:pPr marL="0" indent="0" algn="ctr">
              <a:lnSpc>
                <a:spcPct val="110000"/>
              </a:lnSpc>
              <a:buNone/>
            </a:pPr>
            <a:r>
              <a:rPr lang="en-US" sz="900" b="1" dirty="0">
                <a:solidFill>
                  <a:srgbClr val="12233F"/>
                </a:solidFill>
                <a:latin typeface="Arial" pitchFamily="34" charset="0"/>
                <a:ea typeface="Arial" pitchFamily="34" charset="-122"/>
                <a:cs typeface="Arial" pitchFamily="34" charset="-120"/>
              </a:rPr>
              <a:t>Dashboard</a:t>
            </a:r>
            <a:endParaRPr lang="en-US" sz="900" dirty="0"/>
          </a:p>
        </p:txBody>
      </p:sp>
      <p:sp>
        <p:nvSpPr>
          <p:cNvPr id="85" name="Text 81"/>
          <p:cNvSpPr/>
          <p:nvPr/>
        </p:nvSpPr>
        <p:spPr>
          <a:xfrm>
            <a:off x="9962519" y="5335160"/>
            <a:ext cx="1662684" cy="374904"/>
          </a:xfrm>
          <a:prstGeom prst="rect">
            <a:avLst/>
          </a:prstGeom>
          <a:noFill/>
          <a:ln/>
        </p:spPr>
        <p:txBody>
          <a:bodyPr wrap="square" rtlCol="0" anchor="ctr"/>
          <a:lstStyle/>
          <a:p>
            <a:pPr marL="0" indent="0" algn="ctr">
              <a:lnSpc>
                <a:spcPct val="115000"/>
              </a:lnSpc>
              <a:buNone/>
            </a:pPr>
            <a:r>
              <a:rPr lang="en-US" sz="680" dirty="0">
                <a:solidFill>
                  <a:srgbClr val="6B6B6B"/>
                </a:solidFill>
                <a:latin typeface="Arial" pitchFamily="34" charset="0"/>
                <a:ea typeface="Arial" pitchFamily="34" charset="-122"/>
                <a:cs typeface="Arial" pitchFamily="34" charset="-120"/>
              </a:rPr>
              <a:t>Real-time monitoring, alerts and predictive analytics</a:t>
            </a:r>
            <a:endParaRPr lang="en-US" sz="680" dirty="0"/>
          </a:p>
        </p:txBody>
      </p:sp>
      <p:sp>
        <p:nvSpPr>
          <p:cNvPr id="86" name="Text 82"/>
          <p:cNvSpPr/>
          <p:nvPr/>
        </p:nvSpPr>
        <p:spPr>
          <a:xfrm>
            <a:off x="562356" y="5838697"/>
            <a:ext cx="5486400" cy="146304"/>
          </a:xfrm>
          <a:prstGeom prst="rect">
            <a:avLst/>
          </a:prstGeom>
          <a:noFill/>
          <a:ln/>
        </p:spPr>
        <p:txBody>
          <a:bodyPr wrap="square" rtlCol="0" anchor="ctr"/>
          <a:lstStyle/>
          <a:p>
            <a:pPr marL="0" indent="0">
              <a:buNone/>
            </a:pPr>
            <a:r>
              <a:rPr lang="en-US" sz="800" b="1" kern="0" spc="80" dirty="0">
                <a:solidFill>
                  <a:srgbClr val="6B6B6B"/>
                </a:solidFill>
                <a:latin typeface="Arial" pitchFamily="34" charset="0"/>
                <a:ea typeface="Arial" pitchFamily="34" charset="-122"/>
                <a:cs typeface="Arial" pitchFamily="34" charset="-120"/>
              </a:rPr>
              <a:t>PHASED DEPLOYMENT STRATEGY</a:t>
            </a:r>
            <a:endParaRPr lang="en-US" sz="800" dirty="0"/>
          </a:p>
        </p:txBody>
      </p:sp>
      <p:sp>
        <p:nvSpPr>
          <p:cNvPr id="87" name="Shape 83"/>
          <p:cNvSpPr/>
          <p:nvPr/>
        </p:nvSpPr>
        <p:spPr>
          <a:xfrm>
            <a:off x="582508" y="6060423"/>
            <a:ext cx="1772412" cy="365760"/>
          </a:xfrm>
          <a:prstGeom prst="roundRect">
            <a:avLst>
              <a:gd name="adj" fmla="val 45000"/>
            </a:avLst>
          </a:prstGeom>
          <a:solidFill>
            <a:srgbClr val="FFFFFF"/>
          </a:solidFill>
          <a:ln w="12700">
            <a:solidFill>
              <a:srgbClr val="00A99D"/>
            </a:solidFill>
            <a:prstDash val="solid"/>
          </a:ln>
        </p:spPr>
      </p:sp>
      <p:sp>
        <p:nvSpPr>
          <p:cNvPr id="88" name="Text 84"/>
          <p:cNvSpPr/>
          <p:nvPr/>
        </p:nvSpPr>
        <p:spPr>
          <a:xfrm>
            <a:off x="619084" y="6060423"/>
            <a:ext cx="1699260" cy="365760"/>
          </a:xfrm>
          <a:prstGeom prst="rect">
            <a:avLst/>
          </a:prstGeom>
          <a:noFill/>
          <a:ln/>
        </p:spPr>
        <p:txBody>
          <a:bodyPr wrap="square" rtlCol="0" anchor="ctr"/>
          <a:lstStyle/>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Preparation</a:t>
            </a:r>
            <a:endParaRPr lang="en-US" sz="750" dirty="0"/>
          </a:p>
        </p:txBody>
      </p:sp>
      <p:sp>
        <p:nvSpPr>
          <p:cNvPr id="89" name="Text 85"/>
          <p:cNvSpPr/>
          <p:nvPr/>
        </p:nvSpPr>
        <p:spPr>
          <a:xfrm>
            <a:off x="2336632" y="6060423"/>
            <a:ext cx="128016" cy="365760"/>
          </a:xfrm>
          <a:prstGeom prst="rect">
            <a:avLst/>
          </a:prstGeom>
          <a:noFill/>
          <a:ln/>
        </p:spPr>
        <p:txBody>
          <a:bodyPr wrap="square" rtlCol="0" anchor="ctr"/>
          <a:lstStyle/>
          <a:p>
            <a:pPr marL="0" indent="0" algn="ctr">
              <a:buNone/>
            </a:pPr>
            <a:r>
              <a:rPr lang="en-US" sz="900" dirty="0">
                <a:solidFill>
                  <a:srgbClr val="6B6B6B"/>
                </a:solidFill>
                <a:latin typeface="Arial" pitchFamily="34" charset="0"/>
                <a:ea typeface="Arial" pitchFamily="34" charset="-122"/>
                <a:cs typeface="Arial" pitchFamily="34" charset="-120"/>
              </a:rPr>
              <a:t>→</a:t>
            </a:r>
            <a:endParaRPr lang="en-US" sz="900" dirty="0"/>
          </a:p>
        </p:txBody>
      </p:sp>
      <p:sp>
        <p:nvSpPr>
          <p:cNvPr id="90" name="Shape 86"/>
          <p:cNvSpPr/>
          <p:nvPr/>
        </p:nvSpPr>
        <p:spPr>
          <a:xfrm>
            <a:off x="2446360" y="6060423"/>
            <a:ext cx="1772412" cy="365760"/>
          </a:xfrm>
          <a:prstGeom prst="roundRect">
            <a:avLst>
              <a:gd name="adj" fmla="val 45000"/>
            </a:avLst>
          </a:prstGeom>
          <a:solidFill>
            <a:srgbClr val="FFFFFF"/>
          </a:solidFill>
          <a:ln w="12700">
            <a:solidFill>
              <a:srgbClr val="00A99D"/>
            </a:solidFill>
            <a:prstDash val="solid"/>
          </a:ln>
        </p:spPr>
      </p:sp>
      <p:sp>
        <p:nvSpPr>
          <p:cNvPr id="91" name="Text 87"/>
          <p:cNvSpPr/>
          <p:nvPr/>
        </p:nvSpPr>
        <p:spPr>
          <a:xfrm>
            <a:off x="2482936" y="6060423"/>
            <a:ext cx="1699260" cy="365760"/>
          </a:xfrm>
          <a:prstGeom prst="rect">
            <a:avLst/>
          </a:prstGeom>
          <a:noFill/>
          <a:ln/>
        </p:spPr>
        <p:txBody>
          <a:bodyPr wrap="square" rtlCol="0" anchor="ctr"/>
          <a:lstStyle/>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Pilot</a:t>
            </a:r>
            <a:endParaRPr lang="en-US" sz="750" dirty="0"/>
          </a:p>
        </p:txBody>
      </p:sp>
      <p:sp>
        <p:nvSpPr>
          <p:cNvPr id="92" name="Text 88"/>
          <p:cNvSpPr/>
          <p:nvPr/>
        </p:nvSpPr>
        <p:spPr>
          <a:xfrm>
            <a:off x="4200484" y="6060423"/>
            <a:ext cx="128016" cy="365760"/>
          </a:xfrm>
          <a:prstGeom prst="rect">
            <a:avLst/>
          </a:prstGeom>
          <a:noFill/>
          <a:ln/>
        </p:spPr>
        <p:txBody>
          <a:bodyPr wrap="square" rtlCol="0" anchor="ctr"/>
          <a:lstStyle/>
          <a:p>
            <a:pPr marL="0" indent="0" algn="ctr">
              <a:buNone/>
            </a:pPr>
            <a:r>
              <a:rPr lang="en-US" sz="900" dirty="0">
                <a:solidFill>
                  <a:srgbClr val="6B6B6B"/>
                </a:solidFill>
                <a:latin typeface="Arial" pitchFamily="34" charset="0"/>
                <a:ea typeface="Arial" pitchFamily="34" charset="-122"/>
                <a:cs typeface="Arial" pitchFamily="34" charset="-120"/>
              </a:rPr>
              <a:t>→</a:t>
            </a:r>
            <a:endParaRPr lang="en-US" sz="900" dirty="0"/>
          </a:p>
        </p:txBody>
      </p:sp>
      <p:sp>
        <p:nvSpPr>
          <p:cNvPr id="93" name="Shape 89"/>
          <p:cNvSpPr/>
          <p:nvPr/>
        </p:nvSpPr>
        <p:spPr>
          <a:xfrm>
            <a:off x="4310212" y="6060423"/>
            <a:ext cx="1772412" cy="365760"/>
          </a:xfrm>
          <a:prstGeom prst="roundRect">
            <a:avLst>
              <a:gd name="adj" fmla="val 45000"/>
            </a:avLst>
          </a:prstGeom>
          <a:solidFill>
            <a:srgbClr val="FFFFFF"/>
          </a:solidFill>
          <a:ln w="12700">
            <a:solidFill>
              <a:srgbClr val="00A99D"/>
            </a:solidFill>
            <a:prstDash val="solid"/>
          </a:ln>
        </p:spPr>
      </p:sp>
      <p:sp>
        <p:nvSpPr>
          <p:cNvPr id="94" name="Text 90"/>
          <p:cNvSpPr/>
          <p:nvPr/>
        </p:nvSpPr>
        <p:spPr>
          <a:xfrm>
            <a:off x="4346788" y="6060423"/>
            <a:ext cx="1699260" cy="365760"/>
          </a:xfrm>
          <a:prstGeom prst="rect">
            <a:avLst/>
          </a:prstGeom>
          <a:noFill/>
          <a:ln/>
        </p:spPr>
        <p:txBody>
          <a:bodyPr wrap="square" rtlCol="0" anchor="ctr"/>
          <a:lstStyle/>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Alert</a:t>
            </a:r>
            <a:endParaRPr lang="en-US" sz="750" dirty="0"/>
          </a:p>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Activation</a:t>
            </a:r>
            <a:endParaRPr lang="en-US" sz="750" dirty="0"/>
          </a:p>
        </p:txBody>
      </p:sp>
      <p:sp>
        <p:nvSpPr>
          <p:cNvPr id="95" name="Text 91"/>
          <p:cNvSpPr/>
          <p:nvPr/>
        </p:nvSpPr>
        <p:spPr>
          <a:xfrm>
            <a:off x="6064336" y="6060423"/>
            <a:ext cx="128016" cy="365760"/>
          </a:xfrm>
          <a:prstGeom prst="rect">
            <a:avLst/>
          </a:prstGeom>
          <a:noFill/>
          <a:ln/>
        </p:spPr>
        <p:txBody>
          <a:bodyPr wrap="square" rtlCol="0" anchor="ctr"/>
          <a:lstStyle/>
          <a:p>
            <a:pPr marL="0" indent="0" algn="ctr">
              <a:buNone/>
            </a:pPr>
            <a:r>
              <a:rPr lang="en-US" sz="900" dirty="0">
                <a:solidFill>
                  <a:srgbClr val="6B6B6B"/>
                </a:solidFill>
                <a:latin typeface="Arial" pitchFamily="34" charset="0"/>
                <a:ea typeface="Arial" pitchFamily="34" charset="-122"/>
                <a:cs typeface="Arial" pitchFamily="34" charset="-120"/>
              </a:rPr>
              <a:t>→</a:t>
            </a:r>
            <a:endParaRPr lang="en-US" sz="900" dirty="0"/>
          </a:p>
        </p:txBody>
      </p:sp>
      <p:sp>
        <p:nvSpPr>
          <p:cNvPr id="96" name="Shape 92"/>
          <p:cNvSpPr/>
          <p:nvPr/>
        </p:nvSpPr>
        <p:spPr>
          <a:xfrm>
            <a:off x="6174064" y="6060423"/>
            <a:ext cx="1772412" cy="365760"/>
          </a:xfrm>
          <a:prstGeom prst="roundRect">
            <a:avLst>
              <a:gd name="adj" fmla="val 45000"/>
            </a:avLst>
          </a:prstGeom>
          <a:solidFill>
            <a:srgbClr val="FFFFFF"/>
          </a:solidFill>
          <a:ln w="12700">
            <a:solidFill>
              <a:srgbClr val="00A99D"/>
            </a:solidFill>
            <a:prstDash val="solid"/>
          </a:ln>
        </p:spPr>
      </p:sp>
      <p:sp>
        <p:nvSpPr>
          <p:cNvPr id="97" name="Text 93"/>
          <p:cNvSpPr/>
          <p:nvPr/>
        </p:nvSpPr>
        <p:spPr>
          <a:xfrm>
            <a:off x="6210640" y="6060423"/>
            <a:ext cx="1699260" cy="365760"/>
          </a:xfrm>
          <a:prstGeom prst="rect">
            <a:avLst/>
          </a:prstGeom>
          <a:noFill/>
          <a:ln/>
        </p:spPr>
        <p:txBody>
          <a:bodyPr wrap="square" rtlCol="0" anchor="ctr"/>
          <a:lstStyle/>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Q4</a:t>
            </a:r>
            <a:endParaRPr lang="en-US" sz="750" dirty="0"/>
          </a:p>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Expansion</a:t>
            </a:r>
            <a:endParaRPr lang="en-US" sz="750" dirty="0"/>
          </a:p>
        </p:txBody>
      </p:sp>
      <p:sp>
        <p:nvSpPr>
          <p:cNvPr id="98" name="Text 94"/>
          <p:cNvSpPr/>
          <p:nvPr/>
        </p:nvSpPr>
        <p:spPr>
          <a:xfrm>
            <a:off x="7928188" y="6060423"/>
            <a:ext cx="128016" cy="365760"/>
          </a:xfrm>
          <a:prstGeom prst="rect">
            <a:avLst/>
          </a:prstGeom>
          <a:noFill/>
          <a:ln/>
        </p:spPr>
        <p:txBody>
          <a:bodyPr wrap="square" rtlCol="0" anchor="ctr"/>
          <a:lstStyle/>
          <a:p>
            <a:pPr marL="0" indent="0" algn="ctr">
              <a:buNone/>
            </a:pPr>
            <a:r>
              <a:rPr lang="en-US" sz="900" dirty="0">
                <a:solidFill>
                  <a:srgbClr val="6B6B6B"/>
                </a:solidFill>
                <a:latin typeface="Arial" pitchFamily="34" charset="0"/>
                <a:ea typeface="Arial" pitchFamily="34" charset="-122"/>
                <a:cs typeface="Arial" pitchFamily="34" charset="-120"/>
              </a:rPr>
              <a:t>→</a:t>
            </a:r>
            <a:endParaRPr lang="en-US" sz="900" dirty="0"/>
          </a:p>
        </p:txBody>
      </p:sp>
      <p:sp>
        <p:nvSpPr>
          <p:cNvPr id="99" name="Shape 95"/>
          <p:cNvSpPr/>
          <p:nvPr/>
        </p:nvSpPr>
        <p:spPr>
          <a:xfrm>
            <a:off x="8037916" y="6060423"/>
            <a:ext cx="1772412" cy="365760"/>
          </a:xfrm>
          <a:prstGeom prst="roundRect">
            <a:avLst>
              <a:gd name="adj" fmla="val 45000"/>
            </a:avLst>
          </a:prstGeom>
          <a:solidFill>
            <a:srgbClr val="FFFFFF"/>
          </a:solidFill>
          <a:ln w="12700">
            <a:solidFill>
              <a:srgbClr val="00A99D"/>
            </a:solidFill>
            <a:prstDash val="solid"/>
          </a:ln>
        </p:spPr>
      </p:sp>
      <p:sp>
        <p:nvSpPr>
          <p:cNvPr id="100" name="Text 96"/>
          <p:cNvSpPr/>
          <p:nvPr/>
        </p:nvSpPr>
        <p:spPr>
          <a:xfrm>
            <a:off x="8074492" y="6060423"/>
            <a:ext cx="1699260" cy="365760"/>
          </a:xfrm>
          <a:prstGeom prst="rect">
            <a:avLst/>
          </a:prstGeom>
          <a:noFill/>
          <a:ln/>
        </p:spPr>
        <p:txBody>
          <a:bodyPr wrap="square" rtlCol="0" anchor="ctr"/>
          <a:lstStyle/>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Fleet</a:t>
            </a:r>
            <a:endParaRPr lang="en-US" sz="750" dirty="0"/>
          </a:p>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Rollout</a:t>
            </a:r>
            <a:endParaRPr lang="en-US" sz="750" dirty="0"/>
          </a:p>
        </p:txBody>
      </p:sp>
      <p:sp>
        <p:nvSpPr>
          <p:cNvPr id="101" name="Text 97"/>
          <p:cNvSpPr/>
          <p:nvPr/>
        </p:nvSpPr>
        <p:spPr>
          <a:xfrm>
            <a:off x="9792040" y="6060423"/>
            <a:ext cx="128016" cy="365760"/>
          </a:xfrm>
          <a:prstGeom prst="rect">
            <a:avLst/>
          </a:prstGeom>
          <a:noFill/>
          <a:ln/>
        </p:spPr>
        <p:txBody>
          <a:bodyPr wrap="square" rtlCol="0" anchor="ctr"/>
          <a:lstStyle/>
          <a:p>
            <a:pPr marL="0" indent="0" algn="ctr">
              <a:buNone/>
            </a:pPr>
            <a:r>
              <a:rPr lang="en-US" sz="900" dirty="0">
                <a:solidFill>
                  <a:srgbClr val="6B6B6B"/>
                </a:solidFill>
                <a:latin typeface="Arial" pitchFamily="34" charset="0"/>
                <a:ea typeface="Arial" pitchFamily="34" charset="-122"/>
                <a:cs typeface="Arial" pitchFamily="34" charset="-120"/>
              </a:rPr>
              <a:t>→</a:t>
            </a:r>
            <a:endParaRPr lang="en-US" sz="900" dirty="0"/>
          </a:p>
        </p:txBody>
      </p:sp>
      <p:sp>
        <p:nvSpPr>
          <p:cNvPr id="102" name="Shape 98"/>
          <p:cNvSpPr/>
          <p:nvPr/>
        </p:nvSpPr>
        <p:spPr>
          <a:xfrm>
            <a:off x="9901768" y="6060423"/>
            <a:ext cx="1772412" cy="365760"/>
          </a:xfrm>
          <a:prstGeom prst="roundRect">
            <a:avLst>
              <a:gd name="adj" fmla="val 45000"/>
            </a:avLst>
          </a:prstGeom>
          <a:solidFill>
            <a:srgbClr val="FFFFFF"/>
          </a:solidFill>
          <a:ln w="12700">
            <a:solidFill>
              <a:srgbClr val="00A99D"/>
            </a:solidFill>
            <a:prstDash val="solid"/>
          </a:ln>
        </p:spPr>
      </p:sp>
      <p:sp>
        <p:nvSpPr>
          <p:cNvPr id="103" name="Text 99"/>
          <p:cNvSpPr/>
          <p:nvPr/>
        </p:nvSpPr>
        <p:spPr>
          <a:xfrm>
            <a:off x="9938344" y="6060423"/>
            <a:ext cx="1699260" cy="365760"/>
          </a:xfrm>
          <a:prstGeom prst="rect">
            <a:avLst/>
          </a:prstGeom>
          <a:noFill/>
          <a:ln/>
        </p:spPr>
        <p:txBody>
          <a:bodyPr wrap="square" rtlCol="0" anchor="ctr"/>
          <a:lstStyle/>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Continuous</a:t>
            </a:r>
            <a:endParaRPr lang="en-US" sz="750" dirty="0"/>
          </a:p>
          <a:p>
            <a:pPr marL="0" indent="0" algn="ctr">
              <a:lnSpc>
                <a:spcPct val="105000"/>
              </a:lnSpc>
              <a:buNone/>
            </a:pPr>
            <a:r>
              <a:rPr lang="en-US" sz="750" b="1" dirty="0">
                <a:solidFill>
                  <a:srgbClr val="0F6B5C"/>
                </a:solidFill>
                <a:latin typeface="Arial" pitchFamily="34" charset="0"/>
                <a:ea typeface="Arial" pitchFamily="34" charset="-122"/>
                <a:cs typeface="Arial" pitchFamily="34" charset="-120"/>
              </a:rPr>
              <a:t>Improvement</a:t>
            </a:r>
            <a:endParaRPr lang="en-US" sz="750" dirty="0"/>
          </a:p>
        </p:txBody>
      </p:sp>
      <p:sp>
        <p:nvSpPr>
          <p:cNvPr id="104" name="Text 100"/>
          <p:cNvSpPr/>
          <p:nvPr/>
        </p:nvSpPr>
        <p:spPr>
          <a:xfrm>
            <a:off x="588395" y="6543303"/>
            <a:ext cx="11091672" cy="219456"/>
          </a:xfrm>
          <a:prstGeom prst="rect">
            <a:avLst/>
          </a:prstGeom>
          <a:noFill/>
          <a:ln/>
        </p:spPr>
        <p:txBody>
          <a:bodyPr wrap="square" rtlCol="0" anchor="ctr"/>
          <a:lstStyle/>
          <a:p>
            <a:pPr marL="0" indent="0">
              <a:lnSpc>
                <a:spcPct val="115000"/>
              </a:lnSpc>
              <a:buNone/>
            </a:pPr>
            <a:r>
              <a:rPr lang="en-US" sz="950" b="1" dirty="0">
                <a:solidFill>
                  <a:srgbClr val="12233F"/>
                </a:solidFill>
                <a:latin typeface="Arial" pitchFamily="34" charset="0"/>
                <a:ea typeface="Arial" pitchFamily="34" charset="-122"/>
                <a:cs typeface="Arial" pitchFamily="34" charset="-120"/>
              </a:rPr>
              <a:t>Engineering Outcome:  </a:t>
            </a:r>
            <a:r>
              <a:rPr lang="en-US" sz="950" dirty="0">
                <a:solidFill>
                  <a:srgbClr val="3A3A3A"/>
                </a:solidFill>
                <a:latin typeface="Arial" pitchFamily="34" charset="0"/>
                <a:ea typeface="Arial" pitchFamily="34" charset="-122"/>
                <a:cs typeface="Arial" pitchFamily="34" charset="-120"/>
              </a:rPr>
              <a:t>Unlocks real-time machine health intelligence, enabling predictive maintenance and data-driven fleet reliability improvement.</a:t>
            </a:r>
            <a:endParaRPr lang="en-US" sz="950" dirty="0"/>
          </a:p>
        </p:txBody>
      </p:sp>
      <p:pic>
        <p:nvPicPr>
          <p:cNvPr id="105" name="Picture 104">
            <a:extLst>
              <a:ext uri="{FF2B5EF4-FFF2-40B4-BE49-F238E27FC236}">
                <a16:creationId xmlns:a16="http://schemas.microsoft.com/office/drawing/2014/main" id="{6F9A64CB-EAC0-E88A-CE2E-F9FA4E953C75}"/>
              </a:ext>
            </a:extLst>
          </p:cNvPr>
          <p:cNvPicPr>
            <a:picLocks noChangeAspect="1"/>
          </p:cNvPicPr>
          <p:nvPr/>
        </p:nvPicPr>
        <p:blipFill>
          <a:blip r:embed="rId4">
            <a:extLst>
              <a:ext uri="{28A0092B-C50C-407E-A947-70E740481C1C}">
                <a14:useLocalDpi xmlns:a14="http://schemas.microsoft.com/office/drawing/2010/main" val="0"/>
              </a:ext>
            </a:extLst>
          </a:blip>
          <a:srcRect t="2648"/>
          <a:stretch>
            <a:fillRect/>
          </a:stretch>
        </p:blipFill>
        <p:spPr bwMode="auto">
          <a:xfrm>
            <a:off x="2863257" y="1003270"/>
            <a:ext cx="5878407" cy="3122841"/>
          </a:xfrm>
          <a:prstGeom prst="rect">
            <a:avLst/>
          </a:prstGeom>
          <a:noFill/>
        </p:spPr>
      </p:pic>
      <p:grpSp>
        <p:nvGrpSpPr>
          <p:cNvPr id="106" name="Group 5">
            <a:extLst>
              <a:ext uri="{FF2B5EF4-FFF2-40B4-BE49-F238E27FC236}">
                <a16:creationId xmlns:a16="http://schemas.microsoft.com/office/drawing/2014/main" id="{7C0446A4-48B5-3FB3-78D6-61AFF3F9B06E}"/>
              </a:ext>
            </a:extLst>
          </p:cNvPr>
          <p:cNvGrpSpPr/>
          <p:nvPr/>
        </p:nvGrpSpPr>
        <p:grpSpPr>
          <a:xfrm>
            <a:off x="489373" y="491468"/>
            <a:ext cx="6696000" cy="45719"/>
            <a:chOff x="0" y="0"/>
            <a:chExt cx="14068412" cy="121920"/>
          </a:xfrm>
        </p:grpSpPr>
        <p:sp>
          <p:nvSpPr>
            <p:cNvPr id="107" name="Freeform 6" descr="D:\Corp Comm Department Work 2015\Brand Adani 2012\adani_gradient_master.jpg">
              <a:extLst>
                <a:ext uri="{FF2B5EF4-FFF2-40B4-BE49-F238E27FC236}">
                  <a16:creationId xmlns:a16="http://schemas.microsoft.com/office/drawing/2014/main" id="{6BACFDE4-F1FF-743A-90FD-F8FCDBC3D9BF}"/>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5"/>
              <a:stretch>
                <a:fillRect b="-5072"/>
              </a:stretch>
            </a:blipFill>
          </p:spPr>
          <p:txBody>
            <a:bodyPr/>
            <a:lstStyle/>
            <a:p>
              <a:endParaRPr lang="en-IN"/>
            </a:p>
          </p:txBody>
        </p:sp>
      </p:grpSp>
      <p:grpSp>
        <p:nvGrpSpPr>
          <p:cNvPr id="108" name="Group 3">
            <a:extLst>
              <a:ext uri="{FF2B5EF4-FFF2-40B4-BE49-F238E27FC236}">
                <a16:creationId xmlns:a16="http://schemas.microsoft.com/office/drawing/2014/main" id="{5B7205E3-974D-7422-AE6B-F0C78A76D479}"/>
              </a:ext>
            </a:extLst>
          </p:cNvPr>
          <p:cNvGrpSpPr/>
          <p:nvPr/>
        </p:nvGrpSpPr>
        <p:grpSpPr>
          <a:xfrm>
            <a:off x="9922764" y="-41028"/>
            <a:ext cx="2136000" cy="669944"/>
            <a:chOff x="0" y="0"/>
            <a:chExt cx="4272001" cy="1339888"/>
          </a:xfrm>
        </p:grpSpPr>
        <p:sp>
          <p:nvSpPr>
            <p:cNvPr id="109" name="Freeform 4">
              <a:extLst>
                <a:ext uri="{FF2B5EF4-FFF2-40B4-BE49-F238E27FC236}">
                  <a16:creationId xmlns:a16="http://schemas.microsoft.com/office/drawing/2014/main" id="{F78AE035-E22A-5AA6-CA2F-D3C80D688A40}"/>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6"/>
              <a:stretch>
                <a:fillRect l="-470838" t="-924095" b="-2"/>
              </a:stretch>
            </a:blipFill>
          </p:spPr>
        </p:sp>
      </p:grpSp>
    </p:spTree>
    <p:extLst>
      <p:ext uri="{BB962C8B-B14F-4D97-AF65-F5344CB8AC3E}">
        <p14:creationId xmlns:p14="http://schemas.microsoft.com/office/powerpoint/2010/main" val="3457630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8385" y="320040"/>
            <a:ext cx="10515600" cy="402336"/>
          </a:xfrm>
          <a:prstGeom prst="rect">
            <a:avLst/>
          </a:prstGeom>
          <a:noFill/>
          <a:ln/>
        </p:spPr>
        <p:txBody>
          <a:bodyPr wrap="square" rtlCol="0" anchor="ctr"/>
          <a:lstStyle/>
          <a:p>
            <a:pPr marL="0" indent="0">
              <a:buNone/>
            </a:pPr>
            <a:r>
              <a:rPr lang="en-US" sz="2100" dirty="0">
                <a:solidFill>
                  <a:srgbClr val="0070C0"/>
                </a:solidFill>
                <a:latin typeface="Arial" pitchFamily="34" charset="0"/>
                <a:ea typeface="Arial" pitchFamily="34" charset="-122"/>
                <a:cs typeface="Arial" pitchFamily="34" charset="-120"/>
              </a:rPr>
              <a:t>Dynamic Truck Factor — Mathematical Derivation</a:t>
            </a:r>
            <a:endParaRPr lang="en-US" sz="2100" dirty="0"/>
          </a:p>
        </p:txBody>
      </p:sp>
      <p:sp>
        <p:nvSpPr>
          <p:cNvPr id="54" name="Text 51"/>
          <p:cNvSpPr/>
          <p:nvPr/>
        </p:nvSpPr>
        <p:spPr>
          <a:xfrm>
            <a:off x="544068" y="882396"/>
            <a:ext cx="11091672" cy="201168"/>
          </a:xfrm>
          <a:prstGeom prst="rect">
            <a:avLst/>
          </a:prstGeom>
          <a:noFill/>
          <a:ln/>
        </p:spPr>
        <p:txBody>
          <a:bodyPr wrap="square" rtlCol="0" anchor="ctr"/>
          <a:lstStyle/>
          <a:p>
            <a:pPr marL="0" indent="0">
              <a:buNone/>
            </a:pPr>
            <a:r>
              <a:rPr lang="en-US" sz="1000" i="1" dirty="0">
                <a:solidFill>
                  <a:srgbClr val="6B6B6B"/>
                </a:solidFill>
                <a:latin typeface="Arial" pitchFamily="34" charset="0"/>
                <a:ea typeface="Arial" pitchFamily="34" charset="-122"/>
                <a:cs typeface="Arial" pitchFamily="34" charset="-120"/>
              </a:rPr>
              <a:t>Engineering derivation of the Dynamic Truck Factor using periodic survey reconciliation.</a:t>
            </a:r>
            <a:endParaRPr lang="en-US" sz="1000" dirty="0"/>
          </a:p>
        </p:txBody>
      </p:sp>
      <p:sp>
        <p:nvSpPr>
          <p:cNvPr id="55" name="Shape 52"/>
          <p:cNvSpPr/>
          <p:nvPr/>
        </p:nvSpPr>
        <p:spPr>
          <a:xfrm>
            <a:off x="548640" y="1156121"/>
            <a:ext cx="11091672" cy="685800"/>
          </a:xfrm>
          <a:prstGeom prst="rect">
            <a:avLst/>
          </a:prstGeom>
          <a:solidFill>
            <a:srgbClr val="F9F9FA"/>
          </a:solidFill>
          <a:ln/>
        </p:spPr>
      </p:sp>
      <p:sp>
        <p:nvSpPr>
          <p:cNvPr id="56" name="Text 53"/>
          <p:cNvSpPr/>
          <p:nvPr/>
        </p:nvSpPr>
        <p:spPr>
          <a:xfrm>
            <a:off x="777240" y="1247561"/>
            <a:ext cx="3200400" cy="164592"/>
          </a:xfrm>
          <a:prstGeom prst="rect">
            <a:avLst/>
          </a:prstGeom>
          <a:noFill/>
          <a:ln/>
        </p:spPr>
        <p:txBody>
          <a:bodyPr wrap="square" rtlCol="0" anchor="ctr"/>
          <a:lstStyle/>
          <a:p>
            <a:pPr marL="0" indent="0">
              <a:buNone/>
            </a:pPr>
            <a:r>
              <a:rPr lang="en-US" sz="900" b="1" kern="0" spc="80" dirty="0">
                <a:solidFill>
                  <a:srgbClr val="6B6B6B"/>
                </a:solidFill>
                <a:latin typeface="Arial" pitchFamily="34" charset="0"/>
                <a:ea typeface="Arial" pitchFamily="34" charset="-122"/>
                <a:cs typeface="Arial" pitchFamily="34" charset="-120"/>
              </a:rPr>
              <a:t>DEVIATION FACTOR (ε)</a:t>
            </a:r>
            <a:endParaRPr lang="en-US" sz="900" dirty="0"/>
          </a:p>
        </p:txBody>
      </p:sp>
      <p:sp>
        <p:nvSpPr>
          <p:cNvPr id="57" name="Text 54"/>
          <p:cNvSpPr/>
          <p:nvPr/>
        </p:nvSpPr>
        <p:spPr>
          <a:xfrm>
            <a:off x="777240" y="1430441"/>
            <a:ext cx="3931920" cy="365760"/>
          </a:xfrm>
          <a:prstGeom prst="rect">
            <a:avLst/>
          </a:prstGeom>
          <a:noFill/>
          <a:ln/>
        </p:spPr>
        <p:txBody>
          <a:bodyPr wrap="square" rtlCol="0" anchor="ctr"/>
          <a:lstStyle/>
          <a:p>
            <a:pPr marL="0" indent="0">
              <a:buNone/>
            </a:pPr>
            <a:r>
              <a:rPr lang="en-US" sz="1600" b="1" dirty="0">
                <a:solidFill>
                  <a:srgbClr val="12233F"/>
                </a:solidFill>
                <a:latin typeface="Cambria Math" pitchFamily="34" charset="0"/>
                <a:ea typeface="Cambria Math" pitchFamily="34" charset="-122"/>
                <a:cs typeface="Cambria Math" pitchFamily="34" charset="-120"/>
              </a:rPr>
              <a:t>ε  =  (V</a:t>
            </a:r>
            <a:r>
              <a:rPr lang="en-US" sz="1088" b="1" i="1" dirty="0">
                <a:solidFill>
                  <a:srgbClr val="12233F"/>
                </a:solidFill>
                <a:latin typeface="Cambria Math" pitchFamily="34" charset="0"/>
                <a:ea typeface="Cambria Math" pitchFamily="34" charset="-122"/>
                <a:cs typeface="Cambria Math" pitchFamily="34" charset="-120"/>
              </a:rPr>
              <a:t>Survey</a:t>
            </a:r>
            <a:r>
              <a:rPr lang="en-US" sz="1600" b="1" dirty="0">
                <a:solidFill>
                  <a:srgbClr val="12233F"/>
                </a:solidFill>
                <a:latin typeface="Cambria Math" pitchFamily="34" charset="0"/>
                <a:ea typeface="Cambria Math" pitchFamily="34" charset="-122"/>
                <a:cs typeface="Cambria Math" pitchFamily="34" charset="-120"/>
              </a:rPr>
              <a:t> − V</a:t>
            </a:r>
            <a:r>
              <a:rPr lang="en-US" sz="1088" b="1" i="1" dirty="0">
                <a:solidFill>
                  <a:srgbClr val="12233F"/>
                </a:solidFill>
                <a:latin typeface="Cambria Math" pitchFamily="34" charset="0"/>
                <a:ea typeface="Cambria Math" pitchFamily="34" charset="-122"/>
                <a:cs typeface="Cambria Math" pitchFamily="34" charset="-120"/>
              </a:rPr>
              <a:t>FMS</a:t>
            </a:r>
            <a:r>
              <a:rPr lang="en-US" sz="1600" b="1" dirty="0">
                <a:solidFill>
                  <a:srgbClr val="12233F"/>
                </a:solidFill>
                <a:latin typeface="Cambria Math" pitchFamily="34" charset="0"/>
                <a:ea typeface="Cambria Math" pitchFamily="34" charset="-122"/>
                <a:cs typeface="Cambria Math" pitchFamily="34" charset="-120"/>
              </a:rPr>
              <a:t>) / V</a:t>
            </a:r>
            <a:r>
              <a:rPr lang="en-US" sz="1088" b="1" i="1" dirty="0">
                <a:solidFill>
                  <a:srgbClr val="12233F"/>
                </a:solidFill>
                <a:latin typeface="Cambria Math" pitchFamily="34" charset="0"/>
                <a:ea typeface="Cambria Math" pitchFamily="34" charset="-122"/>
                <a:cs typeface="Cambria Math" pitchFamily="34" charset="-120"/>
              </a:rPr>
              <a:t>FMS</a:t>
            </a:r>
            <a:endParaRPr lang="en-US" sz="1600" dirty="0"/>
          </a:p>
        </p:txBody>
      </p:sp>
      <p:sp>
        <p:nvSpPr>
          <p:cNvPr id="58" name="Text 55"/>
          <p:cNvSpPr/>
          <p:nvPr/>
        </p:nvSpPr>
        <p:spPr>
          <a:xfrm>
            <a:off x="5120640" y="1320713"/>
            <a:ext cx="6309360" cy="502920"/>
          </a:xfrm>
          <a:prstGeom prst="rect">
            <a:avLst/>
          </a:prstGeom>
          <a:noFill/>
          <a:ln/>
        </p:spPr>
        <p:txBody>
          <a:bodyPr wrap="square" rtlCol="0" anchor="ctr"/>
          <a:lstStyle/>
          <a:p>
            <a:pPr marL="0" indent="0">
              <a:lnSpc>
                <a:spcPct val="135000"/>
              </a:lnSpc>
              <a:buNone/>
            </a:pPr>
            <a:r>
              <a:rPr lang="en-US" sz="1000" dirty="0">
                <a:solidFill>
                  <a:srgbClr val="3A3A3A"/>
                </a:solidFill>
                <a:latin typeface="Arial" pitchFamily="34" charset="0"/>
                <a:ea typeface="Arial" pitchFamily="34" charset="-122"/>
                <a:cs typeface="Arial" pitchFamily="34" charset="-120"/>
              </a:rPr>
              <a:t>ε &gt; 0  →  FMS Underestimation  →  Increase TF
ε &lt; 0  →  FMS Overestimation  →  Reduce TF</a:t>
            </a:r>
            <a:endParaRPr lang="en-US" sz="1000" dirty="0"/>
          </a:p>
        </p:txBody>
      </p:sp>
      <p:sp>
        <p:nvSpPr>
          <p:cNvPr id="59" name="Shape 56"/>
          <p:cNvSpPr/>
          <p:nvPr/>
        </p:nvSpPr>
        <p:spPr>
          <a:xfrm>
            <a:off x="548640" y="1959602"/>
            <a:ext cx="11091672" cy="5486"/>
          </a:xfrm>
          <a:prstGeom prst="rect">
            <a:avLst/>
          </a:prstGeom>
          <a:solidFill>
            <a:srgbClr val="D9D9D9"/>
          </a:solidFill>
          <a:ln/>
        </p:spPr>
      </p:sp>
      <p:sp>
        <p:nvSpPr>
          <p:cNvPr id="60" name="Text 57"/>
          <p:cNvSpPr/>
          <p:nvPr/>
        </p:nvSpPr>
        <p:spPr>
          <a:xfrm>
            <a:off x="548640" y="2085232"/>
            <a:ext cx="5486400" cy="164592"/>
          </a:xfrm>
          <a:prstGeom prst="rect">
            <a:avLst/>
          </a:prstGeom>
          <a:noFill/>
          <a:ln/>
        </p:spPr>
        <p:txBody>
          <a:bodyPr wrap="square" rtlCol="0" anchor="ctr"/>
          <a:lstStyle/>
          <a:p>
            <a:pPr marL="0" indent="0">
              <a:buNone/>
            </a:pPr>
            <a:r>
              <a:rPr lang="en-US" sz="900" b="1" kern="0" spc="80" dirty="0">
                <a:solidFill>
                  <a:srgbClr val="6B6B6B"/>
                </a:solidFill>
                <a:latin typeface="Arial" pitchFamily="34" charset="0"/>
                <a:ea typeface="Arial" pitchFamily="34" charset="-122"/>
                <a:cs typeface="Arial" pitchFamily="34" charset="-120"/>
              </a:rPr>
              <a:t>MATHEMATICAL DERIVATION</a:t>
            </a:r>
            <a:endParaRPr lang="en-US" sz="900" dirty="0"/>
          </a:p>
        </p:txBody>
      </p:sp>
      <p:sp>
        <p:nvSpPr>
          <p:cNvPr id="61" name="Text 58"/>
          <p:cNvSpPr/>
          <p:nvPr/>
        </p:nvSpPr>
        <p:spPr>
          <a:xfrm>
            <a:off x="2898648" y="2288786"/>
            <a:ext cx="6400800" cy="310896"/>
          </a:xfrm>
          <a:prstGeom prst="rect">
            <a:avLst/>
          </a:prstGeom>
          <a:noFill/>
          <a:ln/>
        </p:spPr>
        <p:txBody>
          <a:bodyPr wrap="square" rtlCol="0" anchor="ctr"/>
          <a:lstStyle/>
          <a:p>
            <a:pPr marL="0" indent="0" algn="ctr">
              <a:buNone/>
            </a:pPr>
            <a:r>
              <a:rPr lang="en-US" sz="1400" b="1" dirty="0">
                <a:solidFill>
                  <a:srgbClr val="12233F"/>
                </a:solidFill>
                <a:latin typeface="Cambria Math" pitchFamily="34" charset="0"/>
                <a:ea typeface="Cambria Math" pitchFamily="34" charset="-122"/>
                <a:cs typeface="Cambria Math" pitchFamily="34" charset="-120"/>
              </a:rPr>
              <a:t>V</a:t>
            </a:r>
            <a:r>
              <a:rPr lang="en-US" sz="952" b="1" i="1" dirty="0">
                <a:solidFill>
                  <a:srgbClr val="12233F"/>
                </a:solidFill>
                <a:latin typeface="Cambria Math" pitchFamily="34" charset="0"/>
                <a:ea typeface="Cambria Math" pitchFamily="34" charset="-122"/>
                <a:cs typeface="Cambria Math" pitchFamily="34" charset="-120"/>
              </a:rPr>
              <a:t>Actual</a:t>
            </a:r>
            <a:r>
              <a:rPr lang="en-US" sz="1400" b="1" dirty="0">
                <a:solidFill>
                  <a:srgbClr val="12233F"/>
                </a:solidFill>
                <a:latin typeface="Cambria Math" pitchFamily="34" charset="0"/>
                <a:ea typeface="Cambria Math" pitchFamily="34" charset="-122"/>
                <a:cs typeface="Cambria Math" pitchFamily="34" charset="-120"/>
              </a:rPr>
              <a:t>  =  V</a:t>
            </a:r>
            <a:r>
              <a:rPr lang="en-US" sz="952" b="1" i="1" dirty="0">
                <a:solidFill>
                  <a:srgbClr val="12233F"/>
                </a:solidFill>
                <a:latin typeface="Cambria Math" pitchFamily="34" charset="0"/>
                <a:ea typeface="Cambria Math" pitchFamily="34" charset="-122"/>
                <a:cs typeface="Cambria Math" pitchFamily="34" charset="-120"/>
              </a:rPr>
              <a:t>FMS</a:t>
            </a:r>
            <a:r>
              <a:rPr lang="en-US" sz="1400" b="1" i="1" dirty="0">
                <a:solidFill>
                  <a:srgbClr val="12233F"/>
                </a:solidFill>
                <a:latin typeface="Cambria Math" pitchFamily="34" charset="0"/>
                <a:ea typeface="Cambria Math" pitchFamily="34" charset="-122"/>
                <a:cs typeface="Cambria Math" pitchFamily="34" charset="-120"/>
              </a:rPr>
              <a:t> (1 + ε)</a:t>
            </a:r>
            <a:endParaRPr lang="en-US" sz="1400" dirty="0"/>
          </a:p>
        </p:txBody>
      </p:sp>
      <p:sp>
        <p:nvSpPr>
          <p:cNvPr id="62" name="Text 59"/>
          <p:cNvSpPr/>
          <p:nvPr/>
        </p:nvSpPr>
        <p:spPr>
          <a:xfrm>
            <a:off x="5824728" y="2586959"/>
            <a:ext cx="548640" cy="164592"/>
          </a:xfrm>
          <a:prstGeom prst="rect">
            <a:avLst/>
          </a:prstGeom>
          <a:noFill/>
          <a:ln/>
        </p:spPr>
        <p:txBody>
          <a:bodyPr wrap="square" rtlCol="0" anchor="ctr"/>
          <a:lstStyle/>
          <a:p>
            <a:pPr marL="0" indent="0" algn="ctr">
              <a:buNone/>
            </a:pPr>
            <a:r>
              <a:rPr lang="en-US" sz="1100" dirty="0">
                <a:solidFill>
                  <a:srgbClr val="6B6B6B"/>
                </a:solidFill>
                <a:latin typeface="Arial" pitchFamily="34" charset="0"/>
                <a:ea typeface="Arial" pitchFamily="34" charset="-122"/>
                <a:cs typeface="Arial" pitchFamily="34" charset="-120"/>
              </a:rPr>
              <a:t>↓</a:t>
            </a:r>
            <a:endParaRPr lang="en-US" sz="1100" dirty="0"/>
          </a:p>
        </p:txBody>
      </p:sp>
      <p:sp>
        <p:nvSpPr>
          <p:cNvPr id="63" name="Text 60"/>
          <p:cNvSpPr/>
          <p:nvPr/>
        </p:nvSpPr>
        <p:spPr>
          <a:xfrm>
            <a:off x="2898648" y="2709410"/>
            <a:ext cx="6400800" cy="310896"/>
          </a:xfrm>
          <a:prstGeom prst="rect">
            <a:avLst/>
          </a:prstGeom>
          <a:noFill/>
          <a:ln/>
        </p:spPr>
        <p:txBody>
          <a:bodyPr wrap="square" rtlCol="0" anchor="ctr"/>
          <a:lstStyle/>
          <a:p>
            <a:pPr marL="0" indent="0" algn="ctr">
              <a:buNone/>
            </a:pPr>
            <a:r>
              <a:rPr lang="en-US" sz="1400" b="1" dirty="0">
                <a:solidFill>
                  <a:srgbClr val="12233F"/>
                </a:solidFill>
                <a:latin typeface="Cambria Math" pitchFamily="34" charset="0"/>
                <a:ea typeface="Cambria Math" pitchFamily="34" charset="-122"/>
                <a:cs typeface="Cambria Math" pitchFamily="34" charset="-120"/>
              </a:rPr>
              <a:t>V</a:t>
            </a:r>
            <a:r>
              <a:rPr lang="en-US" sz="952" b="1" i="1" dirty="0">
                <a:solidFill>
                  <a:srgbClr val="12233F"/>
                </a:solidFill>
                <a:latin typeface="Cambria Math" pitchFamily="34" charset="0"/>
                <a:ea typeface="Cambria Math" pitchFamily="34" charset="-122"/>
                <a:cs typeface="Cambria Math" pitchFamily="34" charset="-120"/>
              </a:rPr>
              <a:t>FMS</a:t>
            </a:r>
            <a:r>
              <a:rPr lang="en-US" sz="1400" b="1" dirty="0">
                <a:solidFill>
                  <a:srgbClr val="12233F"/>
                </a:solidFill>
                <a:latin typeface="Cambria Math" pitchFamily="34" charset="0"/>
                <a:ea typeface="Cambria Math" pitchFamily="34" charset="-122"/>
                <a:cs typeface="Cambria Math" pitchFamily="34" charset="-120"/>
              </a:rPr>
              <a:t>  =  TF</a:t>
            </a:r>
            <a:r>
              <a:rPr lang="en-US" sz="952" b="1" i="1" dirty="0">
                <a:solidFill>
                  <a:srgbClr val="12233F"/>
                </a:solidFill>
                <a:latin typeface="Cambria Math" pitchFamily="34" charset="0"/>
                <a:ea typeface="Cambria Math" pitchFamily="34" charset="-122"/>
                <a:cs typeface="Cambria Math" pitchFamily="34" charset="-120"/>
              </a:rPr>
              <a:t>Static</a:t>
            </a:r>
            <a:r>
              <a:rPr lang="en-US" sz="1400" b="1" dirty="0">
                <a:solidFill>
                  <a:srgbClr val="12233F"/>
                </a:solidFill>
                <a:latin typeface="Cambria Math" pitchFamily="34" charset="0"/>
                <a:ea typeface="Cambria Math" pitchFamily="34" charset="-122"/>
                <a:cs typeface="Cambria Math" pitchFamily="34" charset="-120"/>
              </a:rPr>
              <a:t> × N</a:t>
            </a:r>
            <a:r>
              <a:rPr lang="en-US" sz="952" b="1" i="1" dirty="0">
                <a:solidFill>
                  <a:srgbClr val="12233F"/>
                </a:solidFill>
                <a:latin typeface="Cambria Math" pitchFamily="34" charset="0"/>
                <a:ea typeface="Cambria Math" pitchFamily="34" charset="-122"/>
                <a:cs typeface="Cambria Math" pitchFamily="34" charset="-120"/>
              </a:rPr>
              <a:t>Trips</a:t>
            </a:r>
            <a:endParaRPr lang="en-US" sz="1400" dirty="0"/>
          </a:p>
        </p:txBody>
      </p:sp>
      <p:sp>
        <p:nvSpPr>
          <p:cNvPr id="64" name="Text 61"/>
          <p:cNvSpPr/>
          <p:nvPr/>
        </p:nvSpPr>
        <p:spPr>
          <a:xfrm>
            <a:off x="5824728" y="3007583"/>
            <a:ext cx="548640" cy="164592"/>
          </a:xfrm>
          <a:prstGeom prst="rect">
            <a:avLst/>
          </a:prstGeom>
          <a:noFill/>
          <a:ln/>
        </p:spPr>
        <p:txBody>
          <a:bodyPr wrap="square" rtlCol="0" anchor="ctr"/>
          <a:lstStyle/>
          <a:p>
            <a:pPr marL="0" indent="0" algn="ctr">
              <a:buNone/>
            </a:pPr>
            <a:r>
              <a:rPr lang="en-US" sz="1100" dirty="0">
                <a:solidFill>
                  <a:srgbClr val="6B6B6B"/>
                </a:solidFill>
                <a:latin typeface="Arial" pitchFamily="34" charset="0"/>
                <a:ea typeface="Arial" pitchFamily="34" charset="-122"/>
                <a:cs typeface="Arial" pitchFamily="34" charset="-120"/>
              </a:rPr>
              <a:t>↓</a:t>
            </a:r>
            <a:endParaRPr lang="en-US" sz="1100" dirty="0"/>
          </a:p>
        </p:txBody>
      </p:sp>
      <p:sp>
        <p:nvSpPr>
          <p:cNvPr id="65" name="Text 62"/>
          <p:cNvSpPr/>
          <p:nvPr/>
        </p:nvSpPr>
        <p:spPr>
          <a:xfrm>
            <a:off x="2898648" y="3130034"/>
            <a:ext cx="6400800" cy="310896"/>
          </a:xfrm>
          <a:prstGeom prst="rect">
            <a:avLst/>
          </a:prstGeom>
          <a:noFill/>
          <a:ln/>
        </p:spPr>
        <p:txBody>
          <a:bodyPr wrap="square" rtlCol="0" anchor="ctr"/>
          <a:lstStyle/>
          <a:p>
            <a:pPr marL="0" indent="0" algn="ctr">
              <a:buNone/>
            </a:pPr>
            <a:r>
              <a:rPr lang="en-US" sz="1400" b="1" dirty="0">
                <a:solidFill>
                  <a:srgbClr val="12233F"/>
                </a:solidFill>
                <a:latin typeface="Cambria Math" pitchFamily="34" charset="0"/>
                <a:ea typeface="Cambria Math" pitchFamily="34" charset="-122"/>
                <a:cs typeface="Cambria Math" pitchFamily="34" charset="-120"/>
              </a:rPr>
              <a:t>V</a:t>
            </a:r>
            <a:r>
              <a:rPr lang="en-US" sz="952" b="1" i="1" dirty="0">
                <a:solidFill>
                  <a:srgbClr val="12233F"/>
                </a:solidFill>
                <a:latin typeface="Cambria Math" pitchFamily="34" charset="0"/>
                <a:ea typeface="Cambria Math" pitchFamily="34" charset="-122"/>
                <a:cs typeface="Cambria Math" pitchFamily="34" charset="-120"/>
              </a:rPr>
              <a:t>Actual</a:t>
            </a:r>
            <a:r>
              <a:rPr lang="en-US" sz="1400" b="1" dirty="0">
                <a:solidFill>
                  <a:srgbClr val="12233F"/>
                </a:solidFill>
                <a:latin typeface="Cambria Math" pitchFamily="34" charset="0"/>
                <a:ea typeface="Cambria Math" pitchFamily="34" charset="-122"/>
                <a:cs typeface="Cambria Math" pitchFamily="34" charset="-120"/>
              </a:rPr>
              <a:t>  =  TF</a:t>
            </a:r>
            <a:r>
              <a:rPr lang="en-US" sz="952" b="1" i="1" dirty="0">
                <a:solidFill>
                  <a:srgbClr val="12233F"/>
                </a:solidFill>
                <a:latin typeface="Cambria Math" pitchFamily="34" charset="0"/>
                <a:ea typeface="Cambria Math" pitchFamily="34" charset="-122"/>
                <a:cs typeface="Cambria Math" pitchFamily="34" charset="-120"/>
              </a:rPr>
              <a:t>Static</a:t>
            </a:r>
            <a:r>
              <a:rPr lang="en-US" sz="1400" b="1" dirty="0">
                <a:solidFill>
                  <a:srgbClr val="12233F"/>
                </a:solidFill>
                <a:latin typeface="Cambria Math" pitchFamily="34" charset="0"/>
                <a:ea typeface="Cambria Math" pitchFamily="34" charset="-122"/>
                <a:cs typeface="Cambria Math" pitchFamily="34" charset="-120"/>
              </a:rPr>
              <a:t> × N</a:t>
            </a:r>
            <a:r>
              <a:rPr lang="en-US" sz="952" b="1" i="1" dirty="0">
                <a:solidFill>
                  <a:srgbClr val="12233F"/>
                </a:solidFill>
                <a:latin typeface="Cambria Math" pitchFamily="34" charset="0"/>
                <a:ea typeface="Cambria Math" pitchFamily="34" charset="-122"/>
                <a:cs typeface="Cambria Math" pitchFamily="34" charset="-120"/>
              </a:rPr>
              <a:t>Trips</a:t>
            </a:r>
            <a:r>
              <a:rPr lang="en-US" sz="1400" b="1" i="1" dirty="0">
                <a:solidFill>
                  <a:srgbClr val="12233F"/>
                </a:solidFill>
                <a:latin typeface="Cambria Math" pitchFamily="34" charset="0"/>
                <a:ea typeface="Cambria Math" pitchFamily="34" charset="-122"/>
                <a:cs typeface="Cambria Math" pitchFamily="34" charset="-120"/>
              </a:rPr>
              <a:t> (1 + ε)</a:t>
            </a:r>
            <a:endParaRPr lang="en-US" sz="1400" dirty="0"/>
          </a:p>
        </p:txBody>
      </p:sp>
      <p:sp>
        <p:nvSpPr>
          <p:cNvPr id="66" name="Text 63"/>
          <p:cNvSpPr/>
          <p:nvPr/>
        </p:nvSpPr>
        <p:spPr>
          <a:xfrm>
            <a:off x="5824728" y="3404354"/>
            <a:ext cx="548640" cy="164592"/>
          </a:xfrm>
          <a:prstGeom prst="rect">
            <a:avLst/>
          </a:prstGeom>
          <a:noFill/>
          <a:ln/>
        </p:spPr>
        <p:txBody>
          <a:bodyPr wrap="square" rtlCol="0" anchor="ctr"/>
          <a:lstStyle/>
          <a:p>
            <a:pPr marL="0" indent="0" algn="ctr">
              <a:buNone/>
            </a:pPr>
            <a:r>
              <a:rPr lang="en-US" sz="1100" dirty="0">
                <a:solidFill>
                  <a:srgbClr val="6B6B6B"/>
                </a:solidFill>
                <a:latin typeface="Arial" pitchFamily="34" charset="0"/>
                <a:ea typeface="Arial" pitchFamily="34" charset="-122"/>
                <a:cs typeface="Arial" pitchFamily="34" charset="-120"/>
              </a:rPr>
              <a:t>↓</a:t>
            </a:r>
            <a:endParaRPr lang="en-US" sz="1100" dirty="0"/>
          </a:p>
        </p:txBody>
      </p:sp>
      <p:sp>
        <p:nvSpPr>
          <p:cNvPr id="67" name="Text 64"/>
          <p:cNvSpPr/>
          <p:nvPr/>
        </p:nvSpPr>
        <p:spPr>
          <a:xfrm>
            <a:off x="4270248" y="3572127"/>
            <a:ext cx="3657600" cy="182880"/>
          </a:xfrm>
          <a:prstGeom prst="rect">
            <a:avLst/>
          </a:prstGeom>
          <a:noFill/>
          <a:ln/>
        </p:spPr>
        <p:txBody>
          <a:bodyPr wrap="square" rtlCol="0" anchor="ctr"/>
          <a:lstStyle/>
          <a:p>
            <a:pPr marL="0" indent="0" algn="ctr">
              <a:buNone/>
            </a:pPr>
            <a:r>
              <a:rPr lang="en-US" sz="900" i="1" dirty="0">
                <a:solidFill>
                  <a:srgbClr val="6B6B6B"/>
                </a:solidFill>
                <a:latin typeface="Arial" pitchFamily="34" charset="0"/>
                <a:ea typeface="Arial" pitchFamily="34" charset="-122"/>
                <a:cs typeface="Arial" pitchFamily="34" charset="-120"/>
              </a:rPr>
              <a:t>Divide both sides by N Trips</a:t>
            </a:r>
            <a:endParaRPr lang="en-US" sz="900" dirty="0"/>
          </a:p>
        </p:txBody>
      </p:sp>
      <p:sp>
        <p:nvSpPr>
          <p:cNvPr id="68" name="Text 65"/>
          <p:cNvSpPr/>
          <p:nvPr/>
        </p:nvSpPr>
        <p:spPr>
          <a:xfrm>
            <a:off x="5824728" y="3755005"/>
            <a:ext cx="548640" cy="164592"/>
          </a:xfrm>
          <a:prstGeom prst="rect">
            <a:avLst/>
          </a:prstGeom>
          <a:noFill/>
          <a:ln/>
        </p:spPr>
        <p:txBody>
          <a:bodyPr wrap="square" rtlCol="0" anchor="ctr"/>
          <a:lstStyle/>
          <a:p>
            <a:pPr marL="0" indent="0" algn="ctr">
              <a:buNone/>
            </a:pPr>
            <a:r>
              <a:rPr lang="en-US" sz="1100" dirty="0">
                <a:solidFill>
                  <a:srgbClr val="6B6B6B"/>
                </a:solidFill>
                <a:latin typeface="Arial" pitchFamily="34" charset="0"/>
                <a:ea typeface="Arial" pitchFamily="34" charset="-122"/>
                <a:cs typeface="Arial" pitchFamily="34" charset="-120"/>
              </a:rPr>
              <a:t>↓</a:t>
            </a:r>
            <a:endParaRPr lang="en-US" sz="1100" dirty="0"/>
          </a:p>
        </p:txBody>
      </p:sp>
      <p:sp>
        <p:nvSpPr>
          <p:cNvPr id="70" name="Text 67"/>
          <p:cNvSpPr/>
          <p:nvPr/>
        </p:nvSpPr>
        <p:spPr>
          <a:xfrm>
            <a:off x="3721608" y="3861554"/>
            <a:ext cx="4754880" cy="475488"/>
          </a:xfrm>
          <a:prstGeom prst="rect">
            <a:avLst/>
          </a:prstGeom>
          <a:noFill/>
          <a:ln/>
        </p:spPr>
        <p:txBody>
          <a:bodyPr wrap="square" rtlCol="0" anchor="ctr"/>
          <a:lstStyle/>
          <a:p>
            <a:pPr marL="0" indent="0" algn="ctr">
              <a:buNone/>
            </a:pPr>
            <a:r>
              <a:rPr lang="en-US" sz="1800" b="1" dirty="0">
                <a:solidFill>
                  <a:srgbClr val="0070C0"/>
                </a:solidFill>
                <a:latin typeface="Cambria Math" pitchFamily="34" charset="0"/>
                <a:ea typeface="Cambria Math" pitchFamily="34" charset="-122"/>
                <a:cs typeface="Cambria Math" pitchFamily="34" charset="-120"/>
              </a:rPr>
              <a:t>TF</a:t>
            </a:r>
            <a:r>
              <a:rPr lang="en-US" sz="1224" b="1" i="1" dirty="0">
                <a:solidFill>
                  <a:srgbClr val="0070C0"/>
                </a:solidFill>
                <a:latin typeface="Cambria Math" pitchFamily="34" charset="0"/>
                <a:ea typeface="Cambria Math" pitchFamily="34" charset="-122"/>
                <a:cs typeface="Cambria Math" pitchFamily="34" charset="-120"/>
              </a:rPr>
              <a:t>Dynamic</a:t>
            </a:r>
            <a:r>
              <a:rPr lang="en-US" sz="1800" b="1" dirty="0">
                <a:solidFill>
                  <a:srgbClr val="0070C0"/>
                </a:solidFill>
                <a:latin typeface="Cambria Math" pitchFamily="34" charset="0"/>
                <a:ea typeface="Cambria Math" pitchFamily="34" charset="-122"/>
                <a:cs typeface="Cambria Math" pitchFamily="34" charset="-120"/>
              </a:rPr>
              <a:t>  =  TF</a:t>
            </a:r>
            <a:r>
              <a:rPr lang="en-US" sz="1224" b="1" i="1" dirty="0">
                <a:solidFill>
                  <a:srgbClr val="0070C0"/>
                </a:solidFill>
                <a:latin typeface="Cambria Math" pitchFamily="34" charset="0"/>
                <a:ea typeface="Cambria Math" pitchFamily="34" charset="-122"/>
                <a:cs typeface="Cambria Math" pitchFamily="34" charset="-120"/>
              </a:rPr>
              <a:t>Static</a:t>
            </a:r>
            <a:r>
              <a:rPr lang="en-US" sz="1800" b="1" i="1" dirty="0">
                <a:solidFill>
                  <a:srgbClr val="0070C0"/>
                </a:solidFill>
                <a:latin typeface="Cambria Math" pitchFamily="34" charset="0"/>
                <a:ea typeface="Cambria Math" pitchFamily="34" charset="-122"/>
                <a:cs typeface="Cambria Math" pitchFamily="34" charset="-120"/>
              </a:rPr>
              <a:t> (1 + ε)</a:t>
            </a:r>
            <a:endParaRPr lang="en-US" sz="1800" dirty="0"/>
          </a:p>
        </p:txBody>
      </p:sp>
      <p:sp>
        <p:nvSpPr>
          <p:cNvPr id="71" name="Shape 68"/>
          <p:cNvSpPr/>
          <p:nvPr/>
        </p:nvSpPr>
        <p:spPr>
          <a:xfrm>
            <a:off x="548640" y="4382610"/>
            <a:ext cx="11091672" cy="5486"/>
          </a:xfrm>
          <a:prstGeom prst="rect">
            <a:avLst/>
          </a:prstGeom>
          <a:solidFill>
            <a:srgbClr val="D9D9D9"/>
          </a:solidFill>
          <a:ln/>
        </p:spPr>
      </p:sp>
      <p:sp>
        <p:nvSpPr>
          <p:cNvPr id="72" name="Text 69"/>
          <p:cNvSpPr/>
          <p:nvPr/>
        </p:nvSpPr>
        <p:spPr>
          <a:xfrm>
            <a:off x="548640" y="4454700"/>
            <a:ext cx="5486400" cy="164592"/>
          </a:xfrm>
          <a:prstGeom prst="rect">
            <a:avLst/>
          </a:prstGeom>
          <a:noFill/>
          <a:ln/>
        </p:spPr>
        <p:txBody>
          <a:bodyPr wrap="square" rtlCol="0" anchor="ctr"/>
          <a:lstStyle/>
          <a:p>
            <a:pPr marL="0" indent="0">
              <a:buNone/>
            </a:pPr>
            <a:r>
              <a:rPr lang="en-US" sz="900" b="1" kern="0" spc="80" dirty="0">
                <a:solidFill>
                  <a:srgbClr val="6B6B6B"/>
                </a:solidFill>
                <a:latin typeface="Arial" pitchFamily="34" charset="0"/>
                <a:ea typeface="Arial" pitchFamily="34" charset="-122"/>
                <a:cs typeface="Arial" pitchFamily="34" charset="-120"/>
              </a:rPr>
              <a:t>WORKED EXAMPLE (MAY 2026)</a:t>
            </a:r>
            <a:endParaRPr lang="en-US" sz="900" dirty="0"/>
          </a:p>
        </p:txBody>
      </p:sp>
      <p:sp>
        <p:nvSpPr>
          <p:cNvPr id="73" name="Shape 70"/>
          <p:cNvSpPr/>
          <p:nvPr/>
        </p:nvSpPr>
        <p:spPr>
          <a:xfrm>
            <a:off x="548640" y="4711525"/>
            <a:ext cx="3605784" cy="502920"/>
          </a:xfrm>
          <a:prstGeom prst="rect">
            <a:avLst/>
          </a:prstGeom>
          <a:solidFill>
            <a:srgbClr val="F9F9FA"/>
          </a:solidFill>
          <a:ln/>
        </p:spPr>
      </p:sp>
      <p:sp>
        <p:nvSpPr>
          <p:cNvPr id="74" name="Text 71"/>
          <p:cNvSpPr/>
          <p:nvPr/>
        </p:nvSpPr>
        <p:spPr>
          <a:xfrm>
            <a:off x="658368" y="4766389"/>
            <a:ext cx="3386328"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STEP 1 — DEVIATION CALCULATION</a:t>
            </a:r>
            <a:endParaRPr lang="en-US" sz="750" dirty="0"/>
          </a:p>
        </p:txBody>
      </p:sp>
      <p:sp>
        <p:nvSpPr>
          <p:cNvPr id="75" name="Text 72"/>
          <p:cNvSpPr/>
          <p:nvPr/>
        </p:nvSpPr>
        <p:spPr>
          <a:xfrm>
            <a:off x="658368" y="4930981"/>
            <a:ext cx="3386328" cy="310896"/>
          </a:xfrm>
          <a:prstGeom prst="rect">
            <a:avLst/>
          </a:prstGeom>
          <a:noFill/>
          <a:ln/>
        </p:spPr>
        <p:txBody>
          <a:bodyPr wrap="square" rtlCol="0" anchor="ctr"/>
          <a:lstStyle/>
          <a:p>
            <a:pPr marL="0" indent="0">
              <a:buNone/>
            </a:pPr>
            <a:r>
              <a:rPr lang="en-US" sz="1000" b="1" dirty="0">
                <a:solidFill>
                  <a:srgbClr val="12233F"/>
                </a:solidFill>
                <a:latin typeface="Cambria Math" pitchFamily="34" charset="0"/>
                <a:ea typeface="Cambria Math" pitchFamily="34" charset="-122"/>
                <a:cs typeface="Cambria Math" pitchFamily="34" charset="-120"/>
              </a:rPr>
              <a:t>ε = (1,616,656 − 1,528,807) / 1,528,807 = 5.75%</a:t>
            </a:r>
            <a:endParaRPr lang="en-US" sz="1000" dirty="0"/>
          </a:p>
        </p:txBody>
      </p:sp>
      <p:sp>
        <p:nvSpPr>
          <p:cNvPr id="76" name="Text 73"/>
          <p:cNvSpPr/>
          <p:nvPr/>
        </p:nvSpPr>
        <p:spPr>
          <a:xfrm>
            <a:off x="4136136" y="4711525"/>
            <a:ext cx="173736" cy="502920"/>
          </a:xfrm>
          <a:prstGeom prst="rect">
            <a:avLst/>
          </a:prstGeom>
          <a:noFill/>
          <a:ln/>
        </p:spPr>
        <p:txBody>
          <a:bodyPr wrap="square" rtlCol="0" anchor="ctr"/>
          <a:lstStyle/>
          <a:p>
            <a:pPr marL="0" indent="0" algn="ctr">
              <a:buNone/>
            </a:pPr>
            <a:r>
              <a:rPr lang="en-US" sz="1200" dirty="0">
                <a:solidFill>
                  <a:srgbClr val="6B6B6B"/>
                </a:solidFill>
                <a:latin typeface="Arial" pitchFamily="34" charset="0"/>
                <a:ea typeface="Arial" pitchFamily="34" charset="-122"/>
                <a:cs typeface="Arial" pitchFamily="34" charset="-120"/>
              </a:rPr>
              <a:t>→</a:t>
            </a:r>
            <a:endParaRPr lang="en-US" sz="1200" dirty="0"/>
          </a:p>
        </p:txBody>
      </p:sp>
      <p:sp>
        <p:nvSpPr>
          <p:cNvPr id="77" name="Shape 74"/>
          <p:cNvSpPr/>
          <p:nvPr/>
        </p:nvSpPr>
        <p:spPr>
          <a:xfrm>
            <a:off x="4291584" y="4711525"/>
            <a:ext cx="3605784" cy="502920"/>
          </a:xfrm>
          <a:prstGeom prst="rect">
            <a:avLst/>
          </a:prstGeom>
          <a:solidFill>
            <a:srgbClr val="F9F9FA"/>
          </a:solidFill>
          <a:ln/>
        </p:spPr>
      </p:sp>
      <p:sp>
        <p:nvSpPr>
          <p:cNvPr id="78" name="Text 75"/>
          <p:cNvSpPr/>
          <p:nvPr/>
        </p:nvSpPr>
        <p:spPr>
          <a:xfrm>
            <a:off x="4401312" y="4766389"/>
            <a:ext cx="3386328"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STEP 2 — MEDIUM DUMPER</a:t>
            </a:r>
            <a:endParaRPr lang="en-US" sz="750" dirty="0"/>
          </a:p>
        </p:txBody>
      </p:sp>
      <p:sp>
        <p:nvSpPr>
          <p:cNvPr id="79" name="Text 76"/>
          <p:cNvSpPr/>
          <p:nvPr/>
        </p:nvSpPr>
        <p:spPr>
          <a:xfrm>
            <a:off x="4401312" y="4930981"/>
            <a:ext cx="3386328" cy="310896"/>
          </a:xfrm>
          <a:prstGeom prst="rect">
            <a:avLst/>
          </a:prstGeom>
          <a:noFill/>
          <a:ln/>
        </p:spPr>
        <p:txBody>
          <a:bodyPr wrap="square" rtlCol="0" anchor="ctr"/>
          <a:lstStyle/>
          <a:p>
            <a:pPr marL="0" indent="0">
              <a:buNone/>
            </a:pPr>
            <a:r>
              <a:rPr lang="en-US" sz="1000" b="1" dirty="0">
                <a:solidFill>
                  <a:srgbClr val="12233F"/>
                </a:solidFill>
                <a:latin typeface="Cambria Math" pitchFamily="34" charset="0"/>
                <a:ea typeface="Cambria Math" pitchFamily="34" charset="-122"/>
                <a:cs typeface="Cambria Math" pitchFamily="34" charset="-120"/>
              </a:rPr>
              <a:t>TF Dynamic = 26 × (1 + 0.0575) = 27.5 ≈ 27</a:t>
            </a:r>
            <a:endParaRPr lang="en-US" sz="1000" dirty="0"/>
          </a:p>
        </p:txBody>
      </p:sp>
      <p:sp>
        <p:nvSpPr>
          <p:cNvPr id="80" name="Text 77"/>
          <p:cNvSpPr/>
          <p:nvPr/>
        </p:nvSpPr>
        <p:spPr>
          <a:xfrm>
            <a:off x="7879080" y="4711525"/>
            <a:ext cx="173736" cy="502920"/>
          </a:xfrm>
          <a:prstGeom prst="rect">
            <a:avLst/>
          </a:prstGeom>
          <a:noFill/>
          <a:ln/>
        </p:spPr>
        <p:txBody>
          <a:bodyPr wrap="square" rtlCol="0" anchor="ctr"/>
          <a:lstStyle/>
          <a:p>
            <a:pPr marL="0" indent="0" algn="ctr">
              <a:buNone/>
            </a:pPr>
            <a:r>
              <a:rPr lang="en-US" sz="1200" dirty="0">
                <a:solidFill>
                  <a:srgbClr val="6B6B6B"/>
                </a:solidFill>
                <a:latin typeface="Arial" pitchFamily="34" charset="0"/>
                <a:ea typeface="Arial" pitchFamily="34" charset="-122"/>
                <a:cs typeface="Arial" pitchFamily="34" charset="-120"/>
              </a:rPr>
              <a:t>→</a:t>
            </a:r>
            <a:endParaRPr lang="en-US" sz="1200" dirty="0"/>
          </a:p>
        </p:txBody>
      </p:sp>
      <p:sp>
        <p:nvSpPr>
          <p:cNvPr id="81" name="Shape 78"/>
          <p:cNvSpPr/>
          <p:nvPr/>
        </p:nvSpPr>
        <p:spPr>
          <a:xfrm>
            <a:off x="8034528" y="4711525"/>
            <a:ext cx="3605784" cy="502920"/>
          </a:xfrm>
          <a:prstGeom prst="rect">
            <a:avLst/>
          </a:prstGeom>
          <a:solidFill>
            <a:srgbClr val="F9F9FA"/>
          </a:solidFill>
          <a:ln/>
        </p:spPr>
      </p:sp>
      <p:sp>
        <p:nvSpPr>
          <p:cNvPr id="82" name="Text 79"/>
          <p:cNvSpPr/>
          <p:nvPr/>
        </p:nvSpPr>
        <p:spPr>
          <a:xfrm>
            <a:off x="8144256" y="4766389"/>
            <a:ext cx="3386328"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STEP 3 — BIG DUMPER</a:t>
            </a:r>
            <a:endParaRPr lang="en-US" sz="750" dirty="0"/>
          </a:p>
        </p:txBody>
      </p:sp>
      <p:sp>
        <p:nvSpPr>
          <p:cNvPr id="83" name="Text 80"/>
          <p:cNvSpPr/>
          <p:nvPr/>
        </p:nvSpPr>
        <p:spPr>
          <a:xfrm>
            <a:off x="8144256" y="4930981"/>
            <a:ext cx="3386328" cy="310896"/>
          </a:xfrm>
          <a:prstGeom prst="rect">
            <a:avLst/>
          </a:prstGeom>
          <a:noFill/>
          <a:ln/>
        </p:spPr>
        <p:txBody>
          <a:bodyPr wrap="square" rtlCol="0" anchor="ctr"/>
          <a:lstStyle/>
          <a:p>
            <a:pPr marL="0" indent="0">
              <a:buNone/>
            </a:pPr>
            <a:r>
              <a:rPr lang="en-US" sz="1000" b="1" dirty="0">
                <a:solidFill>
                  <a:srgbClr val="12233F"/>
                </a:solidFill>
                <a:latin typeface="Cambria Math" pitchFamily="34" charset="0"/>
                <a:ea typeface="Cambria Math" pitchFamily="34" charset="-122"/>
                <a:cs typeface="Cambria Math" pitchFamily="34" charset="-120"/>
              </a:rPr>
              <a:t>TF Dynamic = 42 × (1 + 0.0575) = 44.4 ≈ 44</a:t>
            </a:r>
            <a:endParaRPr lang="en-US" sz="1000" dirty="0"/>
          </a:p>
        </p:txBody>
      </p:sp>
      <p:sp>
        <p:nvSpPr>
          <p:cNvPr id="84" name="Shape 81"/>
          <p:cNvSpPr/>
          <p:nvPr/>
        </p:nvSpPr>
        <p:spPr>
          <a:xfrm>
            <a:off x="548640" y="5384801"/>
            <a:ext cx="4436669" cy="228600"/>
          </a:xfrm>
          <a:prstGeom prst="rect">
            <a:avLst/>
          </a:prstGeom>
          <a:solidFill>
            <a:srgbClr val="12233F"/>
          </a:solidFill>
          <a:ln/>
        </p:spPr>
      </p:sp>
      <p:sp>
        <p:nvSpPr>
          <p:cNvPr id="85" name="Text 82"/>
          <p:cNvSpPr/>
          <p:nvPr/>
        </p:nvSpPr>
        <p:spPr>
          <a:xfrm>
            <a:off x="685800" y="5384801"/>
            <a:ext cx="4299509" cy="228600"/>
          </a:xfrm>
          <a:prstGeom prst="rect">
            <a:avLst/>
          </a:prstGeom>
          <a:noFill/>
          <a:ln/>
        </p:spPr>
        <p:txBody>
          <a:bodyPr wrap="square"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Truck Class</a:t>
            </a:r>
            <a:endParaRPr lang="en-US" sz="1000" dirty="0"/>
          </a:p>
        </p:txBody>
      </p:sp>
      <p:sp>
        <p:nvSpPr>
          <p:cNvPr id="86" name="Shape 83"/>
          <p:cNvSpPr/>
          <p:nvPr/>
        </p:nvSpPr>
        <p:spPr>
          <a:xfrm>
            <a:off x="4985309" y="5384801"/>
            <a:ext cx="3327502" cy="228600"/>
          </a:xfrm>
          <a:prstGeom prst="rect">
            <a:avLst/>
          </a:prstGeom>
          <a:solidFill>
            <a:srgbClr val="12233F"/>
          </a:solidFill>
          <a:ln/>
        </p:spPr>
      </p:sp>
      <p:sp>
        <p:nvSpPr>
          <p:cNvPr id="87" name="Text 84"/>
          <p:cNvSpPr/>
          <p:nvPr/>
        </p:nvSpPr>
        <p:spPr>
          <a:xfrm>
            <a:off x="4985309" y="5384801"/>
            <a:ext cx="3327502" cy="22860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OEM TF</a:t>
            </a:r>
            <a:endParaRPr lang="en-US" sz="1000" dirty="0"/>
          </a:p>
        </p:txBody>
      </p:sp>
      <p:sp>
        <p:nvSpPr>
          <p:cNvPr id="88" name="Shape 85"/>
          <p:cNvSpPr/>
          <p:nvPr/>
        </p:nvSpPr>
        <p:spPr>
          <a:xfrm>
            <a:off x="8312810" y="5384801"/>
            <a:ext cx="3327502" cy="228600"/>
          </a:xfrm>
          <a:prstGeom prst="rect">
            <a:avLst/>
          </a:prstGeom>
          <a:solidFill>
            <a:srgbClr val="12233F"/>
          </a:solidFill>
          <a:ln/>
        </p:spPr>
      </p:sp>
      <p:sp>
        <p:nvSpPr>
          <p:cNvPr id="89" name="Text 86"/>
          <p:cNvSpPr/>
          <p:nvPr/>
        </p:nvSpPr>
        <p:spPr>
          <a:xfrm>
            <a:off x="8312810" y="5384801"/>
            <a:ext cx="3327502" cy="22860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Dynamic TF</a:t>
            </a:r>
            <a:endParaRPr lang="en-US" sz="1000" dirty="0"/>
          </a:p>
        </p:txBody>
      </p:sp>
      <p:sp>
        <p:nvSpPr>
          <p:cNvPr id="90" name="Text 87"/>
          <p:cNvSpPr/>
          <p:nvPr/>
        </p:nvSpPr>
        <p:spPr>
          <a:xfrm>
            <a:off x="685800" y="5613401"/>
            <a:ext cx="4299509" cy="228600"/>
          </a:xfrm>
          <a:prstGeom prst="rect">
            <a:avLst/>
          </a:prstGeom>
          <a:noFill/>
          <a:ln/>
        </p:spPr>
        <p:txBody>
          <a:bodyPr wrap="square" rtlCol="0" anchor="ctr"/>
          <a:lstStyle/>
          <a:p>
            <a:pPr marL="0" indent="0" algn="l">
              <a:buNone/>
            </a:pPr>
            <a:r>
              <a:rPr lang="en-US" sz="1000" dirty="0">
                <a:solidFill>
                  <a:srgbClr val="3A3A3A"/>
                </a:solidFill>
                <a:latin typeface="Arial" pitchFamily="34" charset="0"/>
                <a:ea typeface="Arial" pitchFamily="34" charset="-122"/>
                <a:cs typeface="Arial" pitchFamily="34" charset="-120"/>
              </a:rPr>
              <a:t>Small</a:t>
            </a:r>
            <a:endParaRPr lang="en-US" sz="1000" dirty="0"/>
          </a:p>
        </p:txBody>
      </p:sp>
      <p:sp>
        <p:nvSpPr>
          <p:cNvPr id="91" name="Text 88"/>
          <p:cNvSpPr/>
          <p:nvPr/>
        </p:nvSpPr>
        <p:spPr>
          <a:xfrm>
            <a:off x="4985309" y="5613401"/>
            <a:ext cx="3327502" cy="228600"/>
          </a:xfrm>
          <a:prstGeom prst="rect">
            <a:avLst/>
          </a:prstGeom>
          <a:noFill/>
          <a:ln/>
        </p:spPr>
        <p:txBody>
          <a:bodyPr wrap="square" rtlCol="0" anchor="ctr"/>
          <a:lstStyle/>
          <a:p>
            <a:pPr marL="0" indent="0" algn="ctr">
              <a:buNone/>
            </a:pPr>
            <a:r>
              <a:rPr lang="en-US" sz="1000" dirty="0">
                <a:solidFill>
                  <a:srgbClr val="3A3A3A"/>
                </a:solidFill>
                <a:latin typeface="Arial" pitchFamily="34" charset="0"/>
                <a:ea typeface="Arial" pitchFamily="34" charset="-122"/>
                <a:cs typeface="Arial" pitchFamily="34" charset="-120"/>
              </a:rPr>
              <a:t>13</a:t>
            </a:r>
            <a:endParaRPr lang="en-US" sz="1000" dirty="0"/>
          </a:p>
        </p:txBody>
      </p:sp>
      <p:sp>
        <p:nvSpPr>
          <p:cNvPr id="92" name="Text 89"/>
          <p:cNvSpPr/>
          <p:nvPr/>
        </p:nvSpPr>
        <p:spPr>
          <a:xfrm>
            <a:off x="8312810" y="5613401"/>
            <a:ext cx="3327502" cy="228600"/>
          </a:xfrm>
          <a:prstGeom prst="rect">
            <a:avLst/>
          </a:prstGeom>
          <a:noFill/>
          <a:ln/>
        </p:spPr>
        <p:txBody>
          <a:bodyPr wrap="square" rtlCol="0" anchor="ctr"/>
          <a:lstStyle/>
          <a:p>
            <a:pPr marL="0" indent="0" algn="ctr">
              <a:buNone/>
            </a:pPr>
            <a:r>
              <a:rPr lang="en-US" sz="1000" dirty="0">
                <a:solidFill>
                  <a:srgbClr val="3A3A3A"/>
                </a:solidFill>
                <a:latin typeface="Arial" pitchFamily="34" charset="0"/>
                <a:ea typeface="Arial" pitchFamily="34" charset="-122"/>
                <a:cs typeface="Arial" pitchFamily="34" charset="-120"/>
              </a:rPr>
              <a:t>14</a:t>
            </a:r>
            <a:endParaRPr lang="en-US" sz="1000" dirty="0"/>
          </a:p>
        </p:txBody>
      </p:sp>
      <p:sp>
        <p:nvSpPr>
          <p:cNvPr id="93" name="Shape 90"/>
          <p:cNvSpPr/>
          <p:nvPr/>
        </p:nvSpPr>
        <p:spPr>
          <a:xfrm>
            <a:off x="548640" y="5842001"/>
            <a:ext cx="11091672" cy="5486"/>
          </a:xfrm>
          <a:prstGeom prst="rect">
            <a:avLst/>
          </a:prstGeom>
          <a:solidFill>
            <a:srgbClr val="D9D9D9"/>
          </a:solidFill>
          <a:ln/>
        </p:spPr>
      </p:sp>
      <p:sp>
        <p:nvSpPr>
          <p:cNvPr id="94" name="Text 91"/>
          <p:cNvSpPr/>
          <p:nvPr/>
        </p:nvSpPr>
        <p:spPr>
          <a:xfrm>
            <a:off x="685800" y="5842001"/>
            <a:ext cx="4299509" cy="228600"/>
          </a:xfrm>
          <a:prstGeom prst="rect">
            <a:avLst/>
          </a:prstGeom>
          <a:noFill/>
          <a:ln/>
        </p:spPr>
        <p:txBody>
          <a:bodyPr wrap="square" rtlCol="0" anchor="ctr"/>
          <a:lstStyle/>
          <a:p>
            <a:pPr marL="0" indent="0" algn="l">
              <a:buNone/>
            </a:pPr>
            <a:r>
              <a:rPr lang="en-US" sz="1000" dirty="0">
                <a:solidFill>
                  <a:srgbClr val="3A3A3A"/>
                </a:solidFill>
                <a:latin typeface="Arial" pitchFamily="34" charset="0"/>
                <a:ea typeface="Arial" pitchFamily="34" charset="-122"/>
                <a:cs typeface="Arial" pitchFamily="34" charset="-120"/>
              </a:rPr>
              <a:t>Medium</a:t>
            </a:r>
            <a:endParaRPr lang="en-US" sz="1000" dirty="0"/>
          </a:p>
        </p:txBody>
      </p:sp>
      <p:sp>
        <p:nvSpPr>
          <p:cNvPr id="95" name="Text 92"/>
          <p:cNvSpPr/>
          <p:nvPr/>
        </p:nvSpPr>
        <p:spPr>
          <a:xfrm>
            <a:off x="4985309" y="5842001"/>
            <a:ext cx="3327502" cy="228600"/>
          </a:xfrm>
          <a:prstGeom prst="rect">
            <a:avLst/>
          </a:prstGeom>
          <a:noFill/>
          <a:ln/>
        </p:spPr>
        <p:txBody>
          <a:bodyPr wrap="square" rtlCol="0" anchor="ctr"/>
          <a:lstStyle/>
          <a:p>
            <a:pPr marL="0" indent="0" algn="ctr">
              <a:buNone/>
            </a:pPr>
            <a:r>
              <a:rPr lang="en-US" sz="1000" dirty="0">
                <a:solidFill>
                  <a:srgbClr val="3A3A3A"/>
                </a:solidFill>
                <a:latin typeface="Arial" pitchFamily="34" charset="0"/>
                <a:ea typeface="Arial" pitchFamily="34" charset="-122"/>
                <a:cs typeface="Arial" pitchFamily="34" charset="-120"/>
              </a:rPr>
              <a:t>26</a:t>
            </a:r>
            <a:endParaRPr lang="en-US" sz="1000" dirty="0"/>
          </a:p>
        </p:txBody>
      </p:sp>
      <p:sp>
        <p:nvSpPr>
          <p:cNvPr id="96" name="Text 93"/>
          <p:cNvSpPr/>
          <p:nvPr/>
        </p:nvSpPr>
        <p:spPr>
          <a:xfrm>
            <a:off x="8312810" y="5842001"/>
            <a:ext cx="3327502" cy="228600"/>
          </a:xfrm>
          <a:prstGeom prst="rect">
            <a:avLst/>
          </a:prstGeom>
          <a:noFill/>
          <a:ln/>
        </p:spPr>
        <p:txBody>
          <a:bodyPr wrap="square" rtlCol="0" anchor="ctr"/>
          <a:lstStyle/>
          <a:p>
            <a:pPr marL="0" indent="0" algn="ctr">
              <a:buNone/>
            </a:pPr>
            <a:r>
              <a:rPr lang="en-US" sz="1000" dirty="0">
                <a:solidFill>
                  <a:srgbClr val="3A3A3A"/>
                </a:solidFill>
                <a:latin typeface="Arial" pitchFamily="34" charset="0"/>
                <a:ea typeface="Arial" pitchFamily="34" charset="-122"/>
                <a:cs typeface="Arial" pitchFamily="34" charset="-120"/>
              </a:rPr>
              <a:t>27</a:t>
            </a:r>
            <a:endParaRPr lang="en-US" sz="1000" dirty="0"/>
          </a:p>
        </p:txBody>
      </p:sp>
      <p:sp>
        <p:nvSpPr>
          <p:cNvPr id="97" name="Shape 94"/>
          <p:cNvSpPr/>
          <p:nvPr/>
        </p:nvSpPr>
        <p:spPr>
          <a:xfrm>
            <a:off x="548640" y="6070601"/>
            <a:ext cx="11091672" cy="5486"/>
          </a:xfrm>
          <a:prstGeom prst="rect">
            <a:avLst/>
          </a:prstGeom>
          <a:solidFill>
            <a:srgbClr val="D9D9D9"/>
          </a:solidFill>
          <a:ln/>
        </p:spPr>
      </p:sp>
      <p:sp>
        <p:nvSpPr>
          <p:cNvPr id="98" name="Text 95"/>
          <p:cNvSpPr/>
          <p:nvPr/>
        </p:nvSpPr>
        <p:spPr>
          <a:xfrm>
            <a:off x="685800" y="6070601"/>
            <a:ext cx="4299509" cy="228600"/>
          </a:xfrm>
          <a:prstGeom prst="rect">
            <a:avLst/>
          </a:prstGeom>
          <a:noFill/>
          <a:ln/>
        </p:spPr>
        <p:txBody>
          <a:bodyPr wrap="square" rtlCol="0" anchor="ctr"/>
          <a:lstStyle/>
          <a:p>
            <a:pPr marL="0" indent="0" algn="l">
              <a:buNone/>
            </a:pPr>
            <a:r>
              <a:rPr lang="en-US" sz="1000" dirty="0">
                <a:solidFill>
                  <a:srgbClr val="3A3A3A"/>
                </a:solidFill>
                <a:latin typeface="Arial" pitchFamily="34" charset="0"/>
                <a:ea typeface="Arial" pitchFamily="34" charset="-122"/>
                <a:cs typeface="Arial" pitchFamily="34" charset="-120"/>
              </a:rPr>
              <a:t>Big</a:t>
            </a:r>
            <a:endParaRPr lang="en-US" sz="1000" dirty="0"/>
          </a:p>
        </p:txBody>
      </p:sp>
      <p:sp>
        <p:nvSpPr>
          <p:cNvPr id="99" name="Text 96"/>
          <p:cNvSpPr/>
          <p:nvPr/>
        </p:nvSpPr>
        <p:spPr>
          <a:xfrm>
            <a:off x="4985309" y="6070601"/>
            <a:ext cx="3327502" cy="228600"/>
          </a:xfrm>
          <a:prstGeom prst="rect">
            <a:avLst/>
          </a:prstGeom>
          <a:noFill/>
          <a:ln/>
        </p:spPr>
        <p:txBody>
          <a:bodyPr wrap="square" rtlCol="0" anchor="ctr"/>
          <a:lstStyle/>
          <a:p>
            <a:pPr marL="0" indent="0" algn="ctr">
              <a:buNone/>
            </a:pPr>
            <a:r>
              <a:rPr lang="en-US" sz="1000" dirty="0">
                <a:solidFill>
                  <a:srgbClr val="3A3A3A"/>
                </a:solidFill>
                <a:latin typeface="Arial" pitchFamily="34" charset="0"/>
                <a:ea typeface="Arial" pitchFamily="34" charset="-122"/>
                <a:cs typeface="Arial" pitchFamily="34" charset="-120"/>
              </a:rPr>
              <a:t>42</a:t>
            </a:r>
            <a:endParaRPr lang="en-US" sz="1000" dirty="0"/>
          </a:p>
        </p:txBody>
      </p:sp>
      <p:sp>
        <p:nvSpPr>
          <p:cNvPr id="100" name="Text 97"/>
          <p:cNvSpPr/>
          <p:nvPr/>
        </p:nvSpPr>
        <p:spPr>
          <a:xfrm>
            <a:off x="8312810" y="6070601"/>
            <a:ext cx="3327502" cy="228600"/>
          </a:xfrm>
          <a:prstGeom prst="rect">
            <a:avLst/>
          </a:prstGeom>
          <a:noFill/>
          <a:ln/>
        </p:spPr>
        <p:txBody>
          <a:bodyPr wrap="square" rtlCol="0" anchor="ctr"/>
          <a:lstStyle/>
          <a:p>
            <a:pPr marL="0" indent="0" algn="ctr">
              <a:buNone/>
            </a:pPr>
            <a:r>
              <a:rPr lang="en-US" sz="1000" dirty="0">
                <a:solidFill>
                  <a:srgbClr val="3A3A3A"/>
                </a:solidFill>
                <a:latin typeface="Arial" pitchFamily="34" charset="0"/>
                <a:ea typeface="Arial" pitchFamily="34" charset="-122"/>
                <a:cs typeface="Arial" pitchFamily="34" charset="-120"/>
              </a:rPr>
              <a:t>44</a:t>
            </a:r>
            <a:endParaRPr lang="en-US" sz="1000" dirty="0"/>
          </a:p>
        </p:txBody>
      </p:sp>
      <p:sp>
        <p:nvSpPr>
          <p:cNvPr id="101" name="Shape 98"/>
          <p:cNvSpPr/>
          <p:nvPr/>
        </p:nvSpPr>
        <p:spPr>
          <a:xfrm>
            <a:off x="548640" y="6299201"/>
            <a:ext cx="11091672" cy="5486"/>
          </a:xfrm>
          <a:prstGeom prst="rect">
            <a:avLst/>
          </a:prstGeom>
          <a:solidFill>
            <a:srgbClr val="D9D9D9"/>
          </a:solidFill>
          <a:ln/>
        </p:spPr>
      </p:sp>
      <p:grpSp>
        <p:nvGrpSpPr>
          <p:cNvPr id="102" name="Group 5">
            <a:extLst>
              <a:ext uri="{FF2B5EF4-FFF2-40B4-BE49-F238E27FC236}">
                <a16:creationId xmlns:a16="http://schemas.microsoft.com/office/drawing/2014/main" id="{75EBFF95-7A48-8946-270C-EF425BDBCB4D}"/>
              </a:ext>
            </a:extLst>
          </p:cNvPr>
          <p:cNvGrpSpPr/>
          <p:nvPr/>
        </p:nvGrpSpPr>
        <p:grpSpPr>
          <a:xfrm>
            <a:off x="558648" y="699517"/>
            <a:ext cx="6408000" cy="45719"/>
            <a:chOff x="0" y="0"/>
            <a:chExt cx="14068412" cy="121920"/>
          </a:xfrm>
        </p:grpSpPr>
        <p:sp>
          <p:nvSpPr>
            <p:cNvPr id="103" name="Freeform 6" descr="D:\Corp Comm Department Work 2015\Brand Adani 2012\adani_gradient_master.jpg">
              <a:extLst>
                <a:ext uri="{FF2B5EF4-FFF2-40B4-BE49-F238E27FC236}">
                  <a16:creationId xmlns:a16="http://schemas.microsoft.com/office/drawing/2014/main" id="{3FAB7381-07C2-E7EB-E7FC-A08763E55673}"/>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3"/>
              <a:stretch>
                <a:fillRect b="-5072"/>
              </a:stretch>
            </a:blipFill>
          </p:spPr>
          <p:txBody>
            <a:bodyPr/>
            <a:lstStyle/>
            <a:p>
              <a:endParaRPr lang="en-IN"/>
            </a:p>
          </p:txBody>
        </p:sp>
      </p:grpSp>
      <p:grpSp>
        <p:nvGrpSpPr>
          <p:cNvPr id="104" name="Group 3">
            <a:extLst>
              <a:ext uri="{FF2B5EF4-FFF2-40B4-BE49-F238E27FC236}">
                <a16:creationId xmlns:a16="http://schemas.microsoft.com/office/drawing/2014/main" id="{E35E4EBC-5EB8-4B32-06F9-5062C77710C2}"/>
              </a:ext>
            </a:extLst>
          </p:cNvPr>
          <p:cNvGrpSpPr/>
          <p:nvPr/>
        </p:nvGrpSpPr>
        <p:grpSpPr>
          <a:xfrm>
            <a:off x="10056527" y="6189371"/>
            <a:ext cx="2136000" cy="669944"/>
            <a:chOff x="0" y="0"/>
            <a:chExt cx="4272001" cy="1339888"/>
          </a:xfrm>
        </p:grpSpPr>
        <p:sp>
          <p:nvSpPr>
            <p:cNvPr id="105" name="Freeform 4">
              <a:extLst>
                <a:ext uri="{FF2B5EF4-FFF2-40B4-BE49-F238E27FC236}">
                  <a16:creationId xmlns:a16="http://schemas.microsoft.com/office/drawing/2014/main" id="{C1D93642-3E9A-7367-A4D9-E2D4BF972B2A}"/>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4"/>
              <a:stretch>
                <a:fillRect l="-470838" t="-924095" b="-2"/>
              </a:stretch>
            </a:blipFill>
          </p:spPr>
        </p:sp>
      </p:grpSp>
    </p:spTree>
    <p:extLst>
      <p:ext uri="{BB962C8B-B14F-4D97-AF65-F5344CB8AC3E}">
        <p14:creationId xmlns:p14="http://schemas.microsoft.com/office/powerpoint/2010/main" val="869962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8613" y="410684"/>
            <a:ext cx="9601200" cy="420624"/>
          </a:xfrm>
          <a:prstGeom prst="rect">
            <a:avLst/>
          </a:prstGeom>
          <a:noFill/>
          <a:ln/>
        </p:spPr>
        <p:txBody>
          <a:bodyPr wrap="square" rtlCol="0" anchor="ctr"/>
          <a:lstStyle/>
          <a:p>
            <a:pPr marL="0" indent="0">
              <a:buNone/>
            </a:pPr>
            <a:r>
              <a:rPr lang="en-US" sz="2200" dirty="0">
                <a:solidFill>
                  <a:srgbClr val="0070C0"/>
                </a:solidFill>
                <a:latin typeface="Arial" pitchFamily="34" charset="0"/>
                <a:ea typeface="Arial" pitchFamily="34" charset="-122"/>
                <a:cs typeface="Arial" pitchFamily="34" charset="-120"/>
              </a:rPr>
              <a:t>Business Impact &amp; Expected Benefits</a:t>
            </a:r>
            <a:endParaRPr lang="en-US" sz="2200" dirty="0"/>
          </a:p>
        </p:txBody>
      </p:sp>
      <p:sp>
        <p:nvSpPr>
          <p:cNvPr id="54" name="Text 51"/>
          <p:cNvSpPr/>
          <p:nvPr/>
        </p:nvSpPr>
        <p:spPr>
          <a:xfrm>
            <a:off x="411480" y="932688"/>
            <a:ext cx="11091672" cy="219456"/>
          </a:xfrm>
          <a:prstGeom prst="rect">
            <a:avLst/>
          </a:prstGeom>
          <a:noFill/>
          <a:ln/>
        </p:spPr>
        <p:txBody>
          <a:bodyPr wrap="square" rtlCol="0" anchor="ctr"/>
          <a:lstStyle/>
          <a:p>
            <a:pPr marL="0" indent="0">
              <a:buNone/>
            </a:pPr>
            <a:r>
              <a:rPr lang="en-US" sz="1100" i="1" dirty="0">
                <a:solidFill>
                  <a:srgbClr val="6B6B6B"/>
                </a:solidFill>
                <a:latin typeface="Arial" pitchFamily="34" charset="0"/>
                <a:ea typeface="Arial" pitchFamily="34" charset="-122"/>
                <a:cs typeface="Arial" pitchFamily="34" charset="-120"/>
              </a:rPr>
              <a:t>Operational improvements enabled through the proposed recommendations and engineering frameworks.</a:t>
            </a:r>
            <a:endParaRPr lang="en-US" sz="1100" dirty="0"/>
          </a:p>
        </p:txBody>
      </p:sp>
      <p:sp>
        <p:nvSpPr>
          <p:cNvPr id="55" name="Shape 52"/>
          <p:cNvSpPr/>
          <p:nvPr/>
        </p:nvSpPr>
        <p:spPr>
          <a:xfrm>
            <a:off x="548640" y="1202238"/>
            <a:ext cx="5408676" cy="1965960"/>
          </a:xfrm>
          <a:prstGeom prst="roundRect">
            <a:avLst>
              <a:gd name="adj" fmla="val 2791"/>
            </a:avLst>
          </a:prstGeom>
          <a:solidFill>
            <a:srgbClr val="FFFFFF"/>
          </a:solidFill>
          <a:ln w="12700">
            <a:solidFill>
              <a:srgbClr val="D9D9D9"/>
            </a:solidFill>
            <a:prstDash val="solid"/>
          </a:ln>
        </p:spPr>
      </p:sp>
      <p:sp>
        <p:nvSpPr>
          <p:cNvPr id="56" name="Text 53"/>
          <p:cNvSpPr/>
          <p:nvPr/>
        </p:nvSpPr>
        <p:spPr>
          <a:xfrm>
            <a:off x="786384" y="1304853"/>
            <a:ext cx="4933188" cy="256032"/>
          </a:xfrm>
          <a:prstGeom prst="rect">
            <a:avLst/>
          </a:prstGeom>
          <a:noFill/>
          <a:ln/>
        </p:spPr>
        <p:txBody>
          <a:bodyPr wrap="square" rtlCol="0" anchor="ctr"/>
          <a:lstStyle/>
          <a:p>
            <a:pPr marL="0" indent="0">
              <a:buNone/>
            </a:pPr>
            <a:r>
              <a:rPr lang="en-US" sz="1400" b="1" dirty="0">
                <a:solidFill>
                  <a:srgbClr val="12233F"/>
                </a:solidFill>
                <a:latin typeface="Arial" pitchFamily="34" charset="0"/>
                <a:ea typeface="Arial" pitchFamily="34" charset="-122"/>
                <a:cs typeface="Arial" pitchFamily="34" charset="-120"/>
              </a:rPr>
              <a:t>Production Accuracy</a:t>
            </a:r>
            <a:endParaRPr lang="en-US" sz="1400" dirty="0"/>
          </a:p>
        </p:txBody>
      </p:sp>
      <p:sp>
        <p:nvSpPr>
          <p:cNvPr id="57" name="Text 54"/>
          <p:cNvSpPr/>
          <p:nvPr/>
        </p:nvSpPr>
        <p:spPr>
          <a:xfrm>
            <a:off x="786384" y="1620938"/>
            <a:ext cx="4933188" cy="137160"/>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CURRENT STATE</a:t>
            </a:r>
            <a:endParaRPr lang="en-US" sz="750" dirty="0"/>
          </a:p>
        </p:txBody>
      </p:sp>
      <p:sp>
        <p:nvSpPr>
          <p:cNvPr id="58" name="Text 55"/>
          <p:cNvSpPr/>
          <p:nvPr/>
        </p:nvSpPr>
        <p:spPr>
          <a:xfrm>
            <a:off x="786384" y="1805742"/>
            <a:ext cx="4933188" cy="182880"/>
          </a:xfrm>
          <a:prstGeom prst="rect">
            <a:avLst/>
          </a:prstGeom>
          <a:noFill/>
          <a:ln/>
        </p:spPr>
        <p:txBody>
          <a:bodyPr wrap="square" rtlCol="0" anchor="ctr"/>
          <a:lstStyle/>
          <a:p>
            <a:pPr marL="0" indent="0">
              <a:buNone/>
            </a:pPr>
            <a:r>
              <a:rPr lang="en-US" sz="1050" dirty="0">
                <a:solidFill>
                  <a:srgbClr val="3A3A3A"/>
                </a:solidFill>
                <a:latin typeface="Arial" pitchFamily="34" charset="0"/>
                <a:ea typeface="Arial" pitchFamily="34" charset="-122"/>
                <a:cs typeface="Arial" pitchFamily="34" charset="-120"/>
              </a:rPr>
              <a:t>Static Truck Factor</a:t>
            </a:r>
            <a:endParaRPr lang="en-US" sz="1050" dirty="0"/>
          </a:p>
        </p:txBody>
      </p:sp>
      <p:sp>
        <p:nvSpPr>
          <p:cNvPr id="59" name="Text 56"/>
          <p:cNvSpPr/>
          <p:nvPr/>
        </p:nvSpPr>
        <p:spPr>
          <a:xfrm>
            <a:off x="786384" y="1997766"/>
            <a:ext cx="4933188" cy="146304"/>
          </a:xfrm>
          <a:prstGeom prst="rect">
            <a:avLst/>
          </a:prstGeom>
          <a:noFill/>
          <a:ln/>
        </p:spPr>
        <p:txBody>
          <a:bodyPr wrap="square" rtlCol="0" anchor="ctr"/>
          <a:lstStyle/>
          <a:p>
            <a:pPr marL="0" indent="0">
              <a:buNone/>
            </a:pPr>
            <a:r>
              <a:rPr lang="en-US" sz="900" dirty="0">
                <a:solidFill>
                  <a:srgbClr val="6B6B6B"/>
                </a:solidFill>
                <a:latin typeface="Arial" pitchFamily="34" charset="0"/>
                <a:ea typeface="Arial" pitchFamily="34" charset="-122"/>
                <a:cs typeface="Arial" pitchFamily="34" charset="-120"/>
              </a:rPr>
              <a:t>↓</a:t>
            </a:r>
            <a:endParaRPr lang="en-US" sz="900" dirty="0"/>
          </a:p>
        </p:txBody>
      </p:sp>
      <p:sp>
        <p:nvSpPr>
          <p:cNvPr id="60" name="Text 57"/>
          <p:cNvSpPr/>
          <p:nvPr/>
        </p:nvSpPr>
        <p:spPr>
          <a:xfrm>
            <a:off x="786384" y="2162358"/>
            <a:ext cx="4933188" cy="137160"/>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FUTURE STATE</a:t>
            </a:r>
            <a:endParaRPr lang="en-US" sz="750" dirty="0"/>
          </a:p>
        </p:txBody>
      </p:sp>
      <p:sp>
        <p:nvSpPr>
          <p:cNvPr id="61" name="Text 58"/>
          <p:cNvSpPr/>
          <p:nvPr/>
        </p:nvSpPr>
        <p:spPr>
          <a:xfrm>
            <a:off x="786384" y="2308662"/>
            <a:ext cx="4933188" cy="182880"/>
          </a:xfrm>
          <a:prstGeom prst="rect">
            <a:avLst/>
          </a:prstGeom>
          <a:noFill/>
          <a:ln/>
        </p:spPr>
        <p:txBody>
          <a:bodyPr wrap="square" rtlCol="0" anchor="ctr"/>
          <a:lstStyle/>
          <a:p>
            <a:pPr marL="0" indent="0">
              <a:buNone/>
            </a:pPr>
            <a:r>
              <a:rPr lang="en-US" sz="1050" b="1" dirty="0">
                <a:solidFill>
                  <a:srgbClr val="12233F"/>
                </a:solidFill>
                <a:latin typeface="Arial" pitchFamily="34" charset="0"/>
                <a:ea typeface="Arial" pitchFamily="34" charset="-122"/>
                <a:cs typeface="Arial" pitchFamily="34" charset="-120"/>
              </a:rPr>
              <a:t>Dynamic Truck Factor</a:t>
            </a:r>
            <a:endParaRPr lang="en-US" sz="1050" dirty="0"/>
          </a:p>
        </p:txBody>
      </p:sp>
      <p:sp>
        <p:nvSpPr>
          <p:cNvPr id="62" name="Shape 59"/>
          <p:cNvSpPr/>
          <p:nvPr/>
        </p:nvSpPr>
        <p:spPr>
          <a:xfrm>
            <a:off x="786384" y="2573838"/>
            <a:ext cx="4933188" cy="5486"/>
          </a:xfrm>
          <a:prstGeom prst="rect">
            <a:avLst/>
          </a:prstGeom>
          <a:solidFill>
            <a:srgbClr val="D9D9D9"/>
          </a:solidFill>
          <a:ln/>
        </p:spPr>
      </p:sp>
      <p:sp>
        <p:nvSpPr>
          <p:cNvPr id="63" name="Text 60"/>
          <p:cNvSpPr/>
          <p:nvPr/>
        </p:nvSpPr>
        <p:spPr>
          <a:xfrm>
            <a:off x="786384" y="2617572"/>
            <a:ext cx="4933188"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BUSINESS BENEFITS</a:t>
            </a:r>
            <a:endParaRPr lang="en-US" sz="750" dirty="0"/>
          </a:p>
        </p:txBody>
      </p:sp>
      <p:sp>
        <p:nvSpPr>
          <p:cNvPr id="64" name="Text 61"/>
          <p:cNvSpPr/>
          <p:nvPr/>
        </p:nvSpPr>
        <p:spPr>
          <a:xfrm>
            <a:off x="786384" y="2768648"/>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Higher Accuracy</a:t>
            </a:r>
            <a:endParaRPr lang="en-US" sz="850" dirty="0"/>
          </a:p>
        </p:txBody>
      </p:sp>
      <p:sp>
        <p:nvSpPr>
          <p:cNvPr id="65" name="Shape 62"/>
          <p:cNvSpPr/>
          <p:nvPr/>
        </p:nvSpPr>
        <p:spPr>
          <a:xfrm>
            <a:off x="2312306" y="2760697"/>
            <a:ext cx="7315" cy="329184"/>
          </a:xfrm>
          <a:prstGeom prst="rect">
            <a:avLst/>
          </a:prstGeom>
          <a:solidFill>
            <a:srgbClr val="D9D9D9"/>
          </a:solidFill>
          <a:ln/>
        </p:spPr>
      </p:sp>
      <p:sp>
        <p:nvSpPr>
          <p:cNvPr id="66" name="Text 63"/>
          <p:cNvSpPr/>
          <p:nvPr/>
        </p:nvSpPr>
        <p:spPr>
          <a:xfrm>
            <a:off x="2430780" y="2768648"/>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Reduced Survey Cost</a:t>
            </a:r>
            <a:endParaRPr lang="en-US" sz="850" dirty="0"/>
          </a:p>
        </p:txBody>
      </p:sp>
      <p:sp>
        <p:nvSpPr>
          <p:cNvPr id="67" name="Shape 64"/>
          <p:cNvSpPr/>
          <p:nvPr/>
        </p:nvSpPr>
        <p:spPr>
          <a:xfrm>
            <a:off x="3956702" y="2760697"/>
            <a:ext cx="7315" cy="329184"/>
          </a:xfrm>
          <a:prstGeom prst="rect">
            <a:avLst/>
          </a:prstGeom>
          <a:solidFill>
            <a:srgbClr val="D9D9D9"/>
          </a:solidFill>
          <a:ln/>
        </p:spPr>
      </p:sp>
      <p:sp>
        <p:nvSpPr>
          <p:cNvPr id="68" name="Text 65"/>
          <p:cNvSpPr/>
          <p:nvPr/>
        </p:nvSpPr>
        <p:spPr>
          <a:xfrm>
            <a:off x="4075176" y="2768648"/>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Improved Planning</a:t>
            </a:r>
            <a:endParaRPr lang="en-US" sz="850" dirty="0"/>
          </a:p>
        </p:txBody>
      </p:sp>
      <p:sp>
        <p:nvSpPr>
          <p:cNvPr id="69" name="Shape 66"/>
          <p:cNvSpPr/>
          <p:nvPr/>
        </p:nvSpPr>
        <p:spPr>
          <a:xfrm>
            <a:off x="6231636" y="1202238"/>
            <a:ext cx="5408676" cy="1965960"/>
          </a:xfrm>
          <a:prstGeom prst="roundRect">
            <a:avLst>
              <a:gd name="adj" fmla="val 2791"/>
            </a:avLst>
          </a:prstGeom>
          <a:solidFill>
            <a:srgbClr val="FFFFFF"/>
          </a:solidFill>
          <a:ln w="12700">
            <a:solidFill>
              <a:srgbClr val="D9D9D9"/>
            </a:solidFill>
            <a:prstDash val="solid"/>
          </a:ln>
        </p:spPr>
      </p:sp>
      <p:sp>
        <p:nvSpPr>
          <p:cNvPr id="70" name="Text 67"/>
          <p:cNvSpPr/>
          <p:nvPr/>
        </p:nvSpPr>
        <p:spPr>
          <a:xfrm>
            <a:off x="6469380" y="1304853"/>
            <a:ext cx="4933188" cy="256032"/>
          </a:xfrm>
          <a:prstGeom prst="rect">
            <a:avLst/>
          </a:prstGeom>
          <a:noFill/>
          <a:ln/>
        </p:spPr>
        <p:txBody>
          <a:bodyPr wrap="square" rtlCol="0" anchor="ctr"/>
          <a:lstStyle/>
          <a:p>
            <a:pPr marL="0" indent="0">
              <a:buNone/>
            </a:pPr>
            <a:r>
              <a:rPr lang="en-US" sz="1400" b="1" dirty="0">
                <a:solidFill>
                  <a:srgbClr val="12233F"/>
                </a:solidFill>
                <a:latin typeface="Arial" pitchFamily="34" charset="0"/>
                <a:ea typeface="Arial" pitchFamily="34" charset="-122"/>
                <a:cs typeface="Arial" pitchFamily="34" charset="-120"/>
              </a:rPr>
              <a:t>Maintenance Strategy</a:t>
            </a:r>
            <a:endParaRPr lang="en-US" sz="1400" dirty="0"/>
          </a:p>
        </p:txBody>
      </p:sp>
      <p:sp>
        <p:nvSpPr>
          <p:cNvPr id="71" name="Text 68"/>
          <p:cNvSpPr/>
          <p:nvPr/>
        </p:nvSpPr>
        <p:spPr>
          <a:xfrm>
            <a:off x="6469380" y="1620938"/>
            <a:ext cx="4933188" cy="137160"/>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CURRENT STATE</a:t>
            </a:r>
            <a:endParaRPr lang="en-US" sz="750" dirty="0"/>
          </a:p>
        </p:txBody>
      </p:sp>
      <p:sp>
        <p:nvSpPr>
          <p:cNvPr id="72" name="Text 69"/>
          <p:cNvSpPr/>
          <p:nvPr/>
        </p:nvSpPr>
        <p:spPr>
          <a:xfrm>
            <a:off x="6469380" y="1805742"/>
            <a:ext cx="4933188" cy="182880"/>
          </a:xfrm>
          <a:prstGeom prst="rect">
            <a:avLst/>
          </a:prstGeom>
          <a:noFill/>
          <a:ln/>
        </p:spPr>
        <p:txBody>
          <a:bodyPr wrap="square" rtlCol="0" anchor="ctr"/>
          <a:lstStyle/>
          <a:p>
            <a:pPr marL="0" indent="0">
              <a:buNone/>
            </a:pPr>
            <a:r>
              <a:rPr lang="en-US" sz="1050" dirty="0">
                <a:solidFill>
                  <a:srgbClr val="3A3A3A"/>
                </a:solidFill>
                <a:latin typeface="Arial" pitchFamily="34" charset="0"/>
                <a:ea typeface="Arial" pitchFamily="34" charset="-122"/>
                <a:cs typeface="Arial" pitchFamily="34" charset="-120"/>
              </a:rPr>
              <a:t>Reactive Maintenance</a:t>
            </a:r>
            <a:endParaRPr lang="en-US" sz="1050" dirty="0"/>
          </a:p>
        </p:txBody>
      </p:sp>
      <p:sp>
        <p:nvSpPr>
          <p:cNvPr id="73" name="Text 70"/>
          <p:cNvSpPr/>
          <p:nvPr/>
        </p:nvSpPr>
        <p:spPr>
          <a:xfrm>
            <a:off x="6469380" y="1997766"/>
            <a:ext cx="4933188" cy="146304"/>
          </a:xfrm>
          <a:prstGeom prst="rect">
            <a:avLst/>
          </a:prstGeom>
          <a:noFill/>
          <a:ln/>
        </p:spPr>
        <p:txBody>
          <a:bodyPr wrap="square" rtlCol="0" anchor="ctr"/>
          <a:lstStyle/>
          <a:p>
            <a:pPr marL="0" indent="0">
              <a:buNone/>
            </a:pPr>
            <a:r>
              <a:rPr lang="en-US" sz="900" dirty="0">
                <a:solidFill>
                  <a:srgbClr val="6B6B6B"/>
                </a:solidFill>
                <a:latin typeface="Arial" pitchFamily="34" charset="0"/>
                <a:ea typeface="Arial" pitchFamily="34" charset="-122"/>
                <a:cs typeface="Arial" pitchFamily="34" charset="-120"/>
              </a:rPr>
              <a:t>↓</a:t>
            </a:r>
            <a:endParaRPr lang="en-US" sz="900" dirty="0"/>
          </a:p>
        </p:txBody>
      </p:sp>
      <p:sp>
        <p:nvSpPr>
          <p:cNvPr id="74" name="Text 71"/>
          <p:cNvSpPr/>
          <p:nvPr/>
        </p:nvSpPr>
        <p:spPr>
          <a:xfrm>
            <a:off x="6469380" y="2162358"/>
            <a:ext cx="4933188" cy="137160"/>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FUTURE STATE</a:t>
            </a:r>
            <a:endParaRPr lang="en-US" sz="750" dirty="0"/>
          </a:p>
        </p:txBody>
      </p:sp>
      <p:sp>
        <p:nvSpPr>
          <p:cNvPr id="75" name="Text 72"/>
          <p:cNvSpPr/>
          <p:nvPr/>
        </p:nvSpPr>
        <p:spPr>
          <a:xfrm>
            <a:off x="6469380" y="2308662"/>
            <a:ext cx="4933188" cy="182880"/>
          </a:xfrm>
          <a:prstGeom prst="rect">
            <a:avLst/>
          </a:prstGeom>
          <a:noFill/>
          <a:ln/>
        </p:spPr>
        <p:txBody>
          <a:bodyPr wrap="square" rtlCol="0" anchor="ctr"/>
          <a:lstStyle/>
          <a:p>
            <a:pPr marL="0" indent="0">
              <a:buNone/>
            </a:pPr>
            <a:r>
              <a:rPr lang="en-US" sz="1050" b="1" dirty="0">
                <a:solidFill>
                  <a:srgbClr val="12233F"/>
                </a:solidFill>
                <a:latin typeface="Arial" pitchFamily="34" charset="0"/>
                <a:ea typeface="Arial" pitchFamily="34" charset="-122"/>
                <a:cs typeface="Arial" pitchFamily="34" charset="-120"/>
              </a:rPr>
              <a:t>Failure Code + HMR-Based PM</a:t>
            </a:r>
            <a:endParaRPr lang="en-US" sz="1050" dirty="0"/>
          </a:p>
        </p:txBody>
      </p:sp>
      <p:sp>
        <p:nvSpPr>
          <p:cNvPr id="76" name="Shape 73"/>
          <p:cNvSpPr/>
          <p:nvPr/>
        </p:nvSpPr>
        <p:spPr>
          <a:xfrm>
            <a:off x="6469380" y="2573838"/>
            <a:ext cx="4933188" cy="5486"/>
          </a:xfrm>
          <a:prstGeom prst="rect">
            <a:avLst/>
          </a:prstGeom>
          <a:solidFill>
            <a:srgbClr val="D9D9D9"/>
          </a:solidFill>
          <a:ln/>
        </p:spPr>
      </p:sp>
      <p:sp>
        <p:nvSpPr>
          <p:cNvPr id="77" name="Text 74"/>
          <p:cNvSpPr/>
          <p:nvPr/>
        </p:nvSpPr>
        <p:spPr>
          <a:xfrm>
            <a:off x="6469380" y="2617572"/>
            <a:ext cx="4933188"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BUSINESS BENEFITS</a:t>
            </a:r>
            <a:endParaRPr lang="en-US" sz="750" dirty="0"/>
          </a:p>
        </p:txBody>
      </p:sp>
      <p:sp>
        <p:nvSpPr>
          <p:cNvPr id="78" name="Text 75"/>
          <p:cNvSpPr/>
          <p:nvPr/>
        </p:nvSpPr>
        <p:spPr>
          <a:xfrm>
            <a:off x="6469380" y="2768648"/>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Reduced Breakdowns</a:t>
            </a:r>
            <a:endParaRPr lang="en-US" sz="850" dirty="0"/>
          </a:p>
        </p:txBody>
      </p:sp>
      <p:sp>
        <p:nvSpPr>
          <p:cNvPr id="79" name="Shape 76"/>
          <p:cNvSpPr/>
          <p:nvPr/>
        </p:nvSpPr>
        <p:spPr>
          <a:xfrm>
            <a:off x="7995302" y="2760697"/>
            <a:ext cx="7315" cy="329184"/>
          </a:xfrm>
          <a:prstGeom prst="rect">
            <a:avLst/>
          </a:prstGeom>
          <a:solidFill>
            <a:srgbClr val="D9D9D9"/>
          </a:solidFill>
          <a:ln/>
        </p:spPr>
      </p:sp>
      <p:sp>
        <p:nvSpPr>
          <p:cNvPr id="80" name="Text 77"/>
          <p:cNvSpPr/>
          <p:nvPr/>
        </p:nvSpPr>
        <p:spPr>
          <a:xfrm>
            <a:off x="8113776" y="2768648"/>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Higher Availability</a:t>
            </a:r>
            <a:endParaRPr lang="en-US" sz="850" dirty="0"/>
          </a:p>
        </p:txBody>
      </p:sp>
      <p:sp>
        <p:nvSpPr>
          <p:cNvPr id="81" name="Shape 78"/>
          <p:cNvSpPr/>
          <p:nvPr/>
        </p:nvSpPr>
        <p:spPr>
          <a:xfrm>
            <a:off x="9639698" y="2760697"/>
            <a:ext cx="7315" cy="329184"/>
          </a:xfrm>
          <a:prstGeom prst="rect">
            <a:avLst/>
          </a:prstGeom>
          <a:solidFill>
            <a:srgbClr val="D9D9D9"/>
          </a:solidFill>
          <a:ln/>
        </p:spPr>
      </p:sp>
      <p:sp>
        <p:nvSpPr>
          <p:cNvPr id="82" name="Text 79"/>
          <p:cNvSpPr/>
          <p:nvPr/>
        </p:nvSpPr>
        <p:spPr>
          <a:xfrm>
            <a:off x="9758172" y="2768648"/>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Better PM Compliance</a:t>
            </a:r>
            <a:endParaRPr lang="en-US" sz="850" dirty="0"/>
          </a:p>
        </p:txBody>
      </p:sp>
      <p:sp>
        <p:nvSpPr>
          <p:cNvPr id="83" name="Shape 80"/>
          <p:cNvSpPr/>
          <p:nvPr/>
        </p:nvSpPr>
        <p:spPr>
          <a:xfrm>
            <a:off x="548640" y="3356810"/>
            <a:ext cx="5408676" cy="1965960"/>
          </a:xfrm>
          <a:prstGeom prst="roundRect">
            <a:avLst>
              <a:gd name="adj" fmla="val 2791"/>
            </a:avLst>
          </a:prstGeom>
          <a:solidFill>
            <a:srgbClr val="FFFFFF"/>
          </a:solidFill>
          <a:ln w="12700">
            <a:solidFill>
              <a:srgbClr val="D9D9D9"/>
            </a:solidFill>
            <a:prstDash val="solid"/>
          </a:ln>
        </p:spPr>
      </p:sp>
      <p:sp>
        <p:nvSpPr>
          <p:cNvPr id="84" name="Text 81"/>
          <p:cNvSpPr/>
          <p:nvPr/>
        </p:nvSpPr>
        <p:spPr>
          <a:xfrm>
            <a:off x="786384" y="3459425"/>
            <a:ext cx="4933188" cy="256032"/>
          </a:xfrm>
          <a:prstGeom prst="rect">
            <a:avLst/>
          </a:prstGeom>
          <a:noFill/>
          <a:ln/>
        </p:spPr>
        <p:txBody>
          <a:bodyPr wrap="square" rtlCol="0" anchor="ctr"/>
          <a:lstStyle/>
          <a:p>
            <a:pPr marL="0" indent="0">
              <a:buNone/>
            </a:pPr>
            <a:r>
              <a:rPr lang="en-US" sz="1400" b="1" dirty="0">
                <a:solidFill>
                  <a:srgbClr val="12233F"/>
                </a:solidFill>
                <a:latin typeface="Arial" pitchFamily="34" charset="0"/>
                <a:ea typeface="Arial" pitchFamily="34" charset="-122"/>
                <a:cs typeface="Arial" pitchFamily="34" charset="-120"/>
              </a:rPr>
              <a:t>Fleet Visibility</a:t>
            </a:r>
            <a:endParaRPr lang="en-US" sz="1400" dirty="0"/>
          </a:p>
        </p:txBody>
      </p:sp>
      <p:sp>
        <p:nvSpPr>
          <p:cNvPr id="85" name="Text 82"/>
          <p:cNvSpPr/>
          <p:nvPr/>
        </p:nvSpPr>
        <p:spPr>
          <a:xfrm>
            <a:off x="786384" y="3775510"/>
            <a:ext cx="4933188" cy="137160"/>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CURRENT STATE</a:t>
            </a:r>
            <a:endParaRPr lang="en-US" sz="750" dirty="0"/>
          </a:p>
        </p:txBody>
      </p:sp>
      <p:sp>
        <p:nvSpPr>
          <p:cNvPr id="86" name="Text 83"/>
          <p:cNvSpPr/>
          <p:nvPr/>
        </p:nvSpPr>
        <p:spPr>
          <a:xfrm>
            <a:off x="786384" y="3960314"/>
            <a:ext cx="4933188" cy="182880"/>
          </a:xfrm>
          <a:prstGeom prst="rect">
            <a:avLst/>
          </a:prstGeom>
          <a:noFill/>
          <a:ln/>
        </p:spPr>
        <p:txBody>
          <a:bodyPr wrap="square" rtlCol="0" anchor="ctr"/>
          <a:lstStyle/>
          <a:p>
            <a:pPr marL="0" indent="0">
              <a:buNone/>
            </a:pPr>
            <a:r>
              <a:rPr lang="en-US" sz="1050" dirty="0">
                <a:solidFill>
                  <a:srgbClr val="3A3A3A"/>
                </a:solidFill>
                <a:latin typeface="Arial" pitchFamily="34" charset="0"/>
                <a:ea typeface="Arial" pitchFamily="34" charset="-122"/>
                <a:cs typeface="Arial" pitchFamily="34" charset="-120"/>
              </a:rPr>
              <a:t>Limited Machine Visibility</a:t>
            </a:r>
            <a:endParaRPr lang="en-US" sz="1050" dirty="0"/>
          </a:p>
        </p:txBody>
      </p:sp>
      <p:sp>
        <p:nvSpPr>
          <p:cNvPr id="87" name="Text 84"/>
          <p:cNvSpPr/>
          <p:nvPr/>
        </p:nvSpPr>
        <p:spPr>
          <a:xfrm>
            <a:off x="786384" y="4152338"/>
            <a:ext cx="4933188" cy="146304"/>
          </a:xfrm>
          <a:prstGeom prst="rect">
            <a:avLst/>
          </a:prstGeom>
          <a:noFill/>
          <a:ln/>
        </p:spPr>
        <p:txBody>
          <a:bodyPr wrap="square" rtlCol="0" anchor="ctr"/>
          <a:lstStyle/>
          <a:p>
            <a:pPr marL="0" indent="0">
              <a:buNone/>
            </a:pPr>
            <a:r>
              <a:rPr lang="en-US" sz="900" dirty="0">
                <a:solidFill>
                  <a:srgbClr val="6B6B6B"/>
                </a:solidFill>
                <a:latin typeface="Arial" pitchFamily="34" charset="0"/>
                <a:ea typeface="Arial" pitchFamily="34" charset="-122"/>
                <a:cs typeface="Arial" pitchFamily="34" charset="-120"/>
              </a:rPr>
              <a:t>↓</a:t>
            </a:r>
            <a:endParaRPr lang="en-US" sz="900" dirty="0"/>
          </a:p>
        </p:txBody>
      </p:sp>
      <p:sp>
        <p:nvSpPr>
          <p:cNvPr id="88" name="Text 85"/>
          <p:cNvSpPr/>
          <p:nvPr/>
        </p:nvSpPr>
        <p:spPr>
          <a:xfrm>
            <a:off x="786384" y="4316930"/>
            <a:ext cx="4933188" cy="137160"/>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FUTURE STATE</a:t>
            </a:r>
            <a:endParaRPr lang="en-US" sz="750" dirty="0"/>
          </a:p>
        </p:txBody>
      </p:sp>
      <p:sp>
        <p:nvSpPr>
          <p:cNvPr id="89" name="Text 86"/>
          <p:cNvSpPr/>
          <p:nvPr/>
        </p:nvSpPr>
        <p:spPr>
          <a:xfrm>
            <a:off x="786384" y="4482484"/>
            <a:ext cx="4933188" cy="182880"/>
          </a:xfrm>
          <a:prstGeom prst="rect">
            <a:avLst/>
          </a:prstGeom>
          <a:noFill/>
          <a:ln/>
        </p:spPr>
        <p:txBody>
          <a:bodyPr wrap="square" rtlCol="0" anchor="ctr"/>
          <a:lstStyle/>
          <a:p>
            <a:pPr marL="0" indent="0">
              <a:buNone/>
            </a:pPr>
            <a:r>
              <a:rPr lang="en-US" sz="1050" b="1" dirty="0">
                <a:solidFill>
                  <a:srgbClr val="12233F"/>
                </a:solidFill>
                <a:latin typeface="Arial" pitchFamily="34" charset="0"/>
                <a:ea typeface="Arial" pitchFamily="34" charset="-122"/>
                <a:cs typeface="Arial" pitchFamily="34" charset="-120"/>
              </a:rPr>
              <a:t>CAN Bus Integration</a:t>
            </a:r>
            <a:endParaRPr lang="en-US" sz="1050" dirty="0"/>
          </a:p>
        </p:txBody>
      </p:sp>
      <p:sp>
        <p:nvSpPr>
          <p:cNvPr id="90" name="Shape 87"/>
          <p:cNvSpPr/>
          <p:nvPr/>
        </p:nvSpPr>
        <p:spPr>
          <a:xfrm>
            <a:off x="786384" y="4728410"/>
            <a:ext cx="4933188" cy="5486"/>
          </a:xfrm>
          <a:prstGeom prst="rect">
            <a:avLst/>
          </a:prstGeom>
          <a:solidFill>
            <a:srgbClr val="D9D9D9"/>
          </a:solidFill>
          <a:ln/>
        </p:spPr>
      </p:sp>
      <p:sp>
        <p:nvSpPr>
          <p:cNvPr id="91" name="Text 88"/>
          <p:cNvSpPr/>
          <p:nvPr/>
        </p:nvSpPr>
        <p:spPr>
          <a:xfrm>
            <a:off x="786384" y="4819850"/>
            <a:ext cx="4933188"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BUSINESS BENEFITS</a:t>
            </a:r>
            <a:endParaRPr lang="en-US" sz="750" dirty="0"/>
          </a:p>
        </p:txBody>
      </p:sp>
      <p:sp>
        <p:nvSpPr>
          <p:cNvPr id="92" name="Text 89"/>
          <p:cNvSpPr/>
          <p:nvPr/>
        </p:nvSpPr>
        <p:spPr>
          <a:xfrm>
            <a:off x="786384" y="4923220"/>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Real-Time Monitoring</a:t>
            </a:r>
            <a:endParaRPr lang="en-US" sz="850" dirty="0"/>
          </a:p>
        </p:txBody>
      </p:sp>
      <p:sp>
        <p:nvSpPr>
          <p:cNvPr id="93" name="Shape 90"/>
          <p:cNvSpPr/>
          <p:nvPr/>
        </p:nvSpPr>
        <p:spPr>
          <a:xfrm>
            <a:off x="2308180" y="4926529"/>
            <a:ext cx="7315" cy="329184"/>
          </a:xfrm>
          <a:prstGeom prst="rect">
            <a:avLst/>
          </a:prstGeom>
          <a:solidFill>
            <a:srgbClr val="D9D9D9"/>
          </a:solidFill>
          <a:ln/>
        </p:spPr>
      </p:sp>
      <p:sp>
        <p:nvSpPr>
          <p:cNvPr id="94" name="Text 91"/>
          <p:cNvSpPr/>
          <p:nvPr/>
        </p:nvSpPr>
        <p:spPr>
          <a:xfrm>
            <a:off x="2430780" y="4923220"/>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Early Fault Detection</a:t>
            </a:r>
            <a:endParaRPr lang="en-US" sz="850" dirty="0"/>
          </a:p>
        </p:txBody>
      </p:sp>
      <p:sp>
        <p:nvSpPr>
          <p:cNvPr id="95" name="Shape 92"/>
          <p:cNvSpPr/>
          <p:nvPr/>
        </p:nvSpPr>
        <p:spPr>
          <a:xfrm>
            <a:off x="3952576" y="4926529"/>
            <a:ext cx="7315" cy="329184"/>
          </a:xfrm>
          <a:prstGeom prst="rect">
            <a:avLst/>
          </a:prstGeom>
          <a:solidFill>
            <a:srgbClr val="D9D9D9"/>
          </a:solidFill>
          <a:ln/>
        </p:spPr>
      </p:sp>
      <p:sp>
        <p:nvSpPr>
          <p:cNvPr id="96" name="Text 93"/>
          <p:cNvSpPr/>
          <p:nvPr/>
        </p:nvSpPr>
        <p:spPr>
          <a:xfrm>
            <a:off x="4075176" y="4923220"/>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Faster Decisions</a:t>
            </a:r>
            <a:endParaRPr lang="en-US" sz="850" dirty="0"/>
          </a:p>
        </p:txBody>
      </p:sp>
      <p:sp>
        <p:nvSpPr>
          <p:cNvPr id="97" name="Shape 94"/>
          <p:cNvSpPr/>
          <p:nvPr/>
        </p:nvSpPr>
        <p:spPr>
          <a:xfrm>
            <a:off x="6231636" y="3356810"/>
            <a:ext cx="5408676" cy="1965960"/>
          </a:xfrm>
          <a:prstGeom prst="roundRect">
            <a:avLst>
              <a:gd name="adj" fmla="val 2791"/>
            </a:avLst>
          </a:prstGeom>
          <a:solidFill>
            <a:srgbClr val="FFFFFF"/>
          </a:solidFill>
          <a:ln w="12700">
            <a:solidFill>
              <a:srgbClr val="D9D9D9"/>
            </a:solidFill>
            <a:prstDash val="solid"/>
          </a:ln>
        </p:spPr>
      </p:sp>
      <p:sp>
        <p:nvSpPr>
          <p:cNvPr id="98" name="Text 95"/>
          <p:cNvSpPr/>
          <p:nvPr/>
        </p:nvSpPr>
        <p:spPr>
          <a:xfrm>
            <a:off x="6469380" y="3459425"/>
            <a:ext cx="4933188" cy="256032"/>
          </a:xfrm>
          <a:prstGeom prst="rect">
            <a:avLst/>
          </a:prstGeom>
          <a:noFill/>
          <a:ln/>
        </p:spPr>
        <p:txBody>
          <a:bodyPr wrap="square" rtlCol="0" anchor="ctr"/>
          <a:lstStyle/>
          <a:p>
            <a:pPr marL="0" indent="0">
              <a:buNone/>
            </a:pPr>
            <a:r>
              <a:rPr lang="en-US" sz="1400" b="1" dirty="0">
                <a:solidFill>
                  <a:srgbClr val="12233F"/>
                </a:solidFill>
                <a:latin typeface="Arial" pitchFamily="34" charset="0"/>
                <a:ea typeface="Arial" pitchFamily="34" charset="-122"/>
                <a:cs typeface="Arial" pitchFamily="34" charset="-120"/>
              </a:rPr>
              <a:t>Decision Support</a:t>
            </a:r>
            <a:endParaRPr lang="en-US" sz="1400" dirty="0"/>
          </a:p>
        </p:txBody>
      </p:sp>
      <p:sp>
        <p:nvSpPr>
          <p:cNvPr id="99" name="Text 96"/>
          <p:cNvSpPr/>
          <p:nvPr/>
        </p:nvSpPr>
        <p:spPr>
          <a:xfrm>
            <a:off x="6469380" y="3775510"/>
            <a:ext cx="4933188" cy="137160"/>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CURRENT STATE</a:t>
            </a:r>
            <a:endParaRPr lang="en-US" sz="750" dirty="0"/>
          </a:p>
        </p:txBody>
      </p:sp>
      <p:sp>
        <p:nvSpPr>
          <p:cNvPr id="100" name="Text 97"/>
          <p:cNvSpPr/>
          <p:nvPr/>
        </p:nvSpPr>
        <p:spPr>
          <a:xfrm>
            <a:off x="6469380" y="3960314"/>
            <a:ext cx="4933188" cy="182880"/>
          </a:xfrm>
          <a:prstGeom prst="rect">
            <a:avLst/>
          </a:prstGeom>
          <a:noFill/>
          <a:ln/>
        </p:spPr>
        <p:txBody>
          <a:bodyPr wrap="square" rtlCol="0" anchor="ctr"/>
          <a:lstStyle/>
          <a:p>
            <a:pPr marL="0" indent="0">
              <a:buNone/>
            </a:pPr>
            <a:r>
              <a:rPr lang="en-US" sz="1050" dirty="0">
                <a:solidFill>
                  <a:srgbClr val="3A3A3A"/>
                </a:solidFill>
                <a:latin typeface="Arial" pitchFamily="34" charset="0"/>
                <a:ea typeface="Arial" pitchFamily="34" charset="-122"/>
                <a:cs typeface="Arial" pitchFamily="34" charset="-120"/>
              </a:rPr>
              <a:t>Fragmented Operational Data</a:t>
            </a:r>
            <a:endParaRPr lang="en-US" sz="1050" dirty="0"/>
          </a:p>
        </p:txBody>
      </p:sp>
      <p:sp>
        <p:nvSpPr>
          <p:cNvPr id="101" name="Text 98"/>
          <p:cNvSpPr/>
          <p:nvPr/>
        </p:nvSpPr>
        <p:spPr>
          <a:xfrm>
            <a:off x="6469380" y="4152338"/>
            <a:ext cx="4933188" cy="146304"/>
          </a:xfrm>
          <a:prstGeom prst="rect">
            <a:avLst/>
          </a:prstGeom>
          <a:noFill/>
          <a:ln/>
        </p:spPr>
        <p:txBody>
          <a:bodyPr wrap="square" rtlCol="0" anchor="ctr"/>
          <a:lstStyle/>
          <a:p>
            <a:pPr marL="0" indent="0">
              <a:buNone/>
            </a:pPr>
            <a:r>
              <a:rPr lang="en-US" sz="900" dirty="0">
                <a:solidFill>
                  <a:srgbClr val="6B6B6B"/>
                </a:solidFill>
                <a:latin typeface="Arial" pitchFamily="34" charset="0"/>
                <a:ea typeface="Arial" pitchFamily="34" charset="-122"/>
                <a:cs typeface="Arial" pitchFamily="34" charset="-120"/>
              </a:rPr>
              <a:t>↓</a:t>
            </a:r>
            <a:endParaRPr lang="en-US" sz="900" dirty="0"/>
          </a:p>
        </p:txBody>
      </p:sp>
      <p:sp>
        <p:nvSpPr>
          <p:cNvPr id="102" name="Text 99"/>
          <p:cNvSpPr/>
          <p:nvPr/>
        </p:nvSpPr>
        <p:spPr>
          <a:xfrm>
            <a:off x="6469380" y="4316930"/>
            <a:ext cx="4933188" cy="137160"/>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FUTURE STATE</a:t>
            </a:r>
            <a:endParaRPr lang="en-US" sz="750" dirty="0"/>
          </a:p>
        </p:txBody>
      </p:sp>
      <p:sp>
        <p:nvSpPr>
          <p:cNvPr id="103" name="Text 100"/>
          <p:cNvSpPr/>
          <p:nvPr/>
        </p:nvSpPr>
        <p:spPr>
          <a:xfrm>
            <a:off x="6469380" y="4482484"/>
            <a:ext cx="4933188" cy="182880"/>
          </a:xfrm>
          <a:prstGeom prst="rect">
            <a:avLst/>
          </a:prstGeom>
          <a:noFill/>
          <a:ln/>
        </p:spPr>
        <p:txBody>
          <a:bodyPr wrap="square" rtlCol="0" anchor="ctr"/>
          <a:lstStyle/>
          <a:p>
            <a:pPr marL="0" indent="0">
              <a:buNone/>
            </a:pPr>
            <a:r>
              <a:rPr lang="en-US" sz="1050" b="1" dirty="0">
                <a:solidFill>
                  <a:srgbClr val="12233F"/>
                </a:solidFill>
                <a:latin typeface="Arial" pitchFamily="34" charset="0"/>
                <a:ea typeface="Arial" pitchFamily="34" charset="-122"/>
                <a:cs typeface="Arial" pitchFamily="34" charset="-120"/>
              </a:rPr>
              <a:t>Integrated Decision Support</a:t>
            </a:r>
            <a:endParaRPr lang="en-US" sz="1050" dirty="0"/>
          </a:p>
        </p:txBody>
      </p:sp>
      <p:sp>
        <p:nvSpPr>
          <p:cNvPr id="104" name="Shape 101"/>
          <p:cNvSpPr/>
          <p:nvPr/>
        </p:nvSpPr>
        <p:spPr>
          <a:xfrm>
            <a:off x="6469380" y="4728410"/>
            <a:ext cx="4933188" cy="5486"/>
          </a:xfrm>
          <a:prstGeom prst="rect">
            <a:avLst/>
          </a:prstGeom>
          <a:solidFill>
            <a:srgbClr val="D9D9D9"/>
          </a:solidFill>
          <a:ln/>
        </p:spPr>
      </p:sp>
      <p:sp>
        <p:nvSpPr>
          <p:cNvPr id="105" name="Text 102"/>
          <p:cNvSpPr/>
          <p:nvPr/>
        </p:nvSpPr>
        <p:spPr>
          <a:xfrm>
            <a:off x="6469380" y="4819850"/>
            <a:ext cx="4933188" cy="146304"/>
          </a:xfrm>
          <a:prstGeom prst="rect">
            <a:avLst/>
          </a:prstGeom>
          <a:noFill/>
          <a:ln/>
        </p:spPr>
        <p:txBody>
          <a:bodyPr wrap="square" rtlCol="0" anchor="ctr"/>
          <a:lstStyle/>
          <a:p>
            <a:pPr marL="0" indent="0">
              <a:buNone/>
            </a:pPr>
            <a:r>
              <a:rPr lang="en-US" sz="750" b="1" kern="0" spc="60" dirty="0">
                <a:solidFill>
                  <a:srgbClr val="6B6B6B"/>
                </a:solidFill>
                <a:latin typeface="Arial" pitchFamily="34" charset="0"/>
                <a:ea typeface="Arial" pitchFamily="34" charset="-122"/>
                <a:cs typeface="Arial" pitchFamily="34" charset="-120"/>
              </a:rPr>
              <a:t>BUSINESS BENEFITS</a:t>
            </a:r>
            <a:endParaRPr lang="en-US" sz="750" dirty="0"/>
          </a:p>
        </p:txBody>
      </p:sp>
      <p:sp>
        <p:nvSpPr>
          <p:cNvPr id="106" name="Text 103"/>
          <p:cNvSpPr/>
          <p:nvPr/>
        </p:nvSpPr>
        <p:spPr>
          <a:xfrm>
            <a:off x="6469380" y="4923220"/>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Data-Driven Decisions</a:t>
            </a:r>
            <a:endParaRPr lang="en-US" sz="850" dirty="0"/>
          </a:p>
        </p:txBody>
      </p:sp>
      <p:sp>
        <p:nvSpPr>
          <p:cNvPr id="107" name="Shape 104"/>
          <p:cNvSpPr/>
          <p:nvPr/>
        </p:nvSpPr>
        <p:spPr>
          <a:xfrm>
            <a:off x="7991176" y="4926529"/>
            <a:ext cx="7315" cy="329184"/>
          </a:xfrm>
          <a:prstGeom prst="rect">
            <a:avLst/>
          </a:prstGeom>
          <a:solidFill>
            <a:srgbClr val="D9D9D9"/>
          </a:solidFill>
          <a:ln/>
        </p:spPr>
      </p:sp>
      <p:sp>
        <p:nvSpPr>
          <p:cNvPr id="108" name="Text 105"/>
          <p:cNvSpPr/>
          <p:nvPr/>
        </p:nvSpPr>
        <p:spPr>
          <a:xfrm>
            <a:off x="8113776" y="4923220"/>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Resource Optimization</a:t>
            </a:r>
            <a:endParaRPr lang="en-US" sz="850" dirty="0"/>
          </a:p>
        </p:txBody>
      </p:sp>
      <p:sp>
        <p:nvSpPr>
          <p:cNvPr id="109" name="Shape 106"/>
          <p:cNvSpPr/>
          <p:nvPr/>
        </p:nvSpPr>
        <p:spPr>
          <a:xfrm>
            <a:off x="9635572" y="4926529"/>
            <a:ext cx="7315" cy="329184"/>
          </a:xfrm>
          <a:prstGeom prst="rect">
            <a:avLst/>
          </a:prstGeom>
          <a:solidFill>
            <a:srgbClr val="D9D9D9"/>
          </a:solidFill>
          <a:ln/>
        </p:spPr>
      </p:sp>
      <p:sp>
        <p:nvSpPr>
          <p:cNvPr id="110" name="Text 107"/>
          <p:cNvSpPr/>
          <p:nvPr/>
        </p:nvSpPr>
        <p:spPr>
          <a:xfrm>
            <a:off x="9758172" y="4923220"/>
            <a:ext cx="1571244" cy="365760"/>
          </a:xfrm>
          <a:prstGeom prst="rect">
            <a:avLst/>
          </a:prstGeom>
          <a:noFill/>
          <a:ln/>
        </p:spPr>
        <p:txBody>
          <a:bodyPr wrap="square" rtlCol="0" anchor="ctr"/>
          <a:lstStyle/>
          <a:p>
            <a:pPr marL="0" indent="0">
              <a:lnSpc>
                <a:spcPct val="110000"/>
              </a:lnSpc>
              <a:buNone/>
            </a:pPr>
            <a:r>
              <a:rPr lang="en-US" sz="850" b="1" dirty="0">
                <a:solidFill>
                  <a:srgbClr val="12233F"/>
                </a:solidFill>
                <a:latin typeface="Arial" pitchFamily="34" charset="0"/>
                <a:ea typeface="Arial" pitchFamily="34" charset="-122"/>
                <a:cs typeface="Arial" pitchFamily="34" charset="-120"/>
              </a:rPr>
              <a:t>Higher Efficiency</a:t>
            </a:r>
            <a:endParaRPr lang="en-US" sz="850" dirty="0"/>
          </a:p>
        </p:txBody>
      </p:sp>
      <p:sp>
        <p:nvSpPr>
          <p:cNvPr id="111" name="Shape 108"/>
          <p:cNvSpPr/>
          <p:nvPr/>
        </p:nvSpPr>
        <p:spPr>
          <a:xfrm>
            <a:off x="548640" y="5520941"/>
            <a:ext cx="11091672" cy="7315"/>
          </a:xfrm>
          <a:prstGeom prst="rect">
            <a:avLst/>
          </a:prstGeom>
          <a:solidFill>
            <a:srgbClr val="D9D9D9"/>
          </a:solidFill>
          <a:ln/>
        </p:spPr>
      </p:sp>
      <p:sp>
        <p:nvSpPr>
          <p:cNvPr id="112" name="Text 109"/>
          <p:cNvSpPr/>
          <p:nvPr/>
        </p:nvSpPr>
        <p:spPr>
          <a:xfrm>
            <a:off x="548640" y="5641844"/>
            <a:ext cx="11091672" cy="182880"/>
          </a:xfrm>
          <a:prstGeom prst="rect">
            <a:avLst/>
          </a:prstGeom>
          <a:noFill/>
          <a:ln/>
        </p:spPr>
        <p:txBody>
          <a:bodyPr wrap="square" rtlCol="0" anchor="ctr"/>
          <a:lstStyle/>
          <a:p>
            <a:pPr marL="0" indent="0" algn="ctr">
              <a:buNone/>
            </a:pPr>
            <a:r>
              <a:rPr lang="en-US" sz="950" b="1" kern="0" spc="100" dirty="0">
                <a:solidFill>
                  <a:srgbClr val="6B6B6B"/>
                </a:solidFill>
                <a:latin typeface="Arial" pitchFamily="34" charset="0"/>
                <a:ea typeface="Arial" pitchFamily="34" charset="-122"/>
                <a:cs typeface="Arial" pitchFamily="34" charset="-120"/>
              </a:rPr>
              <a:t>OVERALL BUSINESS IMPACT</a:t>
            </a:r>
            <a:endParaRPr lang="en-US" sz="950" dirty="0"/>
          </a:p>
        </p:txBody>
      </p:sp>
      <p:sp>
        <p:nvSpPr>
          <p:cNvPr id="113" name="Text 110"/>
          <p:cNvSpPr/>
          <p:nvPr/>
        </p:nvSpPr>
        <p:spPr>
          <a:xfrm>
            <a:off x="548640" y="5886701"/>
            <a:ext cx="11091672" cy="274320"/>
          </a:xfrm>
          <a:prstGeom prst="rect">
            <a:avLst/>
          </a:prstGeom>
          <a:noFill/>
          <a:ln/>
        </p:spPr>
        <p:txBody>
          <a:bodyPr wrap="square" rtlCol="0" anchor="ctr"/>
          <a:lstStyle/>
          <a:p>
            <a:pPr marL="0" indent="0" algn="ctr">
              <a:lnSpc>
                <a:spcPct val="120000"/>
              </a:lnSpc>
              <a:buNone/>
            </a:pPr>
            <a:r>
              <a:rPr lang="en-US" sz="1050" i="1" dirty="0">
                <a:solidFill>
                  <a:srgbClr val="6B6B6B"/>
                </a:solidFill>
                <a:latin typeface="Arial" pitchFamily="34" charset="0"/>
                <a:ea typeface="Arial" pitchFamily="34" charset="-122"/>
                <a:cs typeface="Arial" pitchFamily="34" charset="-120"/>
              </a:rPr>
              <a:t>Together, the proposed operational improvements and engineering frameworks establish a scalable pathway toward safer, more reliable and data-driven fleet operations.</a:t>
            </a:r>
            <a:endParaRPr lang="en-US" sz="1050" dirty="0"/>
          </a:p>
        </p:txBody>
      </p:sp>
      <p:grpSp>
        <p:nvGrpSpPr>
          <p:cNvPr id="114" name="Group 5">
            <a:extLst>
              <a:ext uri="{FF2B5EF4-FFF2-40B4-BE49-F238E27FC236}">
                <a16:creationId xmlns:a16="http://schemas.microsoft.com/office/drawing/2014/main" id="{0FAD55DC-95AB-7F72-6A6C-7E7BE281AA91}"/>
              </a:ext>
            </a:extLst>
          </p:cNvPr>
          <p:cNvGrpSpPr/>
          <p:nvPr/>
        </p:nvGrpSpPr>
        <p:grpSpPr>
          <a:xfrm>
            <a:off x="559002" y="786384"/>
            <a:ext cx="5544000" cy="45719"/>
            <a:chOff x="0" y="0"/>
            <a:chExt cx="14068412" cy="121920"/>
          </a:xfrm>
        </p:grpSpPr>
        <p:sp>
          <p:nvSpPr>
            <p:cNvPr id="115" name="Freeform 6" descr="D:\Corp Comm Department Work 2015\Brand Adani 2012\adani_gradient_master.jpg">
              <a:extLst>
                <a:ext uri="{FF2B5EF4-FFF2-40B4-BE49-F238E27FC236}">
                  <a16:creationId xmlns:a16="http://schemas.microsoft.com/office/drawing/2014/main" id="{279D4DD4-75C7-C000-8424-1CA1F30ECA22}"/>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3"/>
              <a:stretch>
                <a:fillRect b="-5072"/>
              </a:stretch>
            </a:blipFill>
          </p:spPr>
          <p:txBody>
            <a:bodyPr/>
            <a:lstStyle/>
            <a:p>
              <a:endParaRPr lang="en-IN"/>
            </a:p>
          </p:txBody>
        </p:sp>
      </p:grpSp>
      <p:grpSp>
        <p:nvGrpSpPr>
          <p:cNvPr id="116" name="Group 3">
            <a:extLst>
              <a:ext uri="{FF2B5EF4-FFF2-40B4-BE49-F238E27FC236}">
                <a16:creationId xmlns:a16="http://schemas.microsoft.com/office/drawing/2014/main" id="{DBDFA2F0-7AD1-AA6E-F295-BB58E984F36E}"/>
              </a:ext>
            </a:extLst>
          </p:cNvPr>
          <p:cNvGrpSpPr/>
          <p:nvPr/>
        </p:nvGrpSpPr>
        <p:grpSpPr>
          <a:xfrm>
            <a:off x="10056527" y="6189371"/>
            <a:ext cx="2136000" cy="669944"/>
            <a:chOff x="0" y="0"/>
            <a:chExt cx="4272001" cy="1339888"/>
          </a:xfrm>
        </p:grpSpPr>
        <p:sp>
          <p:nvSpPr>
            <p:cNvPr id="117" name="Freeform 4">
              <a:extLst>
                <a:ext uri="{FF2B5EF4-FFF2-40B4-BE49-F238E27FC236}">
                  <a16:creationId xmlns:a16="http://schemas.microsoft.com/office/drawing/2014/main" id="{2ADAA9C9-BF03-FA6C-D7A3-639362A58D21}"/>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4"/>
              <a:stretch>
                <a:fillRect l="-470838" t="-924095" b="-2"/>
              </a:stretch>
            </a:blipFill>
          </p:spPr>
        </p:sp>
      </p:grpSp>
    </p:spTree>
    <p:extLst>
      <p:ext uri="{BB962C8B-B14F-4D97-AF65-F5344CB8AC3E}">
        <p14:creationId xmlns:p14="http://schemas.microsoft.com/office/powerpoint/2010/main" val="3799775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3719" y="379476"/>
            <a:ext cx="9601200" cy="438912"/>
          </a:xfrm>
          <a:prstGeom prst="rect">
            <a:avLst/>
          </a:prstGeom>
          <a:noFill/>
          <a:ln/>
        </p:spPr>
        <p:txBody>
          <a:bodyPr wrap="square" rtlCol="0" anchor="ctr"/>
          <a:lstStyle/>
          <a:p>
            <a:pPr marL="0" indent="0">
              <a:buNone/>
            </a:pPr>
            <a:r>
              <a:rPr lang="en-US" sz="2400" dirty="0">
                <a:solidFill>
                  <a:srgbClr val="0070C0"/>
                </a:solidFill>
                <a:latin typeface="Arial" pitchFamily="34" charset="0"/>
                <a:ea typeface="Arial" pitchFamily="34" charset="-122"/>
                <a:cs typeface="Arial" pitchFamily="34" charset="-120"/>
              </a:rPr>
              <a:t>Towards a Digital Mine</a:t>
            </a:r>
            <a:endParaRPr lang="en-US" sz="2400" dirty="0"/>
          </a:p>
        </p:txBody>
      </p:sp>
      <p:sp>
        <p:nvSpPr>
          <p:cNvPr id="54" name="Text 51"/>
          <p:cNvSpPr/>
          <p:nvPr/>
        </p:nvSpPr>
        <p:spPr>
          <a:xfrm>
            <a:off x="548640" y="934517"/>
            <a:ext cx="11091672" cy="256032"/>
          </a:xfrm>
          <a:prstGeom prst="rect">
            <a:avLst/>
          </a:prstGeom>
          <a:noFill/>
          <a:ln/>
        </p:spPr>
        <p:txBody>
          <a:bodyPr wrap="square" rtlCol="0" anchor="ctr"/>
          <a:lstStyle/>
          <a:p>
            <a:pPr marL="0" indent="0">
              <a:buNone/>
            </a:pPr>
            <a:r>
              <a:rPr lang="en-US" sz="1200" i="1" dirty="0">
                <a:solidFill>
                  <a:srgbClr val="6B6B6B"/>
                </a:solidFill>
                <a:latin typeface="Arial" pitchFamily="34" charset="0"/>
                <a:ea typeface="Arial" pitchFamily="34" charset="-122"/>
                <a:cs typeface="Arial" pitchFamily="34" charset="-120"/>
              </a:rPr>
              <a:t>Future technology integration for the next generation Fleet Management System.</a:t>
            </a:r>
            <a:endParaRPr lang="en-US" sz="1200" dirty="0"/>
          </a:p>
        </p:txBody>
      </p:sp>
      <p:sp>
        <p:nvSpPr>
          <p:cNvPr id="55" name="Shape 52"/>
          <p:cNvSpPr/>
          <p:nvPr/>
        </p:nvSpPr>
        <p:spPr>
          <a:xfrm>
            <a:off x="548640" y="1296412"/>
            <a:ext cx="5362956" cy="4160520"/>
          </a:xfrm>
          <a:prstGeom prst="roundRect">
            <a:avLst>
              <a:gd name="adj" fmla="val 1538"/>
            </a:avLst>
          </a:prstGeom>
          <a:solidFill>
            <a:srgbClr val="FFFFFF"/>
          </a:solidFill>
          <a:ln w="12700">
            <a:solidFill>
              <a:srgbClr val="D9D9D9"/>
            </a:solidFill>
            <a:prstDash val="solid"/>
          </a:ln>
        </p:spPr>
      </p:sp>
      <p:sp>
        <p:nvSpPr>
          <p:cNvPr id="56" name="Text 53"/>
          <p:cNvSpPr/>
          <p:nvPr/>
        </p:nvSpPr>
        <p:spPr>
          <a:xfrm>
            <a:off x="882596" y="1493608"/>
            <a:ext cx="4631436" cy="502920"/>
          </a:xfrm>
          <a:prstGeom prst="rect">
            <a:avLst/>
          </a:prstGeom>
          <a:noFill/>
          <a:ln/>
        </p:spPr>
        <p:txBody>
          <a:bodyPr wrap="square" rtlCol="0" anchor="ctr"/>
          <a:lstStyle/>
          <a:p>
            <a:pPr marL="0" indent="0">
              <a:lnSpc>
                <a:spcPct val="115000"/>
              </a:lnSpc>
              <a:buNone/>
            </a:pPr>
            <a:r>
              <a:rPr lang="en-US" b="1" dirty="0">
                <a:solidFill>
                  <a:srgbClr val="12233F"/>
                </a:solidFill>
                <a:latin typeface="Arial" pitchFamily="34" charset="0"/>
                <a:ea typeface="Arial" pitchFamily="34" charset="-122"/>
                <a:cs typeface="Arial" pitchFamily="34" charset="-120"/>
              </a:rPr>
              <a:t>L</a:t>
            </a:r>
            <a:r>
              <a:rPr lang="en-US" sz="1800" b="1" dirty="0">
                <a:solidFill>
                  <a:srgbClr val="12233F"/>
                </a:solidFill>
                <a:latin typeface="Arial" pitchFamily="34" charset="0"/>
                <a:ea typeface="Arial" pitchFamily="34" charset="-122"/>
                <a:cs typeface="Arial" pitchFamily="34" charset="-120"/>
              </a:rPr>
              <a:t>oad Management System (LMS)</a:t>
            </a:r>
            <a:endParaRPr lang="en-US" sz="1800" dirty="0"/>
          </a:p>
        </p:txBody>
      </p:sp>
      <p:sp>
        <p:nvSpPr>
          <p:cNvPr id="57" name="Shape 54"/>
          <p:cNvSpPr/>
          <p:nvPr/>
        </p:nvSpPr>
        <p:spPr>
          <a:xfrm>
            <a:off x="914400" y="2210812"/>
            <a:ext cx="4631436" cy="5486"/>
          </a:xfrm>
          <a:prstGeom prst="rect">
            <a:avLst/>
          </a:prstGeom>
          <a:solidFill>
            <a:srgbClr val="D9D9D9"/>
          </a:solidFill>
          <a:ln/>
        </p:spPr>
      </p:sp>
      <p:sp>
        <p:nvSpPr>
          <p:cNvPr id="58" name="Text 55"/>
          <p:cNvSpPr/>
          <p:nvPr/>
        </p:nvSpPr>
        <p:spPr>
          <a:xfrm>
            <a:off x="914400" y="2357116"/>
            <a:ext cx="4631436" cy="182880"/>
          </a:xfrm>
          <a:prstGeom prst="rect">
            <a:avLst/>
          </a:prstGeom>
          <a:noFill/>
          <a:ln/>
        </p:spPr>
        <p:txBody>
          <a:bodyPr wrap="square" rtlCol="0" anchor="ctr"/>
          <a:lstStyle/>
          <a:p>
            <a:pPr marL="0" indent="0">
              <a:buNone/>
            </a:pPr>
            <a:r>
              <a:rPr lang="en-US" sz="950" b="1" kern="0" spc="80" dirty="0">
                <a:solidFill>
                  <a:srgbClr val="6B6B6B"/>
                </a:solidFill>
                <a:latin typeface="Arial" pitchFamily="34" charset="0"/>
                <a:ea typeface="Arial" pitchFamily="34" charset="-122"/>
                <a:cs typeface="Arial" pitchFamily="34" charset="-120"/>
              </a:rPr>
              <a:t>CURRENT LIMITATION</a:t>
            </a:r>
            <a:endParaRPr lang="en-US" sz="950" dirty="0"/>
          </a:p>
        </p:txBody>
      </p:sp>
      <p:sp>
        <p:nvSpPr>
          <p:cNvPr id="59" name="Text 56"/>
          <p:cNvSpPr/>
          <p:nvPr/>
        </p:nvSpPr>
        <p:spPr>
          <a:xfrm>
            <a:off x="914400" y="2576572"/>
            <a:ext cx="4631436" cy="640080"/>
          </a:xfrm>
          <a:prstGeom prst="rect">
            <a:avLst/>
          </a:prstGeom>
          <a:noFill/>
          <a:ln/>
        </p:spPr>
        <p:txBody>
          <a:bodyPr wrap="square" rtlCol="0" anchor="ctr"/>
          <a:lstStyle/>
          <a:p>
            <a:pPr marL="0" indent="0">
              <a:lnSpc>
                <a:spcPct val="130000"/>
              </a:lnSpc>
              <a:buNone/>
            </a:pPr>
            <a:r>
              <a:rPr lang="en-US" sz="1250" dirty="0">
                <a:solidFill>
                  <a:srgbClr val="3A3A3A"/>
                </a:solidFill>
                <a:latin typeface="Arial" pitchFamily="34" charset="0"/>
                <a:ea typeface="Arial" pitchFamily="34" charset="-122"/>
                <a:cs typeface="Arial" pitchFamily="34" charset="-120"/>
              </a:rPr>
              <a:t>Static Truck Factors estimate production but cannot measure payload on individual trips.</a:t>
            </a:r>
            <a:endParaRPr lang="en-US" sz="1250" dirty="0"/>
          </a:p>
        </p:txBody>
      </p:sp>
      <p:sp>
        <p:nvSpPr>
          <p:cNvPr id="60" name="Shape 57"/>
          <p:cNvSpPr/>
          <p:nvPr/>
        </p:nvSpPr>
        <p:spPr>
          <a:xfrm>
            <a:off x="914400" y="3317236"/>
            <a:ext cx="4631436" cy="5486"/>
          </a:xfrm>
          <a:prstGeom prst="rect">
            <a:avLst/>
          </a:prstGeom>
          <a:solidFill>
            <a:srgbClr val="D9D9D9"/>
          </a:solidFill>
          <a:ln/>
        </p:spPr>
      </p:sp>
      <p:sp>
        <p:nvSpPr>
          <p:cNvPr id="61" name="Text 58"/>
          <p:cNvSpPr/>
          <p:nvPr/>
        </p:nvSpPr>
        <p:spPr>
          <a:xfrm>
            <a:off x="914400" y="3463540"/>
            <a:ext cx="4631436" cy="182880"/>
          </a:xfrm>
          <a:prstGeom prst="rect">
            <a:avLst/>
          </a:prstGeom>
          <a:noFill/>
          <a:ln/>
        </p:spPr>
        <p:txBody>
          <a:bodyPr wrap="square" rtlCol="0" anchor="ctr"/>
          <a:lstStyle/>
          <a:p>
            <a:pPr marL="0" indent="0">
              <a:buNone/>
            </a:pPr>
            <a:r>
              <a:rPr lang="en-US" sz="950" b="1" kern="0" spc="80" dirty="0">
                <a:solidFill>
                  <a:srgbClr val="6B6B6B"/>
                </a:solidFill>
                <a:latin typeface="Arial" pitchFamily="34" charset="0"/>
                <a:ea typeface="Arial" pitchFamily="34" charset="-122"/>
                <a:cs typeface="Arial" pitchFamily="34" charset="-120"/>
              </a:rPr>
              <a:t>FUTURE INTEGRATION</a:t>
            </a:r>
            <a:endParaRPr lang="en-US" sz="950" dirty="0"/>
          </a:p>
        </p:txBody>
      </p:sp>
      <p:sp>
        <p:nvSpPr>
          <p:cNvPr id="62" name="Text 59"/>
          <p:cNvSpPr/>
          <p:nvPr/>
        </p:nvSpPr>
        <p:spPr>
          <a:xfrm>
            <a:off x="914400" y="3682996"/>
            <a:ext cx="4631436" cy="640080"/>
          </a:xfrm>
          <a:prstGeom prst="rect">
            <a:avLst/>
          </a:prstGeom>
          <a:noFill/>
          <a:ln/>
        </p:spPr>
        <p:txBody>
          <a:bodyPr wrap="square" rtlCol="0" anchor="ctr"/>
          <a:lstStyle/>
          <a:p>
            <a:pPr marL="0" indent="0">
              <a:lnSpc>
                <a:spcPct val="130000"/>
              </a:lnSpc>
              <a:buNone/>
            </a:pPr>
            <a:r>
              <a:rPr lang="en-US" sz="1250" dirty="0">
                <a:solidFill>
                  <a:srgbClr val="3A3A3A"/>
                </a:solidFill>
                <a:latin typeface="Arial" pitchFamily="34" charset="0"/>
                <a:ea typeface="Arial" pitchFamily="34" charset="-122"/>
                <a:cs typeface="Arial" pitchFamily="34" charset="-120"/>
              </a:rPr>
              <a:t>Integrate suspension pressure/load sensors with CAN Bus to capture real-time trip-level payload within the existing FMS.</a:t>
            </a:r>
            <a:endParaRPr lang="en-US" sz="1250" dirty="0"/>
          </a:p>
        </p:txBody>
      </p:sp>
      <p:sp>
        <p:nvSpPr>
          <p:cNvPr id="63" name="Shape 60"/>
          <p:cNvSpPr/>
          <p:nvPr/>
        </p:nvSpPr>
        <p:spPr>
          <a:xfrm>
            <a:off x="914400" y="4423660"/>
            <a:ext cx="4631436" cy="5486"/>
          </a:xfrm>
          <a:prstGeom prst="rect">
            <a:avLst/>
          </a:prstGeom>
          <a:solidFill>
            <a:srgbClr val="D9D9D9"/>
          </a:solidFill>
          <a:ln/>
        </p:spPr>
      </p:sp>
      <p:sp>
        <p:nvSpPr>
          <p:cNvPr id="64" name="Text 61"/>
          <p:cNvSpPr/>
          <p:nvPr/>
        </p:nvSpPr>
        <p:spPr>
          <a:xfrm>
            <a:off x="914400" y="4569964"/>
            <a:ext cx="4631436" cy="182880"/>
          </a:xfrm>
          <a:prstGeom prst="rect">
            <a:avLst/>
          </a:prstGeom>
          <a:noFill/>
          <a:ln/>
        </p:spPr>
        <p:txBody>
          <a:bodyPr wrap="square" rtlCol="0" anchor="ctr"/>
          <a:lstStyle/>
          <a:p>
            <a:pPr marL="0" indent="0">
              <a:buNone/>
            </a:pPr>
            <a:r>
              <a:rPr lang="en-US" sz="950" b="1" kern="0" spc="80" dirty="0">
                <a:solidFill>
                  <a:srgbClr val="6B6B6B"/>
                </a:solidFill>
                <a:latin typeface="Arial" pitchFamily="34" charset="0"/>
                <a:ea typeface="Arial" pitchFamily="34" charset="-122"/>
                <a:cs typeface="Arial" pitchFamily="34" charset="-120"/>
              </a:rPr>
              <a:t>FUTURE VALUE</a:t>
            </a:r>
            <a:endParaRPr lang="en-US" sz="950" dirty="0"/>
          </a:p>
        </p:txBody>
      </p:sp>
      <p:sp>
        <p:nvSpPr>
          <p:cNvPr id="65" name="Text 62"/>
          <p:cNvSpPr/>
          <p:nvPr/>
        </p:nvSpPr>
        <p:spPr>
          <a:xfrm>
            <a:off x="914400" y="4789420"/>
            <a:ext cx="4631436" cy="640080"/>
          </a:xfrm>
          <a:prstGeom prst="rect">
            <a:avLst/>
          </a:prstGeom>
          <a:noFill/>
          <a:ln/>
        </p:spPr>
        <p:txBody>
          <a:bodyPr wrap="square" rtlCol="0" anchor="ctr"/>
          <a:lstStyle/>
          <a:p>
            <a:pPr marL="0" indent="0">
              <a:lnSpc>
                <a:spcPct val="130000"/>
              </a:lnSpc>
              <a:buNone/>
            </a:pPr>
            <a:r>
              <a:rPr lang="en-US" sz="1250" dirty="0">
                <a:solidFill>
                  <a:srgbClr val="3A3A3A"/>
                </a:solidFill>
                <a:latin typeface="Arial" pitchFamily="34" charset="0"/>
                <a:ea typeface="Arial" pitchFamily="34" charset="-122"/>
                <a:cs typeface="Arial" pitchFamily="34" charset="-120"/>
              </a:rPr>
              <a:t>Real-time payload measurement for highly accurate production reporting.</a:t>
            </a:r>
            <a:endParaRPr lang="en-US" sz="1250" dirty="0"/>
          </a:p>
        </p:txBody>
      </p:sp>
      <p:sp>
        <p:nvSpPr>
          <p:cNvPr id="66" name="Shape 63"/>
          <p:cNvSpPr/>
          <p:nvPr/>
        </p:nvSpPr>
        <p:spPr>
          <a:xfrm>
            <a:off x="6277356" y="1296412"/>
            <a:ext cx="5362956" cy="4160520"/>
          </a:xfrm>
          <a:prstGeom prst="roundRect">
            <a:avLst>
              <a:gd name="adj" fmla="val 1538"/>
            </a:avLst>
          </a:prstGeom>
          <a:solidFill>
            <a:srgbClr val="FFFFFF"/>
          </a:solidFill>
          <a:ln w="12700">
            <a:solidFill>
              <a:srgbClr val="D9D9D9"/>
            </a:solidFill>
            <a:prstDash val="solid"/>
          </a:ln>
        </p:spPr>
      </p:sp>
      <p:sp>
        <p:nvSpPr>
          <p:cNvPr id="67" name="Text 64"/>
          <p:cNvSpPr/>
          <p:nvPr/>
        </p:nvSpPr>
        <p:spPr>
          <a:xfrm>
            <a:off x="6611312" y="1493608"/>
            <a:ext cx="4631436" cy="502920"/>
          </a:xfrm>
          <a:prstGeom prst="rect">
            <a:avLst/>
          </a:prstGeom>
          <a:noFill/>
          <a:ln/>
        </p:spPr>
        <p:txBody>
          <a:bodyPr wrap="square" rtlCol="0" anchor="ctr"/>
          <a:lstStyle/>
          <a:p>
            <a:pPr marL="0" indent="0">
              <a:lnSpc>
                <a:spcPct val="115000"/>
              </a:lnSpc>
              <a:buNone/>
            </a:pPr>
            <a:r>
              <a:rPr lang="en-US" sz="1800" b="1" dirty="0">
                <a:solidFill>
                  <a:srgbClr val="12233F"/>
                </a:solidFill>
                <a:latin typeface="Arial" pitchFamily="34" charset="0"/>
                <a:ea typeface="Arial" pitchFamily="34" charset="-122"/>
                <a:cs typeface="Arial" pitchFamily="34" charset="-120"/>
              </a:rPr>
              <a:t>AI-Based Predictive Maintenance</a:t>
            </a:r>
            <a:endParaRPr lang="en-US" sz="1800" dirty="0"/>
          </a:p>
        </p:txBody>
      </p:sp>
      <p:sp>
        <p:nvSpPr>
          <p:cNvPr id="68" name="Shape 65"/>
          <p:cNvSpPr/>
          <p:nvPr/>
        </p:nvSpPr>
        <p:spPr>
          <a:xfrm>
            <a:off x="6643116" y="2210812"/>
            <a:ext cx="4631436" cy="5486"/>
          </a:xfrm>
          <a:prstGeom prst="rect">
            <a:avLst/>
          </a:prstGeom>
          <a:solidFill>
            <a:srgbClr val="D9D9D9"/>
          </a:solidFill>
          <a:ln/>
        </p:spPr>
      </p:sp>
      <p:sp>
        <p:nvSpPr>
          <p:cNvPr id="69" name="Text 66"/>
          <p:cNvSpPr/>
          <p:nvPr/>
        </p:nvSpPr>
        <p:spPr>
          <a:xfrm>
            <a:off x="6643116" y="2357116"/>
            <a:ext cx="4631436" cy="182880"/>
          </a:xfrm>
          <a:prstGeom prst="rect">
            <a:avLst/>
          </a:prstGeom>
          <a:noFill/>
          <a:ln/>
        </p:spPr>
        <p:txBody>
          <a:bodyPr wrap="square" rtlCol="0" anchor="ctr"/>
          <a:lstStyle/>
          <a:p>
            <a:pPr marL="0" indent="0">
              <a:buNone/>
            </a:pPr>
            <a:r>
              <a:rPr lang="en-US" sz="950" b="1" kern="0" spc="80" dirty="0">
                <a:solidFill>
                  <a:srgbClr val="6B6B6B"/>
                </a:solidFill>
                <a:latin typeface="Arial" pitchFamily="34" charset="0"/>
                <a:ea typeface="Arial" pitchFamily="34" charset="-122"/>
                <a:cs typeface="Arial" pitchFamily="34" charset="-120"/>
              </a:rPr>
              <a:t>CURRENT LIMITATION</a:t>
            </a:r>
            <a:endParaRPr lang="en-US" sz="950" dirty="0"/>
          </a:p>
        </p:txBody>
      </p:sp>
      <p:sp>
        <p:nvSpPr>
          <p:cNvPr id="70" name="Text 67"/>
          <p:cNvSpPr/>
          <p:nvPr/>
        </p:nvSpPr>
        <p:spPr>
          <a:xfrm>
            <a:off x="6643116" y="2576572"/>
            <a:ext cx="4631436" cy="640080"/>
          </a:xfrm>
          <a:prstGeom prst="rect">
            <a:avLst/>
          </a:prstGeom>
          <a:noFill/>
          <a:ln/>
        </p:spPr>
        <p:txBody>
          <a:bodyPr wrap="square" rtlCol="0" anchor="ctr"/>
          <a:lstStyle/>
          <a:p>
            <a:pPr marL="0" indent="0">
              <a:lnSpc>
                <a:spcPct val="130000"/>
              </a:lnSpc>
              <a:buNone/>
            </a:pPr>
            <a:r>
              <a:rPr lang="en-US" sz="1250" dirty="0">
                <a:solidFill>
                  <a:srgbClr val="3A3A3A"/>
                </a:solidFill>
                <a:latin typeface="Arial" pitchFamily="34" charset="0"/>
                <a:ea typeface="Arial" pitchFamily="34" charset="-122"/>
                <a:cs typeface="Arial" pitchFamily="34" charset="-120"/>
              </a:rPr>
              <a:t>Maintenance is primarily reactive after faults become visible or failures occur.</a:t>
            </a:r>
            <a:endParaRPr lang="en-US" sz="1250" dirty="0"/>
          </a:p>
        </p:txBody>
      </p:sp>
      <p:sp>
        <p:nvSpPr>
          <p:cNvPr id="71" name="Shape 68"/>
          <p:cNvSpPr/>
          <p:nvPr/>
        </p:nvSpPr>
        <p:spPr>
          <a:xfrm>
            <a:off x="6643116" y="3317236"/>
            <a:ext cx="4631436" cy="5486"/>
          </a:xfrm>
          <a:prstGeom prst="rect">
            <a:avLst/>
          </a:prstGeom>
          <a:solidFill>
            <a:srgbClr val="D9D9D9"/>
          </a:solidFill>
          <a:ln/>
        </p:spPr>
      </p:sp>
      <p:sp>
        <p:nvSpPr>
          <p:cNvPr id="72" name="Text 69"/>
          <p:cNvSpPr/>
          <p:nvPr/>
        </p:nvSpPr>
        <p:spPr>
          <a:xfrm>
            <a:off x="6643116" y="3463540"/>
            <a:ext cx="4631436" cy="182880"/>
          </a:xfrm>
          <a:prstGeom prst="rect">
            <a:avLst/>
          </a:prstGeom>
          <a:noFill/>
          <a:ln/>
        </p:spPr>
        <p:txBody>
          <a:bodyPr wrap="square" rtlCol="0" anchor="ctr"/>
          <a:lstStyle/>
          <a:p>
            <a:pPr marL="0" indent="0">
              <a:buNone/>
            </a:pPr>
            <a:r>
              <a:rPr lang="en-US" sz="950" b="1" kern="0" spc="80" dirty="0">
                <a:solidFill>
                  <a:srgbClr val="6B6B6B"/>
                </a:solidFill>
                <a:latin typeface="Arial" pitchFamily="34" charset="0"/>
                <a:ea typeface="Arial" pitchFamily="34" charset="-122"/>
                <a:cs typeface="Arial" pitchFamily="34" charset="-120"/>
              </a:rPr>
              <a:t>FUTURE INTEGRATION</a:t>
            </a:r>
            <a:endParaRPr lang="en-US" sz="950" dirty="0"/>
          </a:p>
        </p:txBody>
      </p:sp>
      <p:sp>
        <p:nvSpPr>
          <p:cNvPr id="73" name="Text 70"/>
          <p:cNvSpPr/>
          <p:nvPr/>
        </p:nvSpPr>
        <p:spPr>
          <a:xfrm>
            <a:off x="6643116" y="3682996"/>
            <a:ext cx="4631436" cy="640080"/>
          </a:xfrm>
          <a:prstGeom prst="rect">
            <a:avLst/>
          </a:prstGeom>
          <a:noFill/>
          <a:ln/>
        </p:spPr>
        <p:txBody>
          <a:bodyPr wrap="square" rtlCol="0" anchor="ctr"/>
          <a:lstStyle/>
          <a:p>
            <a:pPr marL="0" indent="0">
              <a:lnSpc>
                <a:spcPct val="130000"/>
              </a:lnSpc>
              <a:buNone/>
            </a:pPr>
            <a:r>
              <a:rPr lang="en-US" sz="1250" dirty="0">
                <a:solidFill>
                  <a:srgbClr val="3A3A3A"/>
                </a:solidFill>
                <a:latin typeface="Arial" pitchFamily="34" charset="0"/>
                <a:ea typeface="Arial" pitchFamily="34" charset="-122"/>
                <a:cs typeface="Arial" pitchFamily="34" charset="-120"/>
              </a:rPr>
              <a:t>Apply AI/ML models to continuously analyse CAN Bus machine health parameters and identify developing failures before breakdown.</a:t>
            </a:r>
            <a:endParaRPr lang="en-US" sz="1250" dirty="0"/>
          </a:p>
        </p:txBody>
      </p:sp>
      <p:sp>
        <p:nvSpPr>
          <p:cNvPr id="74" name="Shape 71"/>
          <p:cNvSpPr/>
          <p:nvPr/>
        </p:nvSpPr>
        <p:spPr>
          <a:xfrm>
            <a:off x="6643116" y="4423660"/>
            <a:ext cx="4631436" cy="5486"/>
          </a:xfrm>
          <a:prstGeom prst="rect">
            <a:avLst/>
          </a:prstGeom>
          <a:solidFill>
            <a:srgbClr val="D9D9D9"/>
          </a:solidFill>
          <a:ln/>
        </p:spPr>
      </p:sp>
      <p:sp>
        <p:nvSpPr>
          <p:cNvPr id="75" name="Text 72"/>
          <p:cNvSpPr/>
          <p:nvPr/>
        </p:nvSpPr>
        <p:spPr>
          <a:xfrm>
            <a:off x="6643116" y="4569964"/>
            <a:ext cx="4631436" cy="182880"/>
          </a:xfrm>
          <a:prstGeom prst="rect">
            <a:avLst/>
          </a:prstGeom>
          <a:noFill/>
          <a:ln/>
        </p:spPr>
        <p:txBody>
          <a:bodyPr wrap="square" rtlCol="0" anchor="ctr"/>
          <a:lstStyle/>
          <a:p>
            <a:pPr marL="0" indent="0">
              <a:buNone/>
            </a:pPr>
            <a:r>
              <a:rPr lang="en-US" sz="950" b="1" kern="0" spc="80" dirty="0">
                <a:solidFill>
                  <a:srgbClr val="6B6B6B"/>
                </a:solidFill>
                <a:latin typeface="Arial" pitchFamily="34" charset="0"/>
                <a:ea typeface="Arial" pitchFamily="34" charset="-122"/>
                <a:cs typeface="Arial" pitchFamily="34" charset="-120"/>
              </a:rPr>
              <a:t>FUTURE VALUE</a:t>
            </a:r>
            <a:endParaRPr lang="en-US" sz="950" dirty="0"/>
          </a:p>
        </p:txBody>
      </p:sp>
      <p:sp>
        <p:nvSpPr>
          <p:cNvPr id="76" name="Text 73"/>
          <p:cNvSpPr/>
          <p:nvPr/>
        </p:nvSpPr>
        <p:spPr>
          <a:xfrm>
            <a:off x="6643116" y="4789420"/>
            <a:ext cx="4631436" cy="640080"/>
          </a:xfrm>
          <a:prstGeom prst="rect">
            <a:avLst/>
          </a:prstGeom>
          <a:noFill/>
          <a:ln/>
        </p:spPr>
        <p:txBody>
          <a:bodyPr wrap="square" rtlCol="0" anchor="ctr"/>
          <a:lstStyle/>
          <a:p>
            <a:pPr marL="0" indent="0">
              <a:lnSpc>
                <a:spcPct val="130000"/>
              </a:lnSpc>
              <a:buNone/>
            </a:pPr>
            <a:r>
              <a:rPr lang="en-US" sz="1250" dirty="0">
                <a:solidFill>
                  <a:srgbClr val="3A3A3A"/>
                </a:solidFill>
                <a:latin typeface="Arial" pitchFamily="34" charset="0"/>
                <a:ea typeface="Arial" pitchFamily="34" charset="-122"/>
                <a:cs typeface="Arial" pitchFamily="34" charset="-120"/>
              </a:rPr>
              <a:t>Predict equipment failures using CAN Bus health data before breakdown occurs.</a:t>
            </a:r>
            <a:endParaRPr lang="en-US" sz="1250" dirty="0"/>
          </a:p>
        </p:txBody>
      </p:sp>
      <p:sp>
        <p:nvSpPr>
          <p:cNvPr id="77" name="Shape 74"/>
          <p:cNvSpPr/>
          <p:nvPr/>
        </p:nvSpPr>
        <p:spPr>
          <a:xfrm>
            <a:off x="548640" y="5645234"/>
            <a:ext cx="11091672" cy="7315"/>
          </a:xfrm>
          <a:prstGeom prst="rect">
            <a:avLst/>
          </a:prstGeom>
          <a:solidFill>
            <a:srgbClr val="D9D9D9"/>
          </a:solidFill>
          <a:ln/>
        </p:spPr>
      </p:sp>
      <p:sp>
        <p:nvSpPr>
          <p:cNvPr id="78" name="Text 75"/>
          <p:cNvSpPr/>
          <p:nvPr/>
        </p:nvSpPr>
        <p:spPr>
          <a:xfrm>
            <a:off x="548640" y="5791538"/>
            <a:ext cx="11091672" cy="182880"/>
          </a:xfrm>
          <a:prstGeom prst="rect">
            <a:avLst/>
          </a:prstGeom>
          <a:noFill/>
          <a:ln/>
        </p:spPr>
        <p:txBody>
          <a:bodyPr wrap="square" rtlCol="0" anchor="ctr"/>
          <a:lstStyle/>
          <a:p>
            <a:pPr marL="0" indent="0" algn="ctr">
              <a:buNone/>
            </a:pPr>
            <a:r>
              <a:rPr lang="en-US" sz="950" b="1" kern="0" spc="100" dirty="0">
                <a:solidFill>
                  <a:srgbClr val="6B6B6B"/>
                </a:solidFill>
                <a:latin typeface="Arial" pitchFamily="34" charset="0"/>
                <a:ea typeface="Arial" pitchFamily="34" charset="-122"/>
                <a:cs typeface="Arial" pitchFamily="34" charset="-120"/>
              </a:rPr>
              <a:t>DIGITAL MINE VISION</a:t>
            </a:r>
            <a:endParaRPr lang="en-US" sz="950" dirty="0"/>
          </a:p>
        </p:txBody>
      </p:sp>
      <p:sp>
        <p:nvSpPr>
          <p:cNvPr id="79" name="Text 76"/>
          <p:cNvSpPr/>
          <p:nvPr/>
        </p:nvSpPr>
        <p:spPr>
          <a:xfrm>
            <a:off x="548640" y="6010994"/>
            <a:ext cx="11091672" cy="274320"/>
          </a:xfrm>
          <a:prstGeom prst="rect">
            <a:avLst/>
          </a:prstGeom>
          <a:noFill/>
          <a:ln/>
        </p:spPr>
        <p:txBody>
          <a:bodyPr wrap="square" rtlCol="0" anchor="ctr"/>
          <a:lstStyle/>
          <a:p>
            <a:pPr marL="0" indent="0" algn="ctr">
              <a:lnSpc>
                <a:spcPct val="120000"/>
              </a:lnSpc>
              <a:buNone/>
            </a:pPr>
            <a:r>
              <a:rPr lang="en-US" sz="1050" i="1" dirty="0">
                <a:solidFill>
                  <a:srgbClr val="6B6B6B"/>
                </a:solidFill>
                <a:latin typeface="Arial" pitchFamily="34" charset="0"/>
                <a:ea typeface="Arial" pitchFamily="34" charset="-122"/>
                <a:cs typeface="Arial" pitchFamily="34" charset="-120"/>
              </a:rPr>
              <a:t>Building upon the proposed Dynamic Truck Factor and CAN Bus frameworks, these technologies represent the next step toward a predictive, data-driven Digital Mine at Talabira II &amp; III.</a:t>
            </a:r>
            <a:endParaRPr lang="en-US" sz="1050" dirty="0"/>
          </a:p>
        </p:txBody>
      </p:sp>
      <p:grpSp>
        <p:nvGrpSpPr>
          <p:cNvPr id="80" name="Group 5">
            <a:extLst>
              <a:ext uri="{FF2B5EF4-FFF2-40B4-BE49-F238E27FC236}">
                <a16:creationId xmlns:a16="http://schemas.microsoft.com/office/drawing/2014/main" id="{42691A20-A7C7-6A8A-D715-70206D06ED0B}"/>
              </a:ext>
            </a:extLst>
          </p:cNvPr>
          <p:cNvGrpSpPr/>
          <p:nvPr/>
        </p:nvGrpSpPr>
        <p:grpSpPr>
          <a:xfrm>
            <a:off x="634315" y="799593"/>
            <a:ext cx="3852000" cy="45719"/>
            <a:chOff x="0" y="0"/>
            <a:chExt cx="14068412" cy="121920"/>
          </a:xfrm>
        </p:grpSpPr>
        <p:sp>
          <p:nvSpPr>
            <p:cNvPr id="81" name="Freeform 6" descr="D:\Corp Comm Department Work 2015\Brand Adani 2012\adani_gradient_master.jpg">
              <a:extLst>
                <a:ext uri="{FF2B5EF4-FFF2-40B4-BE49-F238E27FC236}">
                  <a16:creationId xmlns:a16="http://schemas.microsoft.com/office/drawing/2014/main" id="{02BCCA94-8BD5-DC59-95F2-25230B83FF37}"/>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3"/>
              <a:stretch>
                <a:fillRect b="-5072"/>
              </a:stretch>
            </a:blipFill>
          </p:spPr>
          <p:txBody>
            <a:bodyPr/>
            <a:lstStyle/>
            <a:p>
              <a:endParaRPr lang="en-IN"/>
            </a:p>
          </p:txBody>
        </p:sp>
      </p:grpSp>
      <p:grpSp>
        <p:nvGrpSpPr>
          <p:cNvPr id="82" name="Group 3">
            <a:extLst>
              <a:ext uri="{FF2B5EF4-FFF2-40B4-BE49-F238E27FC236}">
                <a16:creationId xmlns:a16="http://schemas.microsoft.com/office/drawing/2014/main" id="{C5284D01-DC27-B561-C126-8AD4C4E07E39}"/>
              </a:ext>
            </a:extLst>
          </p:cNvPr>
          <p:cNvGrpSpPr/>
          <p:nvPr/>
        </p:nvGrpSpPr>
        <p:grpSpPr>
          <a:xfrm>
            <a:off x="10056527" y="6189371"/>
            <a:ext cx="2136000" cy="669944"/>
            <a:chOff x="0" y="0"/>
            <a:chExt cx="4272001" cy="1339888"/>
          </a:xfrm>
        </p:grpSpPr>
        <p:sp>
          <p:nvSpPr>
            <p:cNvPr id="83" name="Freeform 4">
              <a:extLst>
                <a:ext uri="{FF2B5EF4-FFF2-40B4-BE49-F238E27FC236}">
                  <a16:creationId xmlns:a16="http://schemas.microsoft.com/office/drawing/2014/main" id="{FECCE8C2-2955-6BA7-2C51-BC953720614C}"/>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4"/>
              <a:stretch>
                <a:fillRect l="-470838" t="-924095" b="-2"/>
              </a:stretch>
            </a:blipFill>
          </p:spPr>
        </p:sp>
      </p:grpSp>
    </p:spTree>
    <p:extLst>
      <p:ext uri="{BB962C8B-B14F-4D97-AF65-F5344CB8AC3E}">
        <p14:creationId xmlns:p14="http://schemas.microsoft.com/office/powerpoint/2010/main" val="2600819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0060" y="616384"/>
            <a:ext cx="8686800" cy="457200"/>
          </a:xfrm>
          <a:prstGeom prst="rect">
            <a:avLst/>
          </a:prstGeom>
          <a:noFill/>
          <a:ln/>
        </p:spPr>
        <p:txBody>
          <a:bodyPr wrap="square" rtlCol="0" anchor="ctr"/>
          <a:lstStyle/>
          <a:p>
            <a:pPr marL="0" indent="0">
              <a:buNone/>
            </a:pPr>
            <a:r>
              <a:rPr lang="en-US" sz="2400" dirty="0">
                <a:solidFill>
                  <a:srgbClr val="0070C0"/>
                </a:solidFill>
                <a:latin typeface="Arial" pitchFamily="34" charset="0"/>
                <a:ea typeface="Arial" pitchFamily="34" charset="-122"/>
                <a:cs typeface="Arial" pitchFamily="34" charset="-120"/>
              </a:rPr>
              <a:t>Key Learnings &amp; Reflections</a:t>
            </a:r>
            <a:endParaRPr lang="en-US" sz="2400" dirty="0"/>
          </a:p>
        </p:txBody>
      </p:sp>
      <p:sp>
        <p:nvSpPr>
          <p:cNvPr id="54" name="Text 51"/>
          <p:cNvSpPr/>
          <p:nvPr/>
        </p:nvSpPr>
        <p:spPr>
          <a:xfrm>
            <a:off x="548640" y="1378276"/>
            <a:ext cx="7315200" cy="201168"/>
          </a:xfrm>
          <a:prstGeom prst="rect">
            <a:avLst/>
          </a:prstGeom>
          <a:noFill/>
          <a:ln/>
        </p:spPr>
        <p:txBody>
          <a:bodyPr wrap="square" rtlCol="0" anchor="ctr"/>
          <a:lstStyle/>
          <a:p>
            <a:pPr marL="0" indent="0">
              <a:buNone/>
            </a:pPr>
            <a:r>
              <a:rPr lang="en-US" sz="1000" b="1" kern="0" spc="120" dirty="0">
                <a:solidFill>
                  <a:srgbClr val="6B6B6B"/>
                </a:solidFill>
                <a:latin typeface="Arial" pitchFamily="34" charset="0"/>
                <a:ea typeface="Arial" pitchFamily="34" charset="-122"/>
                <a:cs typeface="Arial" pitchFamily="34" charset="-120"/>
              </a:rPr>
              <a:t>KEY LEARNINGS</a:t>
            </a:r>
            <a:endParaRPr lang="en-US" sz="1000" dirty="0"/>
          </a:p>
        </p:txBody>
      </p:sp>
      <p:sp>
        <p:nvSpPr>
          <p:cNvPr id="55" name="Shape 52"/>
          <p:cNvSpPr/>
          <p:nvPr/>
        </p:nvSpPr>
        <p:spPr>
          <a:xfrm>
            <a:off x="548640" y="1727815"/>
            <a:ext cx="2601468" cy="1234440"/>
          </a:xfrm>
          <a:prstGeom prst="roundRect">
            <a:avLst>
              <a:gd name="adj" fmla="val 4444"/>
            </a:avLst>
          </a:prstGeom>
          <a:solidFill>
            <a:srgbClr val="FFFFFF"/>
          </a:solidFill>
          <a:ln w="12700">
            <a:solidFill>
              <a:srgbClr val="D9D9D9"/>
            </a:solidFill>
            <a:prstDash val="solid"/>
          </a:ln>
        </p:spPr>
      </p:sp>
      <p:sp>
        <p:nvSpPr>
          <p:cNvPr id="56" name="Text 53"/>
          <p:cNvSpPr/>
          <p:nvPr/>
        </p:nvSpPr>
        <p:spPr>
          <a:xfrm>
            <a:off x="676656" y="1727815"/>
            <a:ext cx="2345436" cy="678942"/>
          </a:xfrm>
          <a:prstGeom prst="rect">
            <a:avLst/>
          </a:prstGeom>
          <a:noFill/>
          <a:ln/>
        </p:spPr>
        <p:txBody>
          <a:bodyPr wrap="square" rtlCol="0" anchor="b"/>
          <a:lstStyle/>
          <a:p>
            <a:pPr marL="0" indent="0" algn="ctr">
              <a:lnSpc>
                <a:spcPct val="115000"/>
              </a:lnSpc>
              <a:buNone/>
            </a:pPr>
            <a:r>
              <a:rPr lang="en-US" sz="1250" b="1" dirty="0">
                <a:solidFill>
                  <a:srgbClr val="12233F"/>
                </a:solidFill>
                <a:latin typeface="Arial" pitchFamily="34" charset="0"/>
                <a:ea typeface="Arial" pitchFamily="34" charset="-122"/>
                <a:cs typeface="Arial" pitchFamily="34" charset="-120"/>
              </a:rPr>
              <a:t>Digital Mine Systems</a:t>
            </a:r>
            <a:endParaRPr lang="en-US" sz="1250" dirty="0"/>
          </a:p>
        </p:txBody>
      </p:sp>
      <p:sp>
        <p:nvSpPr>
          <p:cNvPr id="57" name="Text 54"/>
          <p:cNvSpPr/>
          <p:nvPr/>
        </p:nvSpPr>
        <p:spPr>
          <a:xfrm>
            <a:off x="676656" y="2406757"/>
            <a:ext cx="2345436" cy="493776"/>
          </a:xfrm>
          <a:prstGeom prst="rect">
            <a:avLst/>
          </a:prstGeom>
          <a:noFill/>
          <a:ln/>
        </p:spPr>
        <p:txBody>
          <a:bodyPr wrap="square" rtlCol="0" anchor="t"/>
          <a:lstStyle/>
          <a:p>
            <a:pPr marL="0" indent="0" algn="ctr">
              <a:lnSpc>
                <a:spcPct val="120000"/>
              </a:lnSpc>
              <a:buNone/>
            </a:pPr>
            <a:r>
              <a:rPr lang="en-US" sz="950" dirty="0">
                <a:solidFill>
                  <a:srgbClr val="6B6B6B"/>
                </a:solidFill>
                <a:latin typeface="Arial" pitchFamily="34" charset="0"/>
                <a:ea typeface="Arial" pitchFamily="34" charset="-122"/>
                <a:cs typeface="Arial" pitchFamily="34" charset="-120"/>
              </a:rPr>
              <a:t>FMS • FUMS • Telematics • TLS</a:t>
            </a:r>
            <a:endParaRPr lang="en-US" sz="950" dirty="0"/>
          </a:p>
        </p:txBody>
      </p:sp>
      <p:sp>
        <p:nvSpPr>
          <p:cNvPr id="58" name="Shape 55"/>
          <p:cNvSpPr/>
          <p:nvPr/>
        </p:nvSpPr>
        <p:spPr>
          <a:xfrm>
            <a:off x="3378708" y="1727815"/>
            <a:ext cx="2601468" cy="1234440"/>
          </a:xfrm>
          <a:prstGeom prst="roundRect">
            <a:avLst>
              <a:gd name="adj" fmla="val 4444"/>
            </a:avLst>
          </a:prstGeom>
          <a:solidFill>
            <a:srgbClr val="FFFFFF"/>
          </a:solidFill>
          <a:ln w="12700">
            <a:solidFill>
              <a:srgbClr val="D9D9D9"/>
            </a:solidFill>
            <a:prstDash val="solid"/>
          </a:ln>
        </p:spPr>
      </p:sp>
      <p:sp>
        <p:nvSpPr>
          <p:cNvPr id="59" name="Text 56"/>
          <p:cNvSpPr/>
          <p:nvPr/>
        </p:nvSpPr>
        <p:spPr>
          <a:xfrm>
            <a:off x="3506724" y="1727815"/>
            <a:ext cx="2345436" cy="678942"/>
          </a:xfrm>
          <a:prstGeom prst="rect">
            <a:avLst/>
          </a:prstGeom>
          <a:noFill/>
          <a:ln/>
        </p:spPr>
        <p:txBody>
          <a:bodyPr wrap="square" rtlCol="0" anchor="b"/>
          <a:lstStyle/>
          <a:p>
            <a:pPr marL="0" indent="0" algn="ctr">
              <a:lnSpc>
                <a:spcPct val="115000"/>
              </a:lnSpc>
              <a:buNone/>
            </a:pPr>
            <a:r>
              <a:rPr lang="en-US" sz="1250" b="1" dirty="0">
                <a:solidFill>
                  <a:srgbClr val="12233F"/>
                </a:solidFill>
                <a:latin typeface="Arial" pitchFamily="34" charset="0"/>
                <a:ea typeface="Arial" pitchFamily="34" charset="-122"/>
                <a:cs typeface="Arial" pitchFamily="34" charset="-120"/>
              </a:rPr>
              <a:t>Operational Analytics</a:t>
            </a:r>
            <a:endParaRPr lang="en-US" sz="1250" dirty="0"/>
          </a:p>
        </p:txBody>
      </p:sp>
      <p:sp>
        <p:nvSpPr>
          <p:cNvPr id="60" name="Text 57"/>
          <p:cNvSpPr/>
          <p:nvPr/>
        </p:nvSpPr>
        <p:spPr>
          <a:xfrm>
            <a:off x="3506724" y="2406757"/>
            <a:ext cx="2345436" cy="493776"/>
          </a:xfrm>
          <a:prstGeom prst="rect">
            <a:avLst/>
          </a:prstGeom>
          <a:noFill/>
          <a:ln/>
        </p:spPr>
        <p:txBody>
          <a:bodyPr wrap="square" rtlCol="0" anchor="t"/>
          <a:lstStyle/>
          <a:p>
            <a:pPr marL="0" indent="0" algn="ctr">
              <a:lnSpc>
                <a:spcPct val="120000"/>
              </a:lnSpc>
              <a:buNone/>
            </a:pPr>
            <a:r>
              <a:rPr lang="en-US" sz="950" dirty="0">
                <a:solidFill>
                  <a:srgbClr val="6B6B6B"/>
                </a:solidFill>
                <a:latin typeface="Arial" pitchFamily="34" charset="0"/>
                <a:ea typeface="Arial" pitchFamily="34" charset="-122"/>
                <a:cs typeface="Arial" pitchFamily="34" charset="-120"/>
              </a:rPr>
              <a:t>KPI Evaluation • Reliability Analysis</a:t>
            </a:r>
            <a:endParaRPr lang="en-US" sz="950" dirty="0"/>
          </a:p>
        </p:txBody>
      </p:sp>
      <p:sp>
        <p:nvSpPr>
          <p:cNvPr id="61" name="Shape 58"/>
          <p:cNvSpPr/>
          <p:nvPr/>
        </p:nvSpPr>
        <p:spPr>
          <a:xfrm>
            <a:off x="6208776" y="1727815"/>
            <a:ext cx="2601468" cy="1234440"/>
          </a:xfrm>
          <a:prstGeom prst="roundRect">
            <a:avLst>
              <a:gd name="adj" fmla="val 4444"/>
            </a:avLst>
          </a:prstGeom>
          <a:solidFill>
            <a:srgbClr val="FFFFFF"/>
          </a:solidFill>
          <a:ln w="12700">
            <a:solidFill>
              <a:srgbClr val="D9D9D9"/>
            </a:solidFill>
            <a:prstDash val="solid"/>
          </a:ln>
        </p:spPr>
      </p:sp>
      <p:sp>
        <p:nvSpPr>
          <p:cNvPr id="62" name="Text 59"/>
          <p:cNvSpPr/>
          <p:nvPr/>
        </p:nvSpPr>
        <p:spPr>
          <a:xfrm>
            <a:off x="6336792" y="1727815"/>
            <a:ext cx="2345436" cy="678942"/>
          </a:xfrm>
          <a:prstGeom prst="rect">
            <a:avLst/>
          </a:prstGeom>
          <a:noFill/>
          <a:ln/>
        </p:spPr>
        <p:txBody>
          <a:bodyPr wrap="square" rtlCol="0" anchor="b"/>
          <a:lstStyle/>
          <a:p>
            <a:pPr marL="0" indent="0" algn="ctr">
              <a:lnSpc>
                <a:spcPct val="115000"/>
              </a:lnSpc>
              <a:buNone/>
            </a:pPr>
            <a:r>
              <a:rPr lang="en-US" sz="1250" b="1" dirty="0">
                <a:solidFill>
                  <a:srgbClr val="12233F"/>
                </a:solidFill>
                <a:latin typeface="Arial" pitchFamily="34" charset="0"/>
                <a:ea typeface="Arial" pitchFamily="34" charset="-122"/>
                <a:cs typeface="Arial" pitchFamily="34" charset="-120"/>
              </a:rPr>
              <a:t>Engineering Solutions</a:t>
            </a:r>
            <a:endParaRPr lang="en-US" sz="1250" dirty="0"/>
          </a:p>
        </p:txBody>
      </p:sp>
      <p:sp>
        <p:nvSpPr>
          <p:cNvPr id="63" name="Text 60"/>
          <p:cNvSpPr/>
          <p:nvPr/>
        </p:nvSpPr>
        <p:spPr>
          <a:xfrm>
            <a:off x="6336792" y="2406757"/>
            <a:ext cx="2345436" cy="493776"/>
          </a:xfrm>
          <a:prstGeom prst="rect">
            <a:avLst/>
          </a:prstGeom>
          <a:noFill/>
          <a:ln/>
        </p:spPr>
        <p:txBody>
          <a:bodyPr wrap="square" rtlCol="0" anchor="t"/>
          <a:lstStyle/>
          <a:p>
            <a:pPr marL="0" indent="0" algn="ctr">
              <a:lnSpc>
                <a:spcPct val="120000"/>
              </a:lnSpc>
              <a:buNone/>
            </a:pPr>
            <a:r>
              <a:rPr lang="en-US" sz="950" dirty="0">
                <a:solidFill>
                  <a:srgbClr val="6B6B6B"/>
                </a:solidFill>
                <a:latin typeface="Arial" pitchFamily="34" charset="0"/>
                <a:ea typeface="Arial" pitchFamily="34" charset="-122"/>
                <a:cs typeface="Arial" pitchFamily="34" charset="-120"/>
              </a:rPr>
              <a:t>Framework Design • Process Improvement</a:t>
            </a:r>
            <a:endParaRPr lang="en-US" sz="950" dirty="0"/>
          </a:p>
        </p:txBody>
      </p:sp>
      <p:sp>
        <p:nvSpPr>
          <p:cNvPr id="64" name="Shape 61"/>
          <p:cNvSpPr/>
          <p:nvPr/>
        </p:nvSpPr>
        <p:spPr>
          <a:xfrm>
            <a:off x="9038844" y="1727815"/>
            <a:ext cx="2601468" cy="1234440"/>
          </a:xfrm>
          <a:prstGeom prst="roundRect">
            <a:avLst>
              <a:gd name="adj" fmla="val 4444"/>
            </a:avLst>
          </a:prstGeom>
          <a:solidFill>
            <a:srgbClr val="FFFFFF"/>
          </a:solidFill>
          <a:ln w="12700">
            <a:solidFill>
              <a:srgbClr val="D9D9D9"/>
            </a:solidFill>
            <a:prstDash val="solid"/>
          </a:ln>
        </p:spPr>
      </p:sp>
      <p:sp>
        <p:nvSpPr>
          <p:cNvPr id="65" name="Text 62"/>
          <p:cNvSpPr/>
          <p:nvPr/>
        </p:nvSpPr>
        <p:spPr>
          <a:xfrm>
            <a:off x="9166860" y="1727815"/>
            <a:ext cx="2345436" cy="678942"/>
          </a:xfrm>
          <a:prstGeom prst="rect">
            <a:avLst/>
          </a:prstGeom>
          <a:noFill/>
          <a:ln/>
        </p:spPr>
        <p:txBody>
          <a:bodyPr wrap="square" rtlCol="0" anchor="b"/>
          <a:lstStyle/>
          <a:p>
            <a:pPr marL="0" indent="0" algn="ctr">
              <a:lnSpc>
                <a:spcPct val="115000"/>
              </a:lnSpc>
              <a:buNone/>
            </a:pPr>
            <a:r>
              <a:rPr lang="en-US" sz="1250" b="1" dirty="0">
                <a:solidFill>
                  <a:srgbClr val="12233F"/>
                </a:solidFill>
                <a:latin typeface="Arial" pitchFamily="34" charset="0"/>
                <a:ea typeface="Arial" pitchFamily="34" charset="-122"/>
                <a:cs typeface="Arial" pitchFamily="34" charset="-120"/>
              </a:rPr>
              <a:t>Industry Exposure</a:t>
            </a:r>
            <a:endParaRPr lang="en-US" sz="1250" dirty="0"/>
          </a:p>
        </p:txBody>
      </p:sp>
      <p:sp>
        <p:nvSpPr>
          <p:cNvPr id="66" name="Text 63"/>
          <p:cNvSpPr/>
          <p:nvPr/>
        </p:nvSpPr>
        <p:spPr>
          <a:xfrm>
            <a:off x="9166860" y="2406757"/>
            <a:ext cx="2345436" cy="493776"/>
          </a:xfrm>
          <a:prstGeom prst="rect">
            <a:avLst/>
          </a:prstGeom>
          <a:noFill/>
          <a:ln/>
        </p:spPr>
        <p:txBody>
          <a:bodyPr wrap="square" rtlCol="0" anchor="t"/>
          <a:lstStyle/>
          <a:p>
            <a:pPr marL="0" indent="0" algn="ctr">
              <a:lnSpc>
                <a:spcPct val="120000"/>
              </a:lnSpc>
              <a:buNone/>
            </a:pPr>
            <a:r>
              <a:rPr lang="en-US" sz="950" dirty="0">
                <a:solidFill>
                  <a:srgbClr val="6B6B6B"/>
                </a:solidFill>
                <a:latin typeface="Arial" pitchFamily="34" charset="0"/>
                <a:ea typeface="Arial" pitchFamily="34" charset="-122"/>
                <a:cs typeface="Arial" pitchFamily="34" charset="-120"/>
              </a:rPr>
              <a:t>Production • Survey • Fleet operations</a:t>
            </a:r>
            <a:endParaRPr lang="en-US" sz="950" dirty="0"/>
          </a:p>
        </p:txBody>
      </p:sp>
      <p:sp>
        <p:nvSpPr>
          <p:cNvPr id="67" name="Shape 64"/>
          <p:cNvSpPr/>
          <p:nvPr/>
        </p:nvSpPr>
        <p:spPr>
          <a:xfrm>
            <a:off x="548640" y="3326420"/>
            <a:ext cx="11091672" cy="7315"/>
          </a:xfrm>
          <a:prstGeom prst="rect">
            <a:avLst/>
          </a:prstGeom>
          <a:solidFill>
            <a:srgbClr val="D9D9D9"/>
          </a:solidFill>
          <a:ln/>
        </p:spPr>
      </p:sp>
      <p:sp>
        <p:nvSpPr>
          <p:cNvPr id="68" name="Text 65"/>
          <p:cNvSpPr/>
          <p:nvPr/>
        </p:nvSpPr>
        <p:spPr>
          <a:xfrm>
            <a:off x="548640" y="3552878"/>
            <a:ext cx="7315200" cy="201168"/>
          </a:xfrm>
          <a:prstGeom prst="rect">
            <a:avLst/>
          </a:prstGeom>
          <a:noFill/>
          <a:ln/>
        </p:spPr>
        <p:txBody>
          <a:bodyPr wrap="square" rtlCol="0" anchor="ctr"/>
          <a:lstStyle/>
          <a:p>
            <a:pPr marL="0" indent="0">
              <a:buNone/>
            </a:pPr>
            <a:r>
              <a:rPr lang="en-US" sz="1000" b="1" kern="0" spc="120" dirty="0">
                <a:solidFill>
                  <a:srgbClr val="6B6B6B"/>
                </a:solidFill>
                <a:latin typeface="Arial" pitchFamily="34" charset="0"/>
                <a:ea typeface="Arial" pitchFamily="34" charset="-122"/>
                <a:cs typeface="Arial" pitchFamily="34" charset="-120"/>
              </a:rPr>
              <a:t>CHALLENGES &amp; MITIGATION</a:t>
            </a:r>
            <a:endParaRPr lang="en-US" sz="1000" dirty="0"/>
          </a:p>
        </p:txBody>
      </p:sp>
      <p:sp>
        <p:nvSpPr>
          <p:cNvPr id="69" name="Shape 66"/>
          <p:cNvSpPr/>
          <p:nvPr/>
        </p:nvSpPr>
        <p:spPr>
          <a:xfrm>
            <a:off x="548640" y="3913228"/>
            <a:ext cx="2601468" cy="1234440"/>
          </a:xfrm>
          <a:prstGeom prst="roundRect">
            <a:avLst>
              <a:gd name="adj" fmla="val 4444"/>
            </a:avLst>
          </a:prstGeom>
          <a:solidFill>
            <a:srgbClr val="FFFFFF"/>
          </a:solidFill>
          <a:ln w="12700">
            <a:solidFill>
              <a:srgbClr val="D9D9D9"/>
            </a:solidFill>
            <a:prstDash val="solid"/>
          </a:ln>
        </p:spPr>
      </p:sp>
      <p:sp>
        <p:nvSpPr>
          <p:cNvPr id="70" name="Text 67"/>
          <p:cNvSpPr/>
          <p:nvPr/>
        </p:nvSpPr>
        <p:spPr>
          <a:xfrm>
            <a:off x="676656" y="3913228"/>
            <a:ext cx="2345436" cy="678942"/>
          </a:xfrm>
          <a:prstGeom prst="rect">
            <a:avLst/>
          </a:prstGeom>
          <a:noFill/>
          <a:ln/>
        </p:spPr>
        <p:txBody>
          <a:bodyPr wrap="square" rtlCol="0" anchor="b"/>
          <a:lstStyle/>
          <a:p>
            <a:pPr marL="0" indent="0" algn="ctr">
              <a:lnSpc>
                <a:spcPct val="115000"/>
              </a:lnSpc>
              <a:buNone/>
            </a:pPr>
            <a:r>
              <a:rPr lang="en-US" sz="1250" b="1" dirty="0">
                <a:solidFill>
                  <a:srgbClr val="12233F"/>
                </a:solidFill>
                <a:latin typeface="Arial" pitchFamily="34" charset="0"/>
                <a:ea typeface="Arial" pitchFamily="34" charset="-122"/>
                <a:cs typeface="Arial" pitchFamily="34" charset="-120"/>
              </a:rPr>
              <a:t>Data Quality &amp; Consistency</a:t>
            </a:r>
            <a:endParaRPr lang="en-US" sz="1250" dirty="0"/>
          </a:p>
        </p:txBody>
      </p:sp>
      <p:sp>
        <p:nvSpPr>
          <p:cNvPr id="71" name="Text 68"/>
          <p:cNvSpPr/>
          <p:nvPr/>
        </p:nvSpPr>
        <p:spPr>
          <a:xfrm>
            <a:off x="676656" y="4592170"/>
            <a:ext cx="2345436" cy="493776"/>
          </a:xfrm>
          <a:prstGeom prst="rect">
            <a:avLst/>
          </a:prstGeom>
          <a:noFill/>
          <a:ln/>
        </p:spPr>
        <p:txBody>
          <a:bodyPr wrap="square" rtlCol="0" anchor="t"/>
          <a:lstStyle/>
          <a:p>
            <a:pPr marL="0" indent="0" algn="ctr">
              <a:lnSpc>
                <a:spcPct val="120000"/>
              </a:lnSpc>
              <a:buNone/>
            </a:pPr>
            <a:r>
              <a:rPr lang="en-US" sz="950" dirty="0">
                <a:solidFill>
                  <a:srgbClr val="6B6B6B"/>
                </a:solidFill>
                <a:latin typeface="Arial" pitchFamily="34" charset="0"/>
                <a:ea typeface="Arial" pitchFamily="34" charset="-122"/>
                <a:cs typeface="Arial" pitchFamily="34" charset="-120"/>
              </a:rPr>
              <a:t>Validation &amp; Cross-checks</a:t>
            </a:r>
            <a:endParaRPr lang="en-US" sz="950" dirty="0"/>
          </a:p>
        </p:txBody>
      </p:sp>
      <p:sp>
        <p:nvSpPr>
          <p:cNvPr id="72" name="Shape 69"/>
          <p:cNvSpPr/>
          <p:nvPr/>
        </p:nvSpPr>
        <p:spPr>
          <a:xfrm>
            <a:off x="3378708" y="3913228"/>
            <a:ext cx="2601468" cy="1234440"/>
          </a:xfrm>
          <a:prstGeom prst="roundRect">
            <a:avLst>
              <a:gd name="adj" fmla="val 4444"/>
            </a:avLst>
          </a:prstGeom>
          <a:solidFill>
            <a:srgbClr val="FFFFFF"/>
          </a:solidFill>
          <a:ln w="12700">
            <a:solidFill>
              <a:srgbClr val="D9D9D9"/>
            </a:solidFill>
            <a:prstDash val="solid"/>
          </a:ln>
        </p:spPr>
      </p:sp>
      <p:sp>
        <p:nvSpPr>
          <p:cNvPr id="73" name="Text 70"/>
          <p:cNvSpPr/>
          <p:nvPr/>
        </p:nvSpPr>
        <p:spPr>
          <a:xfrm>
            <a:off x="3506724" y="3913228"/>
            <a:ext cx="2345436" cy="678942"/>
          </a:xfrm>
          <a:prstGeom prst="rect">
            <a:avLst/>
          </a:prstGeom>
          <a:noFill/>
          <a:ln/>
        </p:spPr>
        <p:txBody>
          <a:bodyPr wrap="square" rtlCol="0" anchor="b"/>
          <a:lstStyle/>
          <a:p>
            <a:pPr marL="0" indent="0" algn="ctr">
              <a:lnSpc>
                <a:spcPct val="115000"/>
              </a:lnSpc>
              <a:buNone/>
            </a:pPr>
            <a:r>
              <a:rPr lang="en-US" sz="1250" b="1" dirty="0">
                <a:solidFill>
                  <a:srgbClr val="12233F"/>
                </a:solidFill>
                <a:latin typeface="Arial" pitchFamily="34" charset="0"/>
                <a:ea typeface="Arial" pitchFamily="34" charset="-122"/>
                <a:cs typeface="Arial" pitchFamily="34" charset="-120"/>
              </a:rPr>
              <a:t>Large–Scale Fleet Data</a:t>
            </a:r>
            <a:endParaRPr lang="en-US" sz="1250" dirty="0"/>
          </a:p>
        </p:txBody>
      </p:sp>
      <p:sp>
        <p:nvSpPr>
          <p:cNvPr id="74" name="Text 71"/>
          <p:cNvSpPr/>
          <p:nvPr/>
        </p:nvSpPr>
        <p:spPr>
          <a:xfrm>
            <a:off x="3506724" y="4592170"/>
            <a:ext cx="2345436" cy="493776"/>
          </a:xfrm>
          <a:prstGeom prst="rect">
            <a:avLst/>
          </a:prstGeom>
          <a:noFill/>
          <a:ln/>
        </p:spPr>
        <p:txBody>
          <a:bodyPr wrap="square" rtlCol="0" anchor="t"/>
          <a:lstStyle/>
          <a:p>
            <a:pPr marL="0" indent="0" algn="ctr">
              <a:lnSpc>
                <a:spcPct val="120000"/>
              </a:lnSpc>
              <a:buNone/>
            </a:pPr>
            <a:r>
              <a:rPr lang="en-US" sz="950" dirty="0">
                <a:solidFill>
                  <a:srgbClr val="6B6B6B"/>
                </a:solidFill>
                <a:latin typeface="Arial" pitchFamily="34" charset="0"/>
                <a:ea typeface="Arial" pitchFamily="34" charset="-122"/>
                <a:cs typeface="Arial" pitchFamily="34" charset="-120"/>
              </a:rPr>
              <a:t>Structured Analysis</a:t>
            </a:r>
            <a:endParaRPr lang="en-US" sz="950" dirty="0"/>
          </a:p>
        </p:txBody>
      </p:sp>
      <p:sp>
        <p:nvSpPr>
          <p:cNvPr id="75" name="Shape 72"/>
          <p:cNvSpPr/>
          <p:nvPr/>
        </p:nvSpPr>
        <p:spPr>
          <a:xfrm>
            <a:off x="6208776" y="3913228"/>
            <a:ext cx="2601468" cy="1234440"/>
          </a:xfrm>
          <a:prstGeom prst="roundRect">
            <a:avLst>
              <a:gd name="adj" fmla="val 4444"/>
            </a:avLst>
          </a:prstGeom>
          <a:solidFill>
            <a:srgbClr val="FFFFFF"/>
          </a:solidFill>
          <a:ln w="12700">
            <a:solidFill>
              <a:srgbClr val="D9D9D9"/>
            </a:solidFill>
            <a:prstDash val="solid"/>
          </a:ln>
        </p:spPr>
      </p:sp>
      <p:sp>
        <p:nvSpPr>
          <p:cNvPr id="76" name="Text 73"/>
          <p:cNvSpPr/>
          <p:nvPr/>
        </p:nvSpPr>
        <p:spPr>
          <a:xfrm>
            <a:off x="6336792" y="3913228"/>
            <a:ext cx="2345436" cy="678942"/>
          </a:xfrm>
          <a:prstGeom prst="rect">
            <a:avLst/>
          </a:prstGeom>
          <a:noFill/>
          <a:ln/>
        </p:spPr>
        <p:txBody>
          <a:bodyPr wrap="square" rtlCol="0" anchor="b"/>
          <a:lstStyle/>
          <a:p>
            <a:pPr marL="0" indent="0" algn="ctr">
              <a:lnSpc>
                <a:spcPct val="115000"/>
              </a:lnSpc>
              <a:buNone/>
            </a:pPr>
            <a:r>
              <a:rPr lang="en-US" sz="1250" b="1" dirty="0">
                <a:solidFill>
                  <a:srgbClr val="12233F"/>
                </a:solidFill>
                <a:latin typeface="Arial" pitchFamily="34" charset="0"/>
                <a:ea typeface="Arial" pitchFamily="34" charset="-122"/>
                <a:cs typeface="Arial" pitchFamily="34" charset="-120"/>
              </a:rPr>
              <a:t>Operational Complexity</a:t>
            </a:r>
            <a:endParaRPr lang="en-US" sz="1250" dirty="0"/>
          </a:p>
        </p:txBody>
      </p:sp>
      <p:sp>
        <p:nvSpPr>
          <p:cNvPr id="77" name="Text 74"/>
          <p:cNvSpPr/>
          <p:nvPr/>
        </p:nvSpPr>
        <p:spPr>
          <a:xfrm>
            <a:off x="6336792" y="4592170"/>
            <a:ext cx="2345436" cy="493776"/>
          </a:xfrm>
          <a:prstGeom prst="rect">
            <a:avLst/>
          </a:prstGeom>
          <a:noFill/>
          <a:ln/>
        </p:spPr>
        <p:txBody>
          <a:bodyPr wrap="square" rtlCol="0" anchor="t"/>
          <a:lstStyle/>
          <a:p>
            <a:pPr marL="0" indent="0" algn="ctr">
              <a:lnSpc>
                <a:spcPct val="120000"/>
              </a:lnSpc>
              <a:buNone/>
            </a:pPr>
            <a:r>
              <a:rPr lang="en-US" sz="950" dirty="0">
                <a:solidFill>
                  <a:srgbClr val="6B6B6B"/>
                </a:solidFill>
                <a:latin typeface="Arial" pitchFamily="34" charset="0"/>
                <a:ea typeface="Arial" pitchFamily="34" charset="-122"/>
                <a:cs typeface="Arial" pitchFamily="34" charset="-120"/>
              </a:rPr>
              <a:t>Cross-functional Collaboration</a:t>
            </a:r>
            <a:endParaRPr lang="en-US" sz="950" dirty="0"/>
          </a:p>
        </p:txBody>
      </p:sp>
      <p:sp>
        <p:nvSpPr>
          <p:cNvPr id="78" name="Shape 75"/>
          <p:cNvSpPr/>
          <p:nvPr/>
        </p:nvSpPr>
        <p:spPr>
          <a:xfrm>
            <a:off x="9038844" y="3913228"/>
            <a:ext cx="2601468" cy="1234440"/>
          </a:xfrm>
          <a:prstGeom prst="roundRect">
            <a:avLst>
              <a:gd name="adj" fmla="val 4444"/>
            </a:avLst>
          </a:prstGeom>
          <a:solidFill>
            <a:srgbClr val="FFFFFF"/>
          </a:solidFill>
          <a:ln w="12700">
            <a:solidFill>
              <a:srgbClr val="D9D9D9"/>
            </a:solidFill>
            <a:prstDash val="solid"/>
          </a:ln>
        </p:spPr>
      </p:sp>
      <p:sp>
        <p:nvSpPr>
          <p:cNvPr id="79" name="Text 76"/>
          <p:cNvSpPr/>
          <p:nvPr/>
        </p:nvSpPr>
        <p:spPr>
          <a:xfrm>
            <a:off x="9166860" y="3913228"/>
            <a:ext cx="2345436" cy="678942"/>
          </a:xfrm>
          <a:prstGeom prst="rect">
            <a:avLst/>
          </a:prstGeom>
          <a:noFill/>
          <a:ln/>
        </p:spPr>
        <p:txBody>
          <a:bodyPr wrap="square" rtlCol="0" anchor="b"/>
          <a:lstStyle/>
          <a:p>
            <a:pPr marL="0" indent="0" algn="ctr">
              <a:lnSpc>
                <a:spcPct val="115000"/>
              </a:lnSpc>
              <a:buNone/>
            </a:pPr>
            <a:r>
              <a:rPr lang="en-US" sz="1250" b="1" dirty="0">
                <a:solidFill>
                  <a:srgbClr val="12233F"/>
                </a:solidFill>
                <a:latin typeface="Arial" pitchFamily="34" charset="0"/>
                <a:ea typeface="Arial" pitchFamily="34" charset="-122"/>
                <a:cs typeface="Arial" pitchFamily="34" charset="-120"/>
              </a:rPr>
              <a:t>Implementation Constraints</a:t>
            </a:r>
            <a:endParaRPr lang="en-US" sz="1250" dirty="0"/>
          </a:p>
        </p:txBody>
      </p:sp>
      <p:sp>
        <p:nvSpPr>
          <p:cNvPr id="80" name="Text 77"/>
          <p:cNvSpPr/>
          <p:nvPr/>
        </p:nvSpPr>
        <p:spPr>
          <a:xfrm>
            <a:off x="9166860" y="4592170"/>
            <a:ext cx="2345436" cy="493776"/>
          </a:xfrm>
          <a:prstGeom prst="rect">
            <a:avLst/>
          </a:prstGeom>
          <a:noFill/>
          <a:ln/>
        </p:spPr>
        <p:txBody>
          <a:bodyPr wrap="square" rtlCol="0" anchor="t"/>
          <a:lstStyle/>
          <a:p>
            <a:pPr marL="0" indent="0" algn="ctr">
              <a:lnSpc>
                <a:spcPct val="120000"/>
              </a:lnSpc>
              <a:buNone/>
            </a:pPr>
            <a:r>
              <a:rPr lang="en-US" sz="950" dirty="0">
                <a:solidFill>
                  <a:srgbClr val="6B6B6B"/>
                </a:solidFill>
                <a:latin typeface="Arial" pitchFamily="34" charset="0"/>
                <a:ea typeface="Arial" pitchFamily="34" charset="-122"/>
                <a:cs typeface="Arial" pitchFamily="34" charset="-120"/>
              </a:rPr>
              <a:t>Scalable Engineering Solutions</a:t>
            </a:r>
            <a:endParaRPr lang="en-US" sz="950" dirty="0"/>
          </a:p>
        </p:txBody>
      </p:sp>
      <p:sp>
        <p:nvSpPr>
          <p:cNvPr id="81" name="Shape 78"/>
          <p:cNvSpPr/>
          <p:nvPr/>
        </p:nvSpPr>
        <p:spPr>
          <a:xfrm>
            <a:off x="548640" y="5444272"/>
            <a:ext cx="11091672" cy="7315"/>
          </a:xfrm>
          <a:prstGeom prst="rect">
            <a:avLst/>
          </a:prstGeom>
          <a:solidFill>
            <a:srgbClr val="D9D9D9"/>
          </a:solidFill>
          <a:ln/>
        </p:spPr>
      </p:sp>
      <p:sp>
        <p:nvSpPr>
          <p:cNvPr id="82" name="Text 79"/>
          <p:cNvSpPr/>
          <p:nvPr/>
        </p:nvSpPr>
        <p:spPr>
          <a:xfrm>
            <a:off x="548640" y="5697227"/>
            <a:ext cx="11091672" cy="292608"/>
          </a:xfrm>
          <a:prstGeom prst="rect">
            <a:avLst/>
          </a:prstGeom>
          <a:noFill/>
          <a:ln/>
        </p:spPr>
        <p:txBody>
          <a:bodyPr wrap="square" rtlCol="0" anchor="ctr"/>
          <a:lstStyle/>
          <a:p>
            <a:pPr marL="0" indent="0" algn="ctr">
              <a:lnSpc>
                <a:spcPct val="125000"/>
              </a:lnSpc>
              <a:buNone/>
            </a:pPr>
            <a:r>
              <a:rPr lang="en-US" sz="1050" i="1" dirty="0">
                <a:solidFill>
                  <a:srgbClr val="6B6B6B"/>
                </a:solidFill>
                <a:latin typeface="Arial" pitchFamily="34" charset="0"/>
                <a:ea typeface="Arial" pitchFamily="34" charset="-122"/>
                <a:cs typeface="Arial" pitchFamily="34" charset="-120"/>
              </a:rPr>
              <a:t>The internship strengthened my ability to transform operational data into practical engineering solutions through structured analysis, field validation, and cross-functional collaboration.</a:t>
            </a:r>
            <a:endParaRPr lang="en-US" sz="1050" dirty="0"/>
          </a:p>
        </p:txBody>
      </p:sp>
      <p:grpSp>
        <p:nvGrpSpPr>
          <p:cNvPr id="83" name="Group 5">
            <a:extLst>
              <a:ext uri="{FF2B5EF4-FFF2-40B4-BE49-F238E27FC236}">
                <a16:creationId xmlns:a16="http://schemas.microsoft.com/office/drawing/2014/main" id="{BA0ECFD0-2B33-13F4-2163-FA2F65D3E5FE}"/>
              </a:ext>
            </a:extLst>
          </p:cNvPr>
          <p:cNvGrpSpPr/>
          <p:nvPr/>
        </p:nvGrpSpPr>
        <p:grpSpPr>
          <a:xfrm>
            <a:off x="548640" y="1050009"/>
            <a:ext cx="4680000" cy="45719"/>
            <a:chOff x="0" y="0"/>
            <a:chExt cx="14068412" cy="121920"/>
          </a:xfrm>
        </p:grpSpPr>
        <p:sp>
          <p:nvSpPr>
            <p:cNvPr id="84" name="Freeform 6" descr="D:\Corp Comm Department Work 2015\Brand Adani 2012\adani_gradient_master.jpg">
              <a:extLst>
                <a:ext uri="{FF2B5EF4-FFF2-40B4-BE49-F238E27FC236}">
                  <a16:creationId xmlns:a16="http://schemas.microsoft.com/office/drawing/2014/main" id="{96053C22-C7BF-962B-257F-AA13800A9604}"/>
                </a:ext>
              </a:extLst>
            </p:cNvPr>
            <p:cNvSpPr/>
            <p:nvPr/>
          </p:nvSpPr>
          <p:spPr>
            <a:xfrm>
              <a:off x="0" y="0"/>
              <a:ext cx="14068425"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3"/>
              <a:stretch>
                <a:fillRect b="-5072"/>
              </a:stretch>
            </a:blipFill>
          </p:spPr>
          <p:txBody>
            <a:bodyPr/>
            <a:lstStyle/>
            <a:p>
              <a:endParaRPr lang="en-IN"/>
            </a:p>
          </p:txBody>
        </p:sp>
      </p:grpSp>
      <p:grpSp>
        <p:nvGrpSpPr>
          <p:cNvPr id="85" name="Group 3">
            <a:extLst>
              <a:ext uri="{FF2B5EF4-FFF2-40B4-BE49-F238E27FC236}">
                <a16:creationId xmlns:a16="http://schemas.microsoft.com/office/drawing/2014/main" id="{E8F69E74-21BD-6AF6-6CA2-ECD127A17CDD}"/>
              </a:ext>
            </a:extLst>
          </p:cNvPr>
          <p:cNvGrpSpPr/>
          <p:nvPr/>
        </p:nvGrpSpPr>
        <p:grpSpPr>
          <a:xfrm>
            <a:off x="10056527" y="6189371"/>
            <a:ext cx="2136000" cy="669944"/>
            <a:chOff x="0" y="0"/>
            <a:chExt cx="4272001" cy="1339888"/>
          </a:xfrm>
        </p:grpSpPr>
        <p:sp>
          <p:nvSpPr>
            <p:cNvPr id="86" name="Freeform 4">
              <a:extLst>
                <a:ext uri="{FF2B5EF4-FFF2-40B4-BE49-F238E27FC236}">
                  <a16:creationId xmlns:a16="http://schemas.microsoft.com/office/drawing/2014/main" id="{B47B3C12-04B0-B9F5-45EC-A0ACD8F7B2F2}"/>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4"/>
              <a:stretch>
                <a:fillRect l="-470838" t="-924095" b="-2"/>
              </a:stretch>
            </a:blipFill>
          </p:spPr>
        </p:sp>
      </p:grpSp>
    </p:spTree>
    <p:extLst>
      <p:ext uri="{BB962C8B-B14F-4D97-AF65-F5344CB8AC3E}">
        <p14:creationId xmlns:p14="http://schemas.microsoft.com/office/powerpoint/2010/main" val="405094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11756"/>
            <a:ext cx="10058400" cy="438912"/>
          </a:xfrm>
          <a:prstGeom prst="rect">
            <a:avLst/>
          </a:prstGeom>
          <a:noFill/>
          <a:ln/>
        </p:spPr>
        <p:txBody>
          <a:bodyPr wrap="square" rtlCol="0" anchor="ctr"/>
          <a:lstStyle/>
          <a:p>
            <a:pPr marL="0" indent="0">
              <a:buNone/>
            </a:pPr>
            <a:r>
              <a:rPr lang="en-US" sz="2200" dirty="0">
                <a:solidFill>
                  <a:srgbClr val="0070C0"/>
                </a:solidFill>
                <a:latin typeface="Arial" pitchFamily="34" charset="0"/>
                <a:ea typeface="Arial" pitchFamily="34" charset="-122"/>
                <a:cs typeface="Arial" pitchFamily="34" charset="-120"/>
              </a:rPr>
              <a:t>Industrial Exposure at Talabira II &amp; III OCP</a:t>
            </a:r>
            <a:endParaRPr lang="en-US" sz="2200" dirty="0"/>
          </a:p>
        </p:txBody>
      </p:sp>
      <p:sp>
        <p:nvSpPr>
          <p:cNvPr id="54" name="Text 51"/>
          <p:cNvSpPr/>
          <p:nvPr/>
        </p:nvSpPr>
        <p:spPr>
          <a:xfrm>
            <a:off x="548640" y="1050367"/>
            <a:ext cx="11091672" cy="219456"/>
          </a:xfrm>
          <a:prstGeom prst="rect">
            <a:avLst/>
          </a:prstGeom>
          <a:noFill/>
          <a:ln/>
        </p:spPr>
        <p:txBody>
          <a:bodyPr wrap="square" rtlCol="0" anchor="ctr"/>
          <a:lstStyle/>
          <a:p>
            <a:pPr marL="0" indent="0">
              <a:buNone/>
            </a:pPr>
            <a:r>
              <a:rPr lang="en-US" sz="1100" i="1" dirty="0">
                <a:solidFill>
                  <a:srgbClr val="6B6B6B"/>
                </a:solidFill>
                <a:latin typeface="Arial" pitchFamily="34" charset="0"/>
                <a:ea typeface="Arial" pitchFamily="34" charset="-122"/>
                <a:cs typeface="Arial" pitchFamily="34" charset="-120"/>
              </a:rPr>
              <a:t>Practical exposure across major opencast mining operations during the internship.</a:t>
            </a:r>
            <a:endParaRPr lang="en-US" sz="1100" dirty="0"/>
          </a:p>
        </p:txBody>
      </p:sp>
      <p:sp>
        <p:nvSpPr>
          <p:cNvPr id="55" name="Shape 52"/>
          <p:cNvSpPr/>
          <p:nvPr/>
        </p:nvSpPr>
        <p:spPr>
          <a:xfrm>
            <a:off x="548640" y="1379551"/>
            <a:ext cx="11091672" cy="5486"/>
          </a:xfrm>
          <a:prstGeom prst="rect">
            <a:avLst/>
          </a:prstGeom>
          <a:solidFill>
            <a:srgbClr val="D9D9D9"/>
          </a:solidFill>
          <a:ln/>
        </p:spPr>
      </p:sp>
      <p:sp>
        <p:nvSpPr>
          <p:cNvPr id="56" name="Shape 53"/>
          <p:cNvSpPr/>
          <p:nvPr/>
        </p:nvSpPr>
        <p:spPr>
          <a:xfrm>
            <a:off x="548640" y="1591056"/>
            <a:ext cx="3544824" cy="1170432"/>
          </a:xfrm>
          <a:prstGeom prst="roundRect">
            <a:avLst>
              <a:gd name="adj" fmla="val 4688"/>
            </a:avLst>
          </a:prstGeom>
          <a:solidFill>
            <a:srgbClr val="FFFFFF"/>
          </a:solidFill>
          <a:ln w="12700">
            <a:solidFill>
              <a:srgbClr val="D9D9D9"/>
            </a:solidFill>
            <a:prstDash val="solid"/>
          </a:ln>
        </p:spPr>
      </p:sp>
      <p:sp>
        <p:nvSpPr>
          <p:cNvPr id="57" name="Text 54"/>
          <p:cNvSpPr/>
          <p:nvPr/>
        </p:nvSpPr>
        <p:spPr>
          <a:xfrm>
            <a:off x="731520" y="1755648"/>
            <a:ext cx="3179064" cy="292608"/>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Mine Operations</a:t>
            </a:r>
            <a:endParaRPr lang="en-US" sz="1300" dirty="0"/>
          </a:p>
        </p:txBody>
      </p:sp>
      <p:sp>
        <p:nvSpPr>
          <p:cNvPr id="58" name="Text 55"/>
          <p:cNvSpPr/>
          <p:nvPr/>
        </p:nvSpPr>
        <p:spPr>
          <a:xfrm>
            <a:off x="731520" y="2066544"/>
            <a:ext cx="3179064" cy="603504"/>
          </a:xfrm>
          <a:prstGeom prst="rect">
            <a:avLst/>
          </a:prstGeom>
          <a:noFill/>
          <a:ln/>
        </p:spPr>
        <p:txBody>
          <a:bodyPr wrap="square" rtlCol="0" anchor="ctr"/>
          <a:lstStyle/>
          <a:p>
            <a:pPr marL="0" indent="0">
              <a:lnSpc>
                <a:spcPct val="125000"/>
              </a:lnSpc>
              <a:buNone/>
            </a:pPr>
            <a:r>
              <a:rPr lang="en-US" sz="950" dirty="0">
                <a:solidFill>
                  <a:srgbClr val="6B6B6B"/>
                </a:solidFill>
                <a:latin typeface="Arial" pitchFamily="34" charset="0"/>
                <a:ea typeface="Arial" pitchFamily="34" charset="-122"/>
                <a:cs typeface="Arial" pitchFamily="34" charset="-120"/>
              </a:rPr>
              <a:t>Production cycle from drilling to overburden and coal extraction.</a:t>
            </a:r>
            <a:endParaRPr lang="en-US" sz="950" dirty="0"/>
          </a:p>
        </p:txBody>
      </p:sp>
      <p:sp>
        <p:nvSpPr>
          <p:cNvPr id="59" name="Shape 56"/>
          <p:cNvSpPr/>
          <p:nvPr/>
        </p:nvSpPr>
        <p:spPr>
          <a:xfrm>
            <a:off x="4322064" y="1591056"/>
            <a:ext cx="3544824" cy="1170432"/>
          </a:xfrm>
          <a:prstGeom prst="roundRect">
            <a:avLst>
              <a:gd name="adj" fmla="val 4688"/>
            </a:avLst>
          </a:prstGeom>
          <a:solidFill>
            <a:srgbClr val="FFFFFF"/>
          </a:solidFill>
          <a:ln w="12700">
            <a:solidFill>
              <a:srgbClr val="D9D9D9"/>
            </a:solidFill>
            <a:prstDash val="solid"/>
          </a:ln>
        </p:spPr>
      </p:sp>
      <p:sp>
        <p:nvSpPr>
          <p:cNvPr id="60" name="Text 57"/>
          <p:cNvSpPr/>
          <p:nvPr/>
        </p:nvSpPr>
        <p:spPr>
          <a:xfrm>
            <a:off x="4504944" y="1755648"/>
            <a:ext cx="3179064" cy="292608"/>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Drilling &amp; Blasting</a:t>
            </a:r>
            <a:endParaRPr lang="en-US" sz="1300" dirty="0"/>
          </a:p>
        </p:txBody>
      </p:sp>
      <p:sp>
        <p:nvSpPr>
          <p:cNvPr id="61" name="Text 58"/>
          <p:cNvSpPr/>
          <p:nvPr/>
        </p:nvSpPr>
        <p:spPr>
          <a:xfrm>
            <a:off x="4504944" y="2066544"/>
            <a:ext cx="3179064" cy="603504"/>
          </a:xfrm>
          <a:prstGeom prst="rect">
            <a:avLst/>
          </a:prstGeom>
          <a:noFill/>
          <a:ln/>
        </p:spPr>
        <p:txBody>
          <a:bodyPr wrap="square" rtlCol="0" anchor="ctr"/>
          <a:lstStyle/>
          <a:p>
            <a:pPr marL="0" indent="0">
              <a:lnSpc>
                <a:spcPct val="125000"/>
              </a:lnSpc>
              <a:buNone/>
            </a:pPr>
            <a:r>
              <a:rPr lang="en-US" sz="950" dirty="0">
                <a:solidFill>
                  <a:srgbClr val="6B6B6B"/>
                </a:solidFill>
                <a:latin typeface="Arial" pitchFamily="34" charset="0"/>
                <a:ea typeface="Arial" pitchFamily="34" charset="-122"/>
                <a:cs typeface="Arial" pitchFamily="34" charset="-120"/>
              </a:rPr>
              <a:t>Blast design, charging practices and fragmentation assessment.</a:t>
            </a:r>
            <a:endParaRPr lang="en-US" sz="950" dirty="0"/>
          </a:p>
        </p:txBody>
      </p:sp>
      <p:sp>
        <p:nvSpPr>
          <p:cNvPr id="62" name="Shape 59"/>
          <p:cNvSpPr/>
          <p:nvPr/>
        </p:nvSpPr>
        <p:spPr>
          <a:xfrm>
            <a:off x="8095488" y="1591056"/>
            <a:ext cx="3544824" cy="1170432"/>
          </a:xfrm>
          <a:prstGeom prst="roundRect">
            <a:avLst>
              <a:gd name="adj" fmla="val 4688"/>
            </a:avLst>
          </a:prstGeom>
          <a:solidFill>
            <a:srgbClr val="FFFFFF"/>
          </a:solidFill>
          <a:ln w="12700">
            <a:solidFill>
              <a:srgbClr val="D9D9D9"/>
            </a:solidFill>
            <a:prstDash val="solid"/>
          </a:ln>
        </p:spPr>
      </p:sp>
      <p:sp>
        <p:nvSpPr>
          <p:cNvPr id="63" name="Text 60"/>
          <p:cNvSpPr/>
          <p:nvPr/>
        </p:nvSpPr>
        <p:spPr>
          <a:xfrm>
            <a:off x="8278368" y="1755648"/>
            <a:ext cx="3179064" cy="292608"/>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Loading &amp; Hauling</a:t>
            </a:r>
            <a:endParaRPr lang="en-US" sz="1300" dirty="0"/>
          </a:p>
        </p:txBody>
      </p:sp>
      <p:sp>
        <p:nvSpPr>
          <p:cNvPr id="64" name="Text 61"/>
          <p:cNvSpPr/>
          <p:nvPr/>
        </p:nvSpPr>
        <p:spPr>
          <a:xfrm>
            <a:off x="8278368" y="2066544"/>
            <a:ext cx="3179064" cy="603504"/>
          </a:xfrm>
          <a:prstGeom prst="rect">
            <a:avLst/>
          </a:prstGeom>
          <a:noFill/>
          <a:ln/>
        </p:spPr>
        <p:txBody>
          <a:bodyPr wrap="square" rtlCol="0" anchor="ctr"/>
          <a:lstStyle/>
          <a:p>
            <a:pPr marL="0" indent="0">
              <a:lnSpc>
                <a:spcPct val="125000"/>
              </a:lnSpc>
              <a:buNone/>
            </a:pPr>
            <a:r>
              <a:rPr lang="en-US" sz="950" dirty="0">
                <a:solidFill>
                  <a:srgbClr val="6B6B6B"/>
                </a:solidFill>
                <a:latin typeface="Arial" pitchFamily="34" charset="0"/>
                <a:ea typeface="Arial" pitchFamily="34" charset="-122"/>
                <a:cs typeface="Arial" pitchFamily="34" charset="-120"/>
              </a:rPr>
              <a:t>Excavator–dumper deployment, haul road operations and fleet productivity.</a:t>
            </a:r>
            <a:endParaRPr lang="en-US" sz="950" dirty="0"/>
          </a:p>
        </p:txBody>
      </p:sp>
      <p:sp>
        <p:nvSpPr>
          <p:cNvPr id="65" name="Shape 62"/>
          <p:cNvSpPr/>
          <p:nvPr/>
        </p:nvSpPr>
        <p:spPr>
          <a:xfrm>
            <a:off x="548640" y="2944368"/>
            <a:ext cx="3544824" cy="1170432"/>
          </a:xfrm>
          <a:prstGeom prst="roundRect">
            <a:avLst>
              <a:gd name="adj" fmla="val 4688"/>
            </a:avLst>
          </a:prstGeom>
          <a:solidFill>
            <a:srgbClr val="FFFFFF"/>
          </a:solidFill>
          <a:ln w="12700">
            <a:solidFill>
              <a:srgbClr val="D9D9D9"/>
            </a:solidFill>
            <a:prstDash val="solid"/>
          </a:ln>
        </p:spPr>
      </p:sp>
      <p:sp>
        <p:nvSpPr>
          <p:cNvPr id="66" name="Text 63"/>
          <p:cNvSpPr/>
          <p:nvPr/>
        </p:nvSpPr>
        <p:spPr>
          <a:xfrm>
            <a:off x="731520" y="3108960"/>
            <a:ext cx="3179064" cy="292608"/>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HEMM Maintenance</a:t>
            </a:r>
            <a:endParaRPr lang="en-US" sz="1300" dirty="0"/>
          </a:p>
        </p:txBody>
      </p:sp>
      <p:sp>
        <p:nvSpPr>
          <p:cNvPr id="67" name="Text 64"/>
          <p:cNvSpPr/>
          <p:nvPr/>
        </p:nvSpPr>
        <p:spPr>
          <a:xfrm>
            <a:off x="731520" y="3419856"/>
            <a:ext cx="3179064" cy="603504"/>
          </a:xfrm>
          <a:prstGeom prst="rect">
            <a:avLst/>
          </a:prstGeom>
          <a:noFill/>
          <a:ln/>
        </p:spPr>
        <p:txBody>
          <a:bodyPr wrap="square" rtlCol="0" anchor="ctr"/>
          <a:lstStyle/>
          <a:p>
            <a:pPr marL="0" indent="0">
              <a:lnSpc>
                <a:spcPct val="125000"/>
              </a:lnSpc>
              <a:buNone/>
            </a:pPr>
            <a:r>
              <a:rPr lang="en-US" sz="950" dirty="0">
                <a:solidFill>
                  <a:srgbClr val="6B6B6B"/>
                </a:solidFill>
                <a:latin typeface="Arial" pitchFamily="34" charset="0"/>
                <a:ea typeface="Arial" pitchFamily="34" charset="-122"/>
                <a:cs typeface="Arial" pitchFamily="34" charset="-120"/>
              </a:rPr>
              <a:t>Workshop practices, preventive maintenance and equipment inspection.</a:t>
            </a:r>
            <a:endParaRPr lang="en-US" sz="950" dirty="0"/>
          </a:p>
        </p:txBody>
      </p:sp>
      <p:sp>
        <p:nvSpPr>
          <p:cNvPr id="68" name="Shape 65"/>
          <p:cNvSpPr/>
          <p:nvPr/>
        </p:nvSpPr>
        <p:spPr>
          <a:xfrm>
            <a:off x="4322064" y="2944368"/>
            <a:ext cx="3544824" cy="1170432"/>
          </a:xfrm>
          <a:prstGeom prst="roundRect">
            <a:avLst>
              <a:gd name="adj" fmla="val 4688"/>
            </a:avLst>
          </a:prstGeom>
          <a:solidFill>
            <a:srgbClr val="FFFFFF"/>
          </a:solidFill>
          <a:ln w="12700">
            <a:solidFill>
              <a:srgbClr val="D9D9D9"/>
            </a:solidFill>
            <a:prstDash val="solid"/>
          </a:ln>
        </p:spPr>
      </p:sp>
      <p:sp>
        <p:nvSpPr>
          <p:cNvPr id="69" name="Text 66"/>
          <p:cNvSpPr/>
          <p:nvPr/>
        </p:nvSpPr>
        <p:spPr>
          <a:xfrm>
            <a:off x="4504944" y="3108960"/>
            <a:ext cx="3179064" cy="292608"/>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Survey &amp; Drone Mapping</a:t>
            </a:r>
            <a:endParaRPr lang="en-US" sz="1300" dirty="0"/>
          </a:p>
        </p:txBody>
      </p:sp>
      <p:sp>
        <p:nvSpPr>
          <p:cNvPr id="70" name="Text 67"/>
          <p:cNvSpPr/>
          <p:nvPr/>
        </p:nvSpPr>
        <p:spPr>
          <a:xfrm>
            <a:off x="4504944" y="3419856"/>
            <a:ext cx="3179064" cy="603504"/>
          </a:xfrm>
          <a:prstGeom prst="rect">
            <a:avLst/>
          </a:prstGeom>
          <a:noFill/>
          <a:ln/>
        </p:spPr>
        <p:txBody>
          <a:bodyPr wrap="square" rtlCol="0" anchor="ctr"/>
          <a:lstStyle/>
          <a:p>
            <a:pPr marL="0" indent="0">
              <a:lnSpc>
                <a:spcPct val="125000"/>
              </a:lnSpc>
              <a:buNone/>
            </a:pPr>
            <a:r>
              <a:rPr lang="en-US" sz="950" dirty="0">
                <a:solidFill>
                  <a:srgbClr val="6B6B6B"/>
                </a:solidFill>
                <a:latin typeface="Arial" pitchFamily="34" charset="0"/>
                <a:ea typeface="Arial" pitchFamily="34" charset="-122"/>
                <a:cs typeface="Arial" pitchFamily="34" charset="-120"/>
              </a:rPr>
              <a:t>Drone survey, volumetric reconciliation and pit measurements.</a:t>
            </a:r>
            <a:endParaRPr lang="en-US" sz="950" dirty="0"/>
          </a:p>
        </p:txBody>
      </p:sp>
      <p:sp>
        <p:nvSpPr>
          <p:cNvPr id="71" name="Shape 68"/>
          <p:cNvSpPr/>
          <p:nvPr/>
        </p:nvSpPr>
        <p:spPr>
          <a:xfrm>
            <a:off x="8095488" y="2944368"/>
            <a:ext cx="3544824" cy="1170432"/>
          </a:xfrm>
          <a:prstGeom prst="roundRect">
            <a:avLst>
              <a:gd name="adj" fmla="val 4688"/>
            </a:avLst>
          </a:prstGeom>
          <a:solidFill>
            <a:srgbClr val="FFFFFF"/>
          </a:solidFill>
          <a:ln w="12700">
            <a:solidFill>
              <a:srgbClr val="D9D9D9"/>
            </a:solidFill>
            <a:prstDash val="solid"/>
          </a:ln>
        </p:spPr>
      </p:sp>
      <p:sp>
        <p:nvSpPr>
          <p:cNvPr id="72" name="Text 69"/>
          <p:cNvSpPr/>
          <p:nvPr/>
        </p:nvSpPr>
        <p:spPr>
          <a:xfrm>
            <a:off x="8278368" y="3108960"/>
            <a:ext cx="3179064" cy="292608"/>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Geology &amp; Grade Control</a:t>
            </a:r>
            <a:endParaRPr lang="en-US" sz="1300" dirty="0"/>
          </a:p>
        </p:txBody>
      </p:sp>
      <p:sp>
        <p:nvSpPr>
          <p:cNvPr id="73" name="Text 70"/>
          <p:cNvSpPr/>
          <p:nvPr/>
        </p:nvSpPr>
        <p:spPr>
          <a:xfrm>
            <a:off x="8278368" y="3419856"/>
            <a:ext cx="3179064" cy="603504"/>
          </a:xfrm>
          <a:prstGeom prst="rect">
            <a:avLst/>
          </a:prstGeom>
          <a:noFill/>
          <a:ln/>
        </p:spPr>
        <p:txBody>
          <a:bodyPr wrap="square" rtlCol="0" anchor="ctr"/>
          <a:lstStyle/>
          <a:p>
            <a:pPr marL="0" indent="0">
              <a:lnSpc>
                <a:spcPct val="125000"/>
              </a:lnSpc>
              <a:buNone/>
            </a:pPr>
            <a:r>
              <a:rPr lang="en-US" sz="950" dirty="0">
                <a:solidFill>
                  <a:srgbClr val="6B6B6B"/>
                </a:solidFill>
                <a:latin typeface="Arial" pitchFamily="34" charset="0"/>
                <a:ea typeface="Arial" pitchFamily="34" charset="-122"/>
                <a:cs typeface="Arial" pitchFamily="34" charset="-120"/>
              </a:rPr>
              <a:t>Lithology identification, seam exposure and quality monitoring.</a:t>
            </a:r>
            <a:endParaRPr lang="en-US" sz="950" dirty="0"/>
          </a:p>
        </p:txBody>
      </p:sp>
      <p:sp>
        <p:nvSpPr>
          <p:cNvPr id="74" name="Shape 71"/>
          <p:cNvSpPr/>
          <p:nvPr/>
        </p:nvSpPr>
        <p:spPr>
          <a:xfrm>
            <a:off x="548640" y="4297680"/>
            <a:ext cx="3544824" cy="1170432"/>
          </a:xfrm>
          <a:prstGeom prst="roundRect">
            <a:avLst>
              <a:gd name="adj" fmla="val 4688"/>
            </a:avLst>
          </a:prstGeom>
          <a:solidFill>
            <a:srgbClr val="FFFFFF"/>
          </a:solidFill>
          <a:ln w="12700">
            <a:solidFill>
              <a:srgbClr val="D9D9D9"/>
            </a:solidFill>
            <a:prstDash val="solid"/>
          </a:ln>
        </p:spPr>
      </p:sp>
      <p:sp>
        <p:nvSpPr>
          <p:cNvPr id="75" name="Text 72"/>
          <p:cNvSpPr/>
          <p:nvPr/>
        </p:nvSpPr>
        <p:spPr>
          <a:xfrm>
            <a:off x="731520" y="4462272"/>
            <a:ext cx="3179064" cy="292608"/>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Explosives Management</a:t>
            </a:r>
            <a:endParaRPr lang="en-US" sz="1300" dirty="0"/>
          </a:p>
        </p:txBody>
      </p:sp>
      <p:sp>
        <p:nvSpPr>
          <p:cNvPr id="76" name="Text 73"/>
          <p:cNvSpPr/>
          <p:nvPr/>
        </p:nvSpPr>
        <p:spPr>
          <a:xfrm>
            <a:off x="731520" y="4773168"/>
            <a:ext cx="3179064" cy="603504"/>
          </a:xfrm>
          <a:prstGeom prst="rect">
            <a:avLst/>
          </a:prstGeom>
          <a:noFill/>
          <a:ln/>
        </p:spPr>
        <p:txBody>
          <a:bodyPr wrap="square" rtlCol="0" anchor="ctr"/>
          <a:lstStyle/>
          <a:p>
            <a:pPr marL="0" indent="0">
              <a:lnSpc>
                <a:spcPct val="125000"/>
              </a:lnSpc>
              <a:buNone/>
            </a:pPr>
            <a:r>
              <a:rPr lang="en-US" sz="950" dirty="0">
                <a:solidFill>
                  <a:srgbClr val="6B6B6B"/>
                </a:solidFill>
                <a:latin typeface="Arial" pitchFamily="34" charset="0"/>
                <a:ea typeface="Arial" pitchFamily="34" charset="-122"/>
                <a:cs typeface="Arial" pitchFamily="34" charset="-120"/>
              </a:rPr>
              <a:t>Explosive magazine, detonators and statutory handling procedures.</a:t>
            </a:r>
            <a:endParaRPr lang="en-US" sz="950" dirty="0"/>
          </a:p>
        </p:txBody>
      </p:sp>
      <p:sp>
        <p:nvSpPr>
          <p:cNvPr id="77" name="Shape 74"/>
          <p:cNvSpPr/>
          <p:nvPr/>
        </p:nvSpPr>
        <p:spPr>
          <a:xfrm>
            <a:off x="4322064" y="4297680"/>
            <a:ext cx="3544824" cy="1170432"/>
          </a:xfrm>
          <a:prstGeom prst="roundRect">
            <a:avLst>
              <a:gd name="adj" fmla="val 4688"/>
            </a:avLst>
          </a:prstGeom>
          <a:solidFill>
            <a:srgbClr val="FFFFFF"/>
          </a:solidFill>
          <a:ln w="12700">
            <a:solidFill>
              <a:srgbClr val="D9D9D9"/>
            </a:solidFill>
            <a:prstDash val="solid"/>
          </a:ln>
        </p:spPr>
      </p:sp>
      <p:sp>
        <p:nvSpPr>
          <p:cNvPr id="78" name="Text 75"/>
          <p:cNvSpPr/>
          <p:nvPr/>
        </p:nvSpPr>
        <p:spPr>
          <a:xfrm>
            <a:off x="4504944" y="4462272"/>
            <a:ext cx="3179064" cy="292608"/>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Dispatch &amp; Weighbridge</a:t>
            </a:r>
            <a:endParaRPr lang="en-US" sz="1300" dirty="0"/>
          </a:p>
        </p:txBody>
      </p:sp>
      <p:sp>
        <p:nvSpPr>
          <p:cNvPr id="79" name="Text 76"/>
          <p:cNvSpPr/>
          <p:nvPr/>
        </p:nvSpPr>
        <p:spPr>
          <a:xfrm>
            <a:off x="4504944" y="4773168"/>
            <a:ext cx="3179064" cy="603504"/>
          </a:xfrm>
          <a:prstGeom prst="rect">
            <a:avLst/>
          </a:prstGeom>
          <a:noFill/>
          <a:ln/>
        </p:spPr>
        <p:txBody>
          <a:bodyPr wrap="square" rtlCol="0" anchor="ctr"/>
          <a:lstStyle/>
          <a:p>
            <a:pPr marL="0" indent="0">
              <a:lnSpc>
                <a:spcPct val="125000"/>
              </a:lnSpc>
              <a:buNone/>
            </a:pPr>
            <a:r>
              <a:rPr lang="en-US" sz="950" dirty="0">
                <a:solidFill>
                  <a:srgbClr val="6B6B6B"/>
                </a:solidFill>
                <a:latin typeface="Arial" pitchFamily="34" charset="0"/>
                <a:ea typeface="Arial" pitchFamily="34" charset="-122"/>
                <a:cs typeface="Arial" pitchFamily="34" charset="-120"/>
              </a:rPr>
              <a:t>Fleet dispatch, weighbridge operations and production reconciliation.</a:t>
            </a:r>
            <a:endParaRPr lang="en-US" sz="950" dirty="0"/>
          </a:p>
        </p:txBody>
      </p:sp>
      <p:sp>
        <p:nvSpPr>
          <p:cNvPr id="80" name="Shape 77"/>
          <p:cNvSpPr/>
          <p:nvPr/>
        </p:nvSpPr>
        <p:spPr>
          <a:xfrm>
            <a:off x="8095488" y="4297680"/>
            <a:ext cx="3544824" cy="1170432"/>
          </a:xfrm>
          <a:prstGeom prst="roundRect">
            <a:avLst>
              <a:gd name="adj" fmla="val 4688"/>
            </a:avLst>
          </a:prstGeom>
          <a:solidFill>
            <a:srgbClr val="FFFFFF"/>
          </a:solidFill>
          <a:ln w="12700">
            <a:solidFill>
              <a:srgbClr val="D9D9D9"/>
            </a:solidFill>
            <a:prstDash val="solid"/>
          </a:ln>
        </p:spPr>
      </p:sp>
      <p:sp>
        <p:nvSpPr>
          <p:cNvPr id="81" name="Text 78"/>
          <p:cNvSpPr/>
          <p:nvPr/>
        </p:nvSpPr>
        <p:spPr>
          <a:xfrm>
            <a:off x="8278368" y="4462272"/>
            <a:ext cx="3179064" cy="292608"/>
          </a:xfrm>
          <a:prstGeom prst="rect">
            <a:avLst/>
          </a:prstGeom>
          <a:noFill/>
          <a:ln/>
        </p:spPr>
        <p:txBody>
          <a:bodyPr wrap="square" rtlCol="0" anchor="ctr"/>
          <a:lstStyle/>
          <a:p>
            <a:pPr marL="0" indent="0">
              <a:buNone/>
            </a:pPr>
            <a:r>
              <a:rPr lang="en-US" sz="1300" b="1" dirty="0">
                <a:solidFill>
                  <a:srgbClr val="12233F"/>
                </a:solidFill>
                <a:latin typeface="Arial" pitchFamily="34" charset="0"/>
                <a:ea typeface="Arial" pitchFamily="34" charset="-122"/>
                <a:cs typeface="Arial" pitchFamily="34" charset="-120"/>
              </a:rPr>
              <a:t>Mine Safety</a:t>
            </a:r>
            <a:endParaRPr lang="en-US" sz="1300" dirty="0"/>
          </a:p>
        </p:txBody>
      </p:sp>
      <p:sp>
        <p:nvSpPr>
          <p:cNvPr id="82" name="Text 79"/>
          <p:cNvSpPr/>
          <p:nvPr/>
        </p:nvSpPr>
        <p:spPr>
          <a:xfrm>
            <a:off x="8278368" y="4773168"/>
            <a:ext cx="3179064" cy="603504"/>
          </a:xfrm>
          <a:prstGeom prst="rect">
            <a:avLst/>
          </a:prstGeom>
          <a:noFill/>
          <a:ln/>
        </p:spPr>
        <p:txBody>
          <a:bodyPr wrap="square" rtlCol="0" anchor="ctr"/>
          <a:lstStyle/>
          <a:p>
            <a:pPr marL="0" indent="0">
              <a:lnSpc>
                <a:spcPct val="125000"/>
              </a:lnSpc>
              <a:buNone/>
            </a:pPr>
            <a:r>
              <a:rPr lang="en-US" sz="950" dirty="0">
                <a:solidFill>
                  <a:srgbClr val="6B6B6B"/>
                </a:solidFill>
                <a:latin typeface="Arial" pitchFamily="34" charset="0"/>
                <a:ea typeface="Arial" pitchFamily="34" charset="-122"/>
                <a:cs typeface="Arial" pitchFamily="34" charset="-120"/>
              </a:rPr>
              <a:t>Safety committee meetings, field inspections and statutory safety practices.</a:t>
            </a:r>
            <a:endParaRPr lang="en-US" sz="950" dirty="0"/>
          </a:p>
        </p:txBody>
      </p:sp>
      <p:sp>
        <p:nvSpPr>
          <p:cNvPr id="83" name="Shape 80"/>
          <p:cNvSpPr/>
          <p:nvPr/>
        </p:nvSpPr>
        <p:spPr>
          <a:xfrm>
            <a:off x="548640" y="5705856"/>
            <a:ext cx="11091672" cy="5486"/>
          </a:xfrm>
          <a:prstGeom prst="rect">
            <a:avLst/>
          </a:prstGeom>
          <a:solidFill>
            <a:srgbClr val="D9D9D9"/>
          </a:solidFill>
          <a:ln/>
        </p:spPr>
      </p:sp>
      <p:sp>
        <p:nvSpPr>
          <p:cNvPr id="84" name="Text 81"/>
          <p:cNvSpPr/>
          <p:nvPr/>
        </p:nvSpPr>
        <p:spPr>
          <a:xfrm>
            <a:off x="548640" y="5852160"/>
            <a:ext cx="11091672" cy="182880"/>
          </a:xfrm>
          <a:prstGeom prst="rect">
            <a:avLst/>
          </a:prstGeom>
          <a:noFill/>
          <a:ln/>
        </p:spPr>
        <p:txBody>
          <a:bodyPr wrap="square" rtlCol="0" anchor="ctr"/>
          <a:lstStyle/>
          <a:p>
            <a:pPr marL="0" indent="0" algn="ctr">
              <a:buNone/>
            </a:pPr>
            <a:r>
              <a:rPr lang="en-US" sz="950" b="1" kern="0" spc="100" dirty="0">
                <a:solidFill>
                  <a:srgbClr val="6B6B6B"/>
                </a:solidFill>
                <a:latin typeface="Arial" pitchFamily="34" charset="0"/>
                <a:ea typeface="Arial" pitchFamily="34" charset="-122"/>
                <a:cs typeface="Arial" pitchFamily="34" charset="-120"/>
              </a:rPr>
              <a:t>OVERALL EXPOSURE</a:t>
            </a:r>
            <a:endParaRPr lang="en-US" sz="950" dirty="0"/>
          </a:p>
        </p:txBody>
      </p:sp>
      <p:sp>
        <p:nvSpPr>
          <p:cNvPr id="85" name="Text 82"/>
          <p:cNvSpPr/>
          <p:nvPr/>
        </p:nvSpPr>
        <p:spPr>
          <a:xfrm>
            <a:off x="548640" y="6047763"/>
            <a:ext cx="11091672" cy="274320"/>
          </a:xfrm>
          <a:prstGeom prst="rect">
            <a:avLst/>
          </a:prstGeom>
          <a:noFill/>
          <a:ln/>
        </p:spPr>
        <p:txBody>
          <a:bodyPr wrap="square" rtlCol="0" anchor="ctr"/>
          <a:lstStyle/>
          <a:p>
            <a:pPr marL="0" indent="0" algn="ctr">
              <a:lnSpc>
                <a:spcPct val="120000"/>
              </a:lnSpc>
              <a:buNone/>
            </a:pPr>
            <a:r>
              <a:rPr lang="en-US" sz="1050" i="1" dirty="0">
                <a:solidFill>
                  <a:srgbClr val="6B6B6B"/>
                </a:solidFill>
                <a:latin typeface="Arial" pitchFamily="34" charset="0"/>
                <a:ea typeface="Arial" pitchFamily="34" charset="-122"/>
                <a:cs typeface="Arial" pitchFamily="34" charset="-120"/>
              </a:rPr>
              <a:t>Developed a comprehensive understanding of end-to-end opencast mining operations through field exposures, cross-functional interaction and operational observation.</a:t>
            </a:r>
            <a:endParaRPr lang="en-US" sz="1050" dirty="0"/>
          </a:p>
        </p:txBody>
      </p:sp>
      <p:grpSp>
        <p:nvGrpSpPr>
          <p:cNvPr id="86" name="Group 5">
            <a:extLst>
              <a:ext uri="{FF2B5EF4-FFF2-40B4-BE49-F238E27FC236}">
                <a16:creationId xmlns:a16="http://schemas.microsoft.com/office/drawing/2014/main" id="{10336903-9119-8CBD-45CA-D539E4F54AB3}"/>
              </a:ext>
            </a:extLst>
          </p:cNvPr>
          <p:cNvGrpSpPr/>
          <p:nvPr/>
        </p:nvGrpSpPr>
        <p:grpSpPr>
          <a:xfrm>
            <a:off x="634315" y="882398"/>
            <a:ext cx="6048000" cy="45719"/>
            <a:chOff x="0" y="-33633"/>
            <a:chExt cx="14068427" cy="121920"/>
          </a:xfrm>
        </p:grpSpPr>
        <p:sp>
          <p:nvSpPr>
            <p:cNvPr id="87" name="Freeform 6" descr="D:\Corp Comm Department Work 2015\Brand Adani 2012\adani_gradient_master.jpg">
              <a:extLst>
                <a:ext uri="{FF2B5EF4-FFF2-40B4-BE49-F238E27FC236}">
                  <a16:creationId xmlns:a16="http://schemas.microsoft.com/office/drawing/2014/main" id="{C18D2111-114F-9017-0BA2-1B19946FDAF8}"/>
                </a:ext>
              </a:extLst>
            </p:cNvPr>
            <p:cNvSpPr/>
            <p:nvPr/>
          </p:nvSpPr>
          <p:spPr>
            <a:xfrm>
              <a:off x="0" y="-33633"/>
              <a:ext cx="14068427"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3"/>
              <a:stretch>
                <a:fillRect b="-5072"/>
              </a:stretch>
            </a:blipFill>
          </p:spPr>
          <p:txBody>
            <a:bodyPr/>
            <a:lstStyle/>
            <a:p>
              <a:endParaRPr lang="en-IN" dirty="0"/>
            </a:p>
          </p:txBody>
        </p:sp>
      </p:grpSp>
      <p:grpSp>
        <p:nvGrpSpPr>
          <p:cNvPr id="88" name="Group 3">
            <a:extLst>
              <a:ext uri="{FF2B5EF4-FFF2-40B4-BE49-F238E27FC236}">
                <a16:creationId xmlns:a16="http://schemas.microsoft.com/office/drawing/2014/main" id="{9583F7E6-992B-65AA-DC47-A92A9BDC289E}"/>
              </a:ext>
            </a:extLst>
          </p:cNvPr>
          <p:cNvGrpSpPr/>
          <p:nvPr/>
        </p:nvGrpSpPr>
        <p:grpSpPr>
          <a:xfrm>
            <a:off x="10056527" y="6189371"/>
            <a:ext cx="2136000" cy="669944"/>
            <a:chOff x="0" y="0"/>
            <a:chExt cx="4272001" cy="1339888"/>
          </a:xfrm>
        </p:grpSpPr>
        <p:sp>
          <p:nvSpPr>
            <p:cNvPr id="89" name="Freeform 4">
              <a:extLst>
                <a:ext uri="{FF2B5EF4-FFF2-40B4-BE49-F238E27FC236}">
                  <a16:creationId xmlns:a16="http://schemas.microsoft.com/office/drawing/2014/main" id="{FACC8472-BA69-5452-BD27-78600C6881BD}"/>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4"/>
              <a:stretch>
                <a:fillRect l="-470838" t="-924095" b="-2"/>
              </a:stretch>
            </a:blipFill>
          </p:spPr>
        </p:sp>
      </p:grpSp>
    </p:spTree>
    <p:extLst>
      <p:ext uri="{BB962C8B-B14F-4D97-AF65-F5344CB8AC3E}">
        <p14:creationId xmlns:p14="http://schemas.microsoft.com/office/powerpoint/2010/main" val="3359919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1.jpeg"/>
          <p:cNvPicPr>
            <a:picLocks noChangeAspect="1"/>
          </p:cNvPicPr>
          <p:nvPr/>
        </p:nvPicPr>
        <p:blipFill>
          <a:blip r:embed="rId3"/>
          <a:srcRect/>
          <a:stretch/>
        </p:blipFill>
        <p:spPr>
          <a:xfrm>
            <a:off x="502920" y="1234440"/>
            <a:ext cx="2672334" cy="2363724"/>
          </a:xfrm>
          <a:prstGeom prst="rect">
            <a:avLst/>
          </a:prstGeom>
          <a:effectLst>
            <a:outerShdw blurRad="76200" dist="25400" dir="5400000" algn="bl" rotWithShape="0">
              <a:srgbClr val="1A1A1A">
                <a:alpha val="35000"/>
              </a:srgbClr>
            </a:outerShdw>
          </a:effectLst>
        </p:spPr>
      </p:pic>
      <p:sp>
        <p:nvSpPr>
          <p:cNvPr id="4" name="Shape 0"/>
          <p:cNvSpPr/>
          <p:nvPr/>
        </p:nvSpPr>
        <p:spPr>
          <a:xfrm>
            <a:off x="502920" y="1234440"/>
            <a:ext cx="2672334" cy="2363724"/>
          </a:xfrm>
          <a:prstGeom prst="rect">
            <a:avLst/>
          </a:prstGeom>
          <a:ln w="19050">
            <a:solidFill>
              <a:srgbClr val="FFFFFF"/>
            </a:solidFill>
            <a:prstDash val="solid"/>
          </a:ln>
        </p:spPr>
      </p:sp>
      <p:pic>
        <p:nvPicPr>
          <p:cNvPr id="5" name="Image 2" descr="2.jpeg"/>
          <p:cNvPicPr>
            <a:picLocks noChangeAspect="1"/>
          </p:cNvPicPr>
          <p:nvPr/>
        </p:nvPicPr>
        <p:blipFill>
          <a:blip r:embed="rId4"/>
          <a:srcRect/>
          <a:stretch/>
        </p:blipFill>
        <p:spPr>
          <a:xfrm>
            <a:off x="3339846" y="1234440"/>
            <a:ext cx="2672334" cy="2363724"/>
          </a:xfrm>
          <a:prstGeom prst="rect">
            <a:avLst/>
          </a:prstGeom>
          <a:effectLst>
            <a:outerShdw blurRad="76200" dist="25400" dir="5400000" algn="bl" rotWithShape="0">
              <a:srgbClr val="1A1A1A">
                <a:alpha val="35000"/>
              </a:srgbClr>
            </a:outerShdw>
          </a:effectLst>
        </p:spPr>
      </p:pic>
      <p:sp>
        <p:nvSpPr>
          <p:cNvPr id="6" name="Shape 1"/>
          <p:cNvSpPr/>
          <p:nvPr/>
        </p:nvSpPr>
        <p:spPr>
          <a:xfrm>
            <a:off x="3339846" y="1234440"/>
            <a:ext cx="2672334" cy="2363724"/>
          </a:xfrm>
          <a:prstGeom prst="rect">
            <a:avLst/>
          </a:prstGeom>
          <a:ln w="19050">
            <a:solidFill>
              <a:srgbClr val="FFFFFF"/>
            </a:solidFill>
            <a:prstDash val="solid"/>
          </a:ln>
        </p:spPr>
      </p:sp>
      <p:pic>
        <p:nvPicPr>
          <p:cNvPr id="7" name="Image 3" descr="3.jpeg"/>
          <p:cNvPicPr>
            <a:picLocks noChangeAspect="1"/>
          </p:cNvPicPr>
          <p:nvPr/>
        </p:nvPicPr>
        <p:blipFill>
          <a:blip r:embed="rId5"/>
          <a:srcRect/>
          <a:stretch/>
        </p:blipFill>
        <p:spPr>
          <a:xfrm>
            <a:off x="6176772" y="1234440"/>
            <a:ext cx="2672334" cy="2363724"/>
          </a:xfrm>
          <a:prstGeom prst="rect">
            <a:avLst/>
          </a:prstGeom>
          <a:effectLst>
            <a:outerShdw blurRad="76200" dist="25400" dir="5400000" algn="bl" rotWithShape="0">
              <a:srgbClr val="1A1A1A">
                <a:alpha val="35000"/>
              </a:srgbClr>
            </a:outerShdw>
          </a:effectLst>
        </p:spPr>
      </p:pic>
      <p:sp>
        <p:nvSpPr>
          <p:cNvPr id="8" name="Shape 2"/>
          <p:cNvSpPr/>
          <p:nvPr/>
        </p:nvSpPr>
        <p:spPr>
          <a:xfrm>
            <a:off x="6176772" y="1234440"/>
            <a:ext cx="2672334" cy="2363724"/>
          </a:xfrm>
          <a:prstGeom prst="rect">
            <a:avLst/>
          </a:prstGeom>
          <a:ln w="19050">
            <a:solidFill>
              <a:srgbClr val="FFFFFF"/>
            </a:solidFill>
            <a:prstDash val="solid"/>
          </a:ln>
        </p:spPr>
      </p:sp>
      <p:pic>
        <p:nvPicPr>
          <p:cNvPr id="9" name="Image 4" descr="4.jpeg"/>
          <p:cNvPicPr>
            <a:picLocks noChangeAspect="1"/>
          </p:cNvPicPr>
          <p:nvPr/>
        </p:nvPicPr>
        <p:blipFill>
          <a:blip r:embed="rId6"/>
          <a:srcRect/>
          <a:stretch/>
        </p:blipFill>
        <p:spPr>
          <a:xfrm>
            <a:off x="9013698" y="1234440"/>
            <a:ext cx="2672334" cy="2363724"/>
          </a:xfrm>
          <a:prstGeom prst="rect">
            <a:avLst/>
          </a:prstGeom>
          <a:effectLst>
            <a:outerShdw blurRad="76200" dist="25400" dir="5400000" algn="bl" rotWithShape="0">
              <a:srgbClr val="1A1A1A">
                <a:alpha val="35000"/>
              </a:srgbClr>
            </a:outerShdw>
          </a:effectLst>
        </p:spPr>
      </p:pic>
      <p:sp>
        <p:nvSpPr>
          <p:cNvPr id="10" name="Shape 3"/>
          <p:cNvSpPr/>
          <p:nvPr/>
        </p:nvSpPr>
        <p:spPr>
          <a:xfrm>
            <a:off x="9013698" y="1234440"/>
            <a:ext cx="2672334" cy="2363724"/>
          </a:xfrm>
          <a:prstGeom prst="rect">
            <a:avLst/>
          </a:prstGeom>
          <a:ln w="19050">
            <a:solidFill>
              <a:srgbClr val="FFFFFF"/>
            </a:solidFill>
            <a:prstDash val="solid"/>
          </a:ln>
        </p:spPr>
      </p:sp>
      <p:pic>
        <p:nvPicPr>
          <p:cNvPr id="11" name="Image 5" descr="5.jpeg"/>
          <p:cNvPicPr>
            <a:picLocks noChangeAspect="1"/>
          </p:cNvPicPr>
          <p:nvPr/>
        </p:nvPicPr>
        <p:blipFill>
          <a:blip r:embed="rId7"/>
          <a:srcRect/>
          <a:stretch/>
        </p:blipFill>
        <p:spPr>
          <a:xfrm>
            <a:off x="502920" y="3762756"/>
            <a:ext cx="2672334" cy="2363724"/>
          </a:xfrm>
          <a:prstGeom prst="rect">
            <a:avLst/>
          </a:prstGeom>
          <a:effectLst>
            <a:outerShdw blurRad="76200" dist="25400" dir="5400000" algn="bl" rotWithShape="0">
              <a:srgbClr val="1A1A1A">
                <a:alpha val="35000"/>
              </a:srgbClr>
            </a:outerShdw>
          </a:effectLst>
        </p:spPr>
      </p:pic>
      <p:sp>
        <p:nvSpPr>
          <p:cNvPr id="12" name="Shape 4"/>
          <p:cNvSpPr/>
          <p:nvPr/>
        </p:nvSpPr>
        <p:spPr>
          <a:xfrm>
            <a:off x="502920" y="3762756"/>
            <a:ext cx="2672334" cy="2363724"/>
          </a:xfrm>
          <a:prstGeom prst="rect">
            <a:avLst/>
          </a:prstGeom>
          <a:ln w="19050">
            <a:solidFill>
              <a:srgbClr val="FFFFFF"/>
            </a:solidFill>
            <a:prstDash val="solid"/>
          </a:ln>
        </p:spPr>
      </p:sp>
      <p:pic>
        <p:nvPicPr>
          <p:cNvPr id="13" name="Image 6" descr="6.jpeg"/>
          <p:cNvPicPr>
            <a:picLocks noChangeAspect="1"/>
          </p:cNvPicPr>
          <p:nvPr/>
        </p:nvPicPr>
        <p:blipFill>
          <a:blip r:embed="rId8"/>
          <a:srcRect/>
          <a:stretch/>
        </p:blipFill>
        <p:spPr>
          <a:xfrm>
            <a:off x="3339846" y="3762756"/>
            <a:ext cx="2672334" cy="2363724"/>
          </a:xfrm>
          <a:prstGeom prst="rect">
            <a:avLst/>
          </a:prstGeom>
          <a:effectLst>
            <a:outerShdw blurRad="76200" dist="25400" dir="5400000" algn="bl" rotWithShape="0">
              <a:srgbClr val="1A1A1A">
                <a:alpha val="35000"/>
              </a:srgbClr>
            </a:outerShdw>
          </a:effectLst>
        </p:spPr>
      </p:pic>
      <p:sp>
        <p:nvSpPr>
          <p:cNvPr id="14" name="Shape 5"/>
          <p:cNvSpPr/>
          <p:nvPr/>
        </p:nvSpPr>
        <p:spPr>
          <a:xfrm>
            <a:off x="3339846" y="3762756"/>
            <a:ext cx="2672334" cy="2363724"/>
          </a:xfrm>
          <a:prstGeom prst="rect">
            <a:avLst/>
          </a:prstGeom>
          <a:ln w="19050">
            <a:solidFill>
              <a:srgbClr val="FFFFFF"/>
            </a:solidFill>
            <a:prstDash val="solid"/>
          </a:ln>
        </p:spPr>
      </p:sp>
      <p:pic>
        <p:nvPicPr>
          <p:cNvPr id="15" name="Image 7" descr="7.jpeg"/>
          <p:cNvPicPr>
            <a:picLocks noChangeAspect="1"/>
          </p:cNvPicPr>
          <p:nvPr/>
        </p:nvPicPr>
        <p:blipFill>
          <a:blip r:embed="rId9"/>
          <a:srcRect/>
          <a:stretch/>
        </p:blipFill>
        <p:spPr>
          <a:xfrm>
            <a:off x="6176772" y="3762756"/>
            <a:ext cx="2672334" cy="2363724"/>
          </a:xfrm>
          <a:prstGeom prst="rect">
            <a:avLst/>
          </a:prstGeom>
          <a:effectLst>
            <a:outerShdw blurRad="76200" dist="25400" dir="5400000" algn="bl" rotWithShape="0">
              <a:srgbClr val="1A1A1A">
                <a:alpha val="35000"/>
              </a:srgbClr>
            </a:outerShdw>
          </a:effectLst>
        </p:spPr>
      </p:pic>
      <p:sp>
        <p:nvSpPr>
          <p:cNvPr id="16" name="Shape 6"/>
          <p:cNvSpPr/>
          <p:nvPr/>
        </p:nvSpPr>
        <p:spPr>
          <a:xfrm>
            <a:off x="6176772" y="3762756"/>
            <a:ext cx="2672334" cy="2363724"/>
          </a:xfrm>
          <a:prstGeom prst="rect">
            <a:avLst/>
          </a:prstGeom>
          <a:ln w="19050">
            <a:solidFill>
              <a:srgbClr val="FFFFFF"/>
            </a:solidFill>
            <a:prstDash val="solid"/>
          </a:ln>
        </p:spPr>
      </p:sp>
      <p:pic>
        <p:nvPicPr>
          <p:cNvPr id="17" name="Image 8" descr="8.jpeg"/>
          <p:cNvPicPr>
            <a:picLocks noChangeAspect="1"/>
          </p:cNvPicPr>
          <p:nvPr/>
        </p:nvPicPr>
        <p:blipFill>
          <a:blip r:embed="rId10"/>
          <a:srcRect/>
          <a:stretch/>
        </p:blipFill>
        <p:spPr>
          <a:xfrm>
            <a:off x="9013698" y="3762756"/>
            <a:ext cx="2672334" cy="2363724"/>
          </a:xfrm>
          <a:prstGeom prst="rect">
            <a:avLst/>
          </a:prstGeom>
          <a:effectLst>
            <a:outerShdw blurRad="76200" dist="25400" dir="5400000" algn="bl" rotWithShape="0">
              <a:srgbClr val="1A1A1A">
                <a:alpha val="35000"/>
              </a:srgbClr>
            </a:outerShdw>
          </a:effectLst>
        </p:spPr>
      </p:pic>
      <p:sp>
        <p:nvSpPr>
          <p:cNvPr id="18" name="Shape 7"/>
          <p:cNvSpPr/>
          <p:nvPr/>
        </p:nvSpPr>
        <p:spPr>
          <a:xfrm>
            <a:off x="9013698" y="3762756"/>
            <a:ext cx="2672334" cy="2363724"/>
          </a:xfrm>
          <a:prstGeom prst="rect">
            <a:avLst/>
          </a:prstGeom>
          <a:ln w="19050">
            <a:solidFill>
              <a:srgbClr val="FFFFFF"/>
            </a:solidFill>
            <a:prstDash val="solid"/>
          </a:ln>
        </p:spPr>
      </p:sp>
      <p:grpSp>
        <p:nvGrpSpPr>
          <p:cNvPr id="23" name="Group 5">
            <a:extLst>
              <a:ext uri="{FF2B5EF4-FFF2-40B4-BE49-F238E27FC236}">
                <a16:creationId xmlns:a16="http://schemas.microsoft.com/office/drawing/2014/main" id="{0997B01C-63F2-334D-927C-C719F7A1DA33}"/>
              </a:ext>
            </a:extLst>
          </p:cNvPr>
          <p:cNvGrpSpPr/>
          <p:nvPr/>
        </p:nvGrpSpPr>
        <p:grpSpPr>
          <a:xfrm>
            <a:off x="634315" y="906251"/>
            <a:ext cx="4212000" cy="45719"/>
            <a:chOff x="0" y="-33633"/>
            <a:chExt cx="14068427" cy="121920"/>
          </a:xfrm>
        </p:grpSpPr>
        <p:sp>
          <p:nvSpPr>
            <p:cNvPr id="24" name="Freeform 6" descr="D:\Corp Comm Department Work 2015\Brand Adani 2012\adani_gradient_master.jpg">
              <a:extLst>
                <a:ext uri="{FF2B5EF4-FFF2-40B4-BE49-F238E27FC236}">
                  <a16:creationId xmlns:a16="http://schemas.microsoft.com/office/drawing/2014/main" id="{2753E253-228D-7B81-D459-CC2F1F4BCA46}"/>
                </a:ext>
              </a:extLst>
            </p:cNvPr>
            <p:cNvSpPr/>
            <p:nvPr/>
          </p:nvSpPr>
          <p:spPr>
            <a:xfrm>
              <a:off x="0" y="-33633"/>
              <a:ext cx="14068427" cy="121920"/>
            </a:xfrm>
            <a:custGeom>
              <a:avLst/>
              <a:gdLst/>
              <a:ahLst/>
              <a:cxnLst/>
              <a:rect l="l" t="t" r="r" b="b"/>
              <a:pathLst>
                <a:path w="14068425" h="121920">
                  <a:moveTo>
                    <a:pt x="0" y="0"/>
                  </a:moveTo>
                  <a:lnTo>
                    <a:pt x="14068425" y="0"/>
                  </a:lnTo>
                  <a:lnTo>
                    <a:pt x="14068425" y="121920"/>
                  </a:lnTo>
                  <a:lnTo>
                    <a:pt x="0" y="121920"/>
                  </a:lnTo>
                  <a:lnTo>
                    <a:pt x="0" y="0"/>
                  </a:lnTo>
                  <a:close/>
                </a:path>
              </a:pathLst>
            </a:custGeom>
            <a:blipFill>
              <a:blip r:embed="rId11"/>
              <a:stretch>
                <a:fillRect b="-5072"/>
              </a:stretch>
            </a:blipFill>
          </p:spPr>
          <p:txBody>
            <a:bodyPr/>
            <a:lstStyle/>
            <a:p>
              <a:endParaRPr lang="en-IN" dirty="0"/>
            </a:p>
          </p:txBody>
        </p:sp>
      </p:grpSp>
      <p:sp>
        <p:nvSpPr>
          <p:cNvPr id="26" name="Text 0">
            <a:extLst>
              <a:ext uri="{FF2B5EF4-FFF2-40B4-BE49-F238E27FC236}">
                <a16:creationId xmlns:a16="http://schemas.microsoft.com/office/drawing/2014/main" id="{D52A2642-3C0B-468F-0092-7276C5530E29}"/>
              </a:ext>
            </a:extLst>
          </p:cNvPr>
          <p:cNvSpPr/>
          <p:nvPr/>
        </p:nvSpPr>
        <p:spPr>
          <a:xfrm>
            <a:off x="548640" y="511756"/>
            <a:ext cx="10058400" cy="438912"/>
          </a:xfrm>
          <a:prstGeom prst="rect">
            <a:avLst/>
          </a:prstGeom>
          <a:noFill/>
          <a:ln/>
        </p:spPr>
        <p:txBody>
          <a:bodyPr wrap="square" rtlCol="0" anchor="ctr"/>
          <a:lstStyle/>
          <a:p>
            <a:pPr marL="0" indent="0">
              <a:buNone/>
            </a:pPr>
            <a:r>
              <a:rPr lang="en-US" sz="2200" dirty="0">
                <a:solidFill>
                  <a:srgbClr val="0070C0"/>
                </a:solidFill>
                <a:latin typeface="Arial" pitchFamily="34" charset="0"/>
                <a:ea typeface="Arial" pitchFamily="34" charset="-122"/>
                <a:cs typeface="Arial" pitchFamily="34" charset="-120"/>
              </a:rPr>
              <a:t>Mine Visit – Photo Gallery</a:t>
            </a:r>
            <a:endParaRPr lang="en-US" sz="2200" dirty="0"/>
          </a:p>
        </p:txBody>
      </p:sp>
      <p:grpSp>
        <p:nvGrpSpPr>
          <p:cNvPr id="27" name="Group 3">
            <a:extLst>
              <a:ext uri="{FF2B5EF4-FFF2-40B4-BE49-F238E27FC236}">
                <a16:creationId xmlns:a16="http://schemas.microsoft.com/office/drawing/2014/main" id="{7D520D38-FB19-C68A-69F7-542A6818836A}"/>
              </a:ext>
            </a:extLst>
          </p:cNvPr>
          <p:cNvGrpSpPr/>
          <p:nvPr/>
        </p:nvGrpSpPr>
        <p:grpSpPr>
          <a:xfrm>
            <a:off x="10056527" y="6189371"/>
            <a:ext cx="2136000" cy="669944"/>
            <a:chOff x="0" y="0"/>
            <a:chExt cx="4272001" cy="1339888"/>
          </a:xfrm>
        </p:grpSpPr>
        <p:sp>
          <p:nvSpPr>
            <p:cNvPr id="28" name="Freeform 4">
              <a:extLst>
                <a:ext uri="{FF2B5EF4-FFF2-40B4-BE49-F238E27FC236}">
                  <a16:creationId xmlns:a16="http://schemas.microsoft.com/office/drawing/2014/main" id="{9365967E-FF34-F24F-CB89-9EFD53FEB111}"/>
                </a:ext>
              </a:extLst>
            </p:cNvPr>
            <p:cNvSpPr/>
            <p:nvPr/>
          </p:nvSpPr>
          <p:spPr>
            <a:xfrm>
              <a:off x="0" y="0"/>
              <a:ext cx="4272026" cy="1339850"/>
            </a:xfrm>
            <a:custGeom>
              <a:avLst/>
              <a:gdLst/>
              <a:ahLst/>
              <a:cxnLst/>
              <a:rect l="l" t="t" r="r" b="b"/>
              <a:pathLst>
                <a:path w="4272026" h="1339850">
                  <a:moveTo>
                    <a:pt x="0" y="0"/>
                  </a:moveTo>
                  <a:lnTo>
                    <a:pt x="4272026" y="0"/>
                  </a:lnTo>
                  <a:lnTo>
                    <a:pt x="4272026" y="1339850"/>
                  </a:lnTo>
                  <a:lnTo>
                    <a:pt x="0" y="1339850"/>
                  </a:lnTo>
                  <a:lnTo>
                    <a:pt x="0" y="0"/>
                  </a:lnTo>
                  <a:close/>
                </a:path>
              </a:pathLst>
            </a:custGeom>
            <a:blipFill>
              <a:blip r:embed="rId12"/>
              <a:stretch>
                <a:fillRect l="-470838" t="-924095" b="-2"/>
              </a:stretch>
            </a:blipFill>
          </p:spPr>
        </p:sp>
      </p:grpSp>
    </p:spTree>
    <p:extLst>
      <p:ext uri="{BB962C8B-B14F-4D97-AF65-F5344CB8AC3E}">
        <p14:creationId xmlns:p14="http://schemas.microsoft.com/office/powerpoint/2010/main" val="1186532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 y="2004232"/>
            <a:ext cx="12191695" cy="1514549"/>
          </a:xfrm>
          <a:prstGeom prst="rect">
            <a:avLst/>
          </a:prstGeom>
          <a:noFill/>
          <a:ln/>
        </p:spPr>
        <p:txBody>
          <a:bodyPr wrap="square" rtlCol="0" anchor="ctr"/>
          <a:lstStyle/>
          <a:p>
            <a:pPr marL="0" indent="0" algn="ctr">
              <a:buNone/>
            </a:pPr>
            <a:r>
              <a:rPr lang="en-US" sz="5400" dirty="0">
                <a:solidFill>
                  <a:srgbClr val="0070C0"/>
                </a:solidFill>
                <a:latin typeface="Arial" pitchFamily="34" charset="0"/>
                <a:ea typeface="Arial" pitchFamily="34" charset="-122"/>
                <a:cs typeface="Arial" pitchFamily="34" charset="-120"/>
              </a:rPr>
              <a:t>Thank You</a:t>
            </a:r>
            <a:endParaRPr lang="en-US" sz="5400" dirty="0"/>
          </a:p>
        </p:txBody>
      </p:sp>
      <p:sp>
        <p:nvSpPr>
          <p:cNvPr id="4" name="Text 1"/>
          <p:cNvSpPr/>
          <p:nvPr/>
        </p:nvSpPr>
        <p:spPr>
          <a:xfrm>
            <a:off x="16207" y="3087942"/>
            <a:ext cx="12191695" cy="457200"/>
          </a:xfrm>
          <a:prstGeom prst="rect">
            <a:avLst/>
          </a:prstGeom>
          <a:noFill/>
          <a:ln/>
        </p:spPr>
        <p:txBody>
          <a:bodyPr wrap="square" rtlCol="0" anchor="ctr"/>
          <a:lstStyle/>
          <a:p>
            <a:pPr marL="0" indent="0" algn="ctr">
              <a:buNone/>
            </a:pPr>
            <a:r>
              <a:rPr lang="en-US" sz="2000" dirty="0">
                <a:solidFill>
                  <a:srgbClr val="6B6B6B"/>
                </a:solidFill>
                <a:latin typeface="Arial" pitchFamily="34" charset="0"/>
                <a:ea typeface="Arial" pitchFamily="34" charset="-122"/>
                <a:cs typeface="Arial" pitchFamily="34" charset="-120"/>
              </a:rPr>
              <a:t>Questions &amp; Discussion</a:t>
            </a:r>
            <a:endParaRPr lang="en-US" sz="2000" dirty="0"/>
          </a:p>
        </p:txBody>
      </p:sp>
      <p:sp>
        <p:nvSpPr>
          <p:cNvPr id="5" name="Text 2"/>
          <p:cNvSpPr/>
          <p:nvPr/>
        </p:nvSpPr>
        <p:spPr>
          <a:xfrm>
            <a:off x="305" y="4083494"/>
            <a:ext cx="12191695" cy="502920"/>
          </a:xfrm>
          <a:prstGeom prst="rect">
            <a:avLst/>
          </a:prstGeom>
          <a:noFill/>
          <a:ln/>
        </p:spPr>
        <p:txBody>
          <a:bodyPr wrap="square" rtlCol="0" anchor="ctr"/>
          <a:lstStyle/>
          <a:p>
            <a:pPr marL="0" indent="0" algn="ctr">
              <a:lnSpc>
                <a:spcPct val="130000"/>
              </a:lnSpc>
              <a:buNone/>
            </a:pPr>
            <a:r>
              <a:rPr lang="en-US" sz="1250" dirty="0">
                <a:solidFill>
                  <a:srgbClr val="12233F"/>
                </a:solidFill>
                <a:latin typeface="Arial" pitchFamily="34" charset="0"/>
                <a:ea typeface="Arial" pitchFamily="34" charset="-122"/>
                <a:cs typeface="Arial" pitchFamily="34" charset="-120"/>
              </a:rPr>
              <a:t>Enhancing Fleet Monitoring System (FMS)</a:t>
            </a:r>
            <a:endParaRPr lang="en-US" sz="1250" dirty="0"/>
          </a:p>
          <a:p>
            <a:pPr marL="0" indent="0" algn="ctr">
              <a:lnSpc>
                <a:spcPct val="130000"/>
              </a:lnSpc>
              <a:buNone/>
            </a:pPr>
            <a:r>
              <a:rPr lang="en-US" sz="1250" dirty="0">
                <a:solidFill>
                  <a:srgbClr val="12233F"/>
                </a:solidFill>
                <a:latin typeface="Arial" pitchFamily="34" charset="0"/>
                <a:ea typeface="Arial" pitchFamily="34" charset="-122"/>
                <a:cs typeface="Arial" pitchFamily="34" charset="-120"/>
              </a:rPr>
              <a:t>Through Data-Driven Operational Analysis</a:t>
            </a:r>
            <a:endParaRPr lang="en-US" sz="1250" dirty="0"/>
          </a:p>
        </p:txBody>
      </p:sp>
      <p:sp>
        <p:nvSpPr>
          <p:cNvPr id="6" name="Text 3"/>
          <p:cNvSpPr/>
          <p:nvPr/>
        </p:nvSpPr>
        <p:spPr>
          <a:xfrm>
            <a:off x="-4" y="4928134"/>
            <a:ext cx="12191695" cy="1222409"/>
          </a:xfrm>
          <a:prstGeom prst="rect">
            <a:avLst/>
          </a:prstGeom>
          <a:noFill/>
          <a:ln/>
        </p:spPr>
        <p:txBody>
          <a:bodyPr wrap="square" rtlCol="0" anchor="ctr"/>
          <a:lstStyle/>
          <a:p>
            <a:pPr marL="0" indent="0" algn="ctr">
              <a:lnSpc>
                <a:spcPct val="135000"/>
              </a:lnSpc>
              <a:buNone/>
            </a:pPr>
            <a:r>
              <a:rPr lang="en-US" sz="1400" b="1" dirty="0">
                <a:solidFill>
                  <a:srgbClr val="6B6B6B"/>
                </a:solidFill>
                <a:latin typeface="Arial" pitchFamily="34" charset="0"/>
                <a:ea typeface="Arial" pitchFamily="34" charset="-122"/>
                <a:cs typeface="Arial" pitchFamily="34" charset="-120"/>
              </a:rPr>
              <a:t>Sushant Rathore</a:t>
            </a:r>
            <a:endParaRPr lang="en-US" sz="1400" b="1" dirty="0"/>
          </a:p>
          <a:p>
            <a:pPr marL="0" indent="0" algn="ctr">
              <a:lnSpc>
                <a:spcPct val="135000"/>
              </a:lnSpc>
              <a:buNone/>
            </a:pPr>
            <a:r>
              <a:rPr lang="en-US" sz="1050" dirty="0">
                <a:solidFill>
                  <a:srgbClr val="6B6B6B"/>
                </a:solidFill>
                <a:latin typeface="Arial" pitchFamily="34" charset="0"/>
                <a:ea typeface="Arial" pitchFamily="34" charset="-122"/>
                <a:cs typeface="Arial" pitchFamily="34" charset="-120"/>
              </a:rPr>
              <a:t>Mining Engineering</a:t>
            </a:r>
            <a:endParaRPr lang="en-US" sz="1050" dirty="0"/>
          </a:p>
          <a:p>
            <a:pPr marL="0" indent="0" algn="ctr">
              <a:lnSpc>
                <a:spcPct val="135000"/>
              </a:lnSpc>
              <a:buNone/>
            </a:pPr>
            <a:r>
              <a:rPr lang="en-US" sz="1050" dirty="0">
                <a:solidFill>
                  <a:srgbClr val="6B6B6B"/>
                </a:solidFill>
                <a:latin typeface="Arial" pitchFamily="34" charset="0"/>
                <a:ea typeface="Arial" pitchFamily="34" charset="-122"/>
                <a:cs typeface="Arial" pitchFamily="34" charset="-120"/>
              </a:rPr>
              <a:t>Indian Institute of Technology (ISM), Dhanbad</a:t>
            </a:r>
            <a:endParaRPr lang="en-US" sz="1050" dirty="0"/>
          </a:p>
          <a:p>
            <a:pPr marL="0" indent="0" algn="ctr">
              <a:lnSpc>
                <a:spcPct val="135000"/>
              </a:lnSpc>
              <a:buNone/>
            </a:pPr>
            <a:r>
              <a:rPr lang="en-US" sz="1050" dirty="0">
                <a:solidFill>
                  <a:srgbClr val="6B6B6B"/>
                </a:solidFill>
                <a:latin typeface="Arial" pitchFamily="34" charset="0"/>
                <a:ea typeface="Arial" pitchFamily="34" charset="-122"/>
                <a:cs typeface="Arial" pitchFamily="34" charset="-120"/>
              </a:rPr>
              <a:t>Summer Internship — Adani Natural Resources</a:t>
            </a:r>
            <a:endParaRPr lang="en-US" sz="1050" dirty="0"/>
          </a:p>
        </p:txBody>
      </p:sp>
      <p:grpSp>
        <p:nvGrpSpPr>
          <p:cNvPr id="7" name="Group 3">
            <a:extLst>
              <a:ext uri="{FF2B5EF4-FFF2-40B4-BE49-F238E27FC236}">
                <a16:creationId xmlns:a16="http://schemas.microsoft.com/office/drawing/2014/main" id="{2F4F80AA-1A85-F07B-FCDD-8A9196126DB6}"/>
              </a:ext>
            </a:extLst>
          </p:cNvPr>
          <p:cNvGrpSpPr/>
          <p:nvPr/>
        </p:nvGrpSpPr>
        <p:grpSpPr>
          <a:xfrm>
            <a:off x="7247823" y="29"/>
            <a:ext cx="4778132" cy="1434135"/>
            <a:chOff x="0" y="0"/>
            <a:chExt cx="7544232" cy="2291169"/>
          </a:xfrm>
        </p:grpSpPr>
        <p:sp>
          <p:nvSpPr>
            <p:cNvPr id="8" name="Freeform 4" descr="C:\Users\30005286\Desktop\Adani with GWG-01.png">
              <a:extLst>
                <a:ext uri="{FF2B5EF4-FFF2-40B4-BE49-F238E27FC236}">
                  <a16:creationId xmlns:a16="http://schemas.microsoft.com/office/drawing/2014/main" id="{8489F1DB-3A74-ED2A-3E08-B84E5959DD07}"/>
                </a:ext>
              </a:extLst>
            </p:cNvPr>
            <p:cNvSpPr/>
            <p:nvPr/>
          </p:nvSpPr>
          <p:spPr>
            <a:xfrm>
              <a:off x="0" y="0"/>
              <a:ext cx="7544181" cy="2291207"/>
            </a:xfrm>
            <a:custGeom>
              <a:avLst/>
              <a:gdLst/>
              <a:ahLst/>
              <a:cxnLst/>
              <a:rect l="l" t="t" r="r" b="b"/>
              <a:pathLst>
                <a:path w="7544181" h="2291207">
                  <a:moveTo>
                    <a:pt x="0" y="0"/>
                  </a:moveTo>
                  <a:lnTo>
                    <a:pt x="7544181" y="0"/>
                  </a:lnTo>
                  <a:lnTo>
                    <a:pt x="7544181" y="2291207"/>
                  </a:lnTo>
                  <a:lnTo>
                    <a:pt x="0" y="2291207"/>
                  </a:lnTo>
                  <a:lnTo>
                    <a:pt x="0" y="0"/>
                  </a:lnTo>
                  <a:close/>
                </a:path>
              </a:pathLst>
            </a:custGeom>
            <a:blipFill>
              <a:blip r:embed="rId3"/>
              <a:stretch>
                <a:fillRect r="-24" b="1"/>
              </a:stretch>
            </a:blipFill>
          </p:spPr>
        </p:sp>
      </p:grpSp>
    </p:spTree>
    <p:extLst>
      <p:ext uri="{BB962C8B-B14F-4D97-AF65-F5344CB8AC3E}">
        <p14:creationId xmlns:p14="http://schemas.microsoft.com/office/powerpoint/2010/main" val="1857081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6322</TotalTime>
  <Words>2207</Words>
  <Application>Microsoft Office PowerPoint</Application>
  <PresentationFormat>Widescreen</PresentationFormat>
  <Paragraphs>501</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AyrSaturday Night Interlock Regular</vt:lpstr>
      <vt:lpstr>Calibri</vt:lpstr>
      <vt:lpstr>Calibri (Body)</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Sushant Rathore</cp:lastModifiedBy>
  <cp:revision>11</cp:revision>
  <dcterms:created xsi:type="dcterms:W3CDTF">2026-07-07T10:35:09Z</dcterms:created>
  <dcterms:modified xsi:type="dcterms:W3CDTF">2026-07-24T10:46:13Z</dcterms:modified>
</cp:coreProperties>
</file>